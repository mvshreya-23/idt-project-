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Oranienbaum" panose="020B0604020202020204" charset="0"/>
      <p:regular r:id="rId26"/>
    </p:embeddedFont>
    <p:embeddedFont>
      <p:font typeface="Quattrocento Sans" panose="020B0604020202020204" charset="0"/>
      <p:regular r:id="rId27"/>
    </p:embeddedFont>
    <p:embeddedFont>
      <p:font typeface="Unna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30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quarespace-cdn.com/b0de546bf4e31143bc5dcb219bdf2e730428b49d.jpg"/>
          <p:cNvPicPr>
            <a:picLocks noChangeAspect="1"/>
          </p:cNvPicPr>
          <p:nvPr/>
        </p:nvPicPr>
        <p:blipFill>
          <a:blip r:embed="rId3"/>
          <a:srcRect t="16450" b="1645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B7A5A">
                  <a:alpha val="95000"/>
                </a:srgbClr>
              </a:gs>
              <a:gs pos="50000">
                <a:srgbClr val="6B7A5A">
                  <a:alpha val="85000"/>
                </a:srgbClr>
              </a:gs>
              <a:gs pos="100000">
                <a:srgbClr val="B47B60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828800"/>
            <a:ext cx="2971800" cy="495300"/>
          </a:xfrm>
          <a:custGeom>
            <a:avLst/>
            <a:gdLst/>
            <a:ahLst/>
            <a:cxnLst/>
            <a:rect l="l" t="t" r="r" b="b"/>
            <a:pathLst>
              <a:path w="2971800" h="495300">
                <a:moveTo>
                  <a:pt x="0" y="0"/>
                </a:moveTo>
                <a:lnTo>
                  <a:pt x="2971800" y="0"/>
                </a:lnTo>
                <a:lnTo>
                  <a:pt x="29718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828800"/>
            <a:ext cx="3057525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ECO-FRIENDLY STRATEGIES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628900"/>
            <a:ext cx="705802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Restaurant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Seat Management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9149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8" name="Text 5"/>
          <p:cNvSpPr/>
          <p:nvPr/>
        </p:nvSpPr>
        <p:spPr>
          <a:xfrm>
            <a:off x="1600200" y="47625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 Sustainable Approach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334000"/>
            <a:ext cx="64960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8F6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 how to harmonize profitability with environmental stewardship through intelligent seating strategies and eco-conscious design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9F380-1668-49EF-94B1-FDF30100754E}"/>
              </a:ext>
            </a:extLst>
          </p:cNvPr>
          <p:cNvSpPr txBox="1"/>
          <p:nvPr/>
        </p:nvSpPr>
        <p:spPr>
          <a:xfrm>
            <a:off x="9163050" y="4778997"/>
            <a:ext cx="28575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Manasaa S K- 1CR25IS092</a:t>
            </a:r>
            <a:br>
              <a:rPr lang="en-US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</a:br>
            <a:r>
              <a:rPr lang="en-US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M V Shreya- 1CR25IS088</a:t>
            </a:r>
            <a:br>
              <a:rPr lang="en-US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</a:br>
            <a:r>
              <a:rPr lang="en-US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Keerthi S- 1CR25IS199</a:t>
            </a:r>
            <a:br>
              <a:rPr lang="en-US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</a:br>
            <a:r>
              <a:rPr lang="en-US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G Kushik- 1CR25IS060</a:t>
            </a:r>
            <a:br>
              <a:rPr lang="en-US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</a:br>
            <a:r>
              <a:rPr lang="en-US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Komala T G- 1CR25IS078</a:t>
            </a:r>
            <a:br>
              <a:rPr lang="en-US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</a:br>
            <a:r>
              <a:rPr lang="en-US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Lakshmi K L- 1CR25IS083</a:t>
            </a:r>
            <a:endParaRPr lang="en-IN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B47B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715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Journey Through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Sustainable Seating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2209800"/>
            <a:ext cx="5581650" cy="1581150"/>
          </a:xfrm>
          <a:custGeom>
            <a:avLst/>
            <a:gdLst/>
            <a:ahLst/>
            <a:cxnLst/>
            <a:rect l="l" t="t" r="r" b="b"/>
            <a:pathLst>
              <a:path w="5581650" h="1581150">
                <a:moveTo>
                  <a:pt x="3810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504954"/>
                </a:lnTo>
                <a:cubicBezTo>
                  <a:pt x="5581650" y="1547036"/>
                  <a:pt x="5547536" y="1581150"/>
                  <a:pt x="550545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22098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2514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7" name="Text 5"/>
          <p:cNvSpPr/>
          <p:nvPr/>
        </p:nvSpPr>
        <p:spPr>
          <a:xfrm>
            <a:off x="666750" y="25146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09700" y="25146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Art of Seating Optimization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09700" y="2933581"/>
            <a:ext cx="43529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table turnover, yield management, and strategic layout design for maximum efficiency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9350" y="2209800"/>
            <a:ext cx="5581650" cy="1581150"/>
          </a:xfrm>
          <a:custGeom>
            <a:avLst/>
            <a:gdLst/>
            <a:ahLst/>
            <a:cxnLst/>
            <a:rect l="l" t="t" r="r" b="b"/>
            <a:pathLst>
              <a:path w="5581650" h="1581150">
                <a:moveTo>
                  <a:pt x="3810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504954"/>
                </a:lnTo>
                <a:cubicBezTo>
                  <a:pt x="5581650" y="1547036"/>
                  <a:pt x="5547536" y="1581150"/>
                  <a:pt x="550545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29350" y="2209800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3200" y="2514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6050" y="25146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0" y="25146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Sustainable Materials &amp; Design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9000" y="2933581"/>
            <a:ext cx="43529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eco-friendly materials, biophilic design, and energy efficiency for greener restaurants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024194"/>
            <a:ext cx="5581650" cy="1581150"/>
          </a:xfrm>
          <a:custGeom>
            <a:avLst/>
            <a:gdLst/>
            <a:ahLst/>
            <a:cxnLst/>
            <a:rect l="l" t="t" r="r" b="b"/>
            <a:pathLst>
              <a:path w="5581650" h="1581150">
                <a:moveTo>
                  <a:pt x="3810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504954"/>
                </a:lnTo>
                <a:cubicBezTo>
                  <a:pt x="5581650" y="1547036"/>
                  <a:pt x="5547536" y="1581150"/>
                  <a:pt x="550545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4024194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18" name="Shape 16"/>
          <p:cNvSpPr/>
          <p:nvPr/>
        </p:nvSpPr>
        <p:spPr>
          <a:xfrm>
            <a:off x="723900" y="43289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19" name="Text 17"/>
          <p:cNvSpPr/>
          <p:nvPr/>
        </p:nvSpPr>
        <p:spPr>
          <a:xfrm>
            <a:off x="666750" y="4328994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09700" y="4328994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Technology for Green Operations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09700" y="4747974"/>
            <a:ext cx="43529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digital tools for smart seating and data-driven sustainability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4024194"/>
            <a:ext cx="5581650" cy="1581150"/>
          </a:xfrm>
          <a:custGeom>
            <a:avLst/>
            <a:gdLst/>
            <a:ahLst/>
            <a:cxnLst/>
            <a:rect l="l" t="t" r="r" b="b"/>
            <a:pathLst>
              <a:path w="5581650" h="1581150">
                <a:moveTo>
                  <a:pt x="38100" y="0"/>
                </a:moveTo>
                <a:lnTo>
                  <a:pt x="5505454" y="0"/>
                </a:lnTo>
                <a:cubicBezTo>
                  <a:pt x="5547536" y="0"/>
                  <a:pt x="5581650" y="34114"/>
                  <a:pt x="5581650" y="76196"/>
                </a:cubicBezTo>
                <a:lnTo>
                  <a:pt x="5581650" y="1504954"/>
                </a:lnTo>
                <a:cubicBezTo>
                  <a:pt x="5581650" y="1547036"/>
                  <a:pt x="5547536" y="1581150"/>
                  <a:pt x="5505454" y="1581150"/>
                </a:cubicBezTo>
                <a:lnTo>
                  <a:pt x="38100" y="1581150"/>
                </a:lnTo>
                <a:cubicBezTo>
                  <a:pt x="17058" y="1581150"/>
                  <a:pt x="0" y="1564092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29350" y="4024194"/>
            <a:ext cx="38100" cy="1581150"/>
          </a:xfrm>
          <a:custGeom>
            <a:avLst/>
            <a:gdLst/>
            <a:ahLst/>
            <a:cxnLst/>
            <a:rect l="l" t="t" r="r" b="b"/>
            <a:pathLst>
              <a:path w="38100" h="1581150">
                <a:moveTo>
                  <a:pt x="38100" y="0"/>
                </a:moveTo>
                <a:lnTo>
                  <a:pt x="38100" y="0"/>
                </a:lnTo>
                <a:lnTo>
                  <a:pt x="38100" y="1581150"/>
                </a:lnTo>
                <a:lnTo>
                  <a:pt x="38100" y="1581150"/>
                </a:lnTo>
                <a:cubicBezTo>
                  <a:pt x="17072" y="1581150"/>
                  <a:pt x="0" y="1564078"/>
                  <a:pt x="0" y="15430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53200" y="43289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25" name="Text 23"/>
          <p:cNvSpPr/>
          <p:nvPr/>
        </p:nvSpPr>
        <p:spPr>
          <a:xfrm>
            <a:off x="6496050" y="4328994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39000" y="4328994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Customer Experience &amp; Sustainability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39000" y="4747974"/>
            <a:ext cx="43529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memorable moments through eco-conscious hospitality and waste reduction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5838587"/>
            <a:ext cx="11430000" cy="990600"/>
          </a:xfrm>
          <a:custGeom>
            <a:avLst/>
            <a:gdLst/>
            <a:ahLst/>
            <a:cxnLst/>
            <a:rect l="l" t="t" r="r" b="b"/>
            <a:pathLst>
              <a:path w="11430000" h="9906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914403"/>
                </a:lnTo>
                <a:cubicBezTo>
                  <a:pt x="11430000" y="956485"/>
                  <a:pt x="11395885" y="990600"/>
                  <a:pt x="113538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1500" y="606706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30" name="Text 28"/>
          <p:cNvSpPr/>
          <p:nvPr/>
        </p:nvSpPr>
        <p:spPr>
          <a:xfrm>
            <a:off x="514350" y="6067068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57300" y="6029087"/>
            <a:ext cx="5800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Measuring Success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57300" y="6371868"/>
            <a:ext cx="577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key metrics and implement continuous improvement for lasting impact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quarespace-cdn.com/5f69b120fd49ceab3312ce1d82c9a005c1ea911d.jpg"/>
          <p:cNvPicPr>
            <a:picLocks noChangeAspect="1"/>
          </p:cNvPicPr>
          <p:nvPr/>
        </p:nvPicPr>
        <p:blipFill>
          <a:blip r:embed="rId3"/>
          <a:srcRect t="16450" b="1645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B7A5A">
                  <a:alpha val="90000"/>
                </a:srgbClr>
              </a:gs>
              <a:gs pos="50000">
                <a:srgbClr val="6B7A5A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287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5" name="Text 2"/>
          <p:cNvSpPr/>
          <p:nvPr/>
        </p:nvSpPr>
        <p:spPr>
          <a:xfrm>
            <a:off x="295275" y="1228725"/>
            <a:ext cx="933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95400" y="1457325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kern="0" spc="180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2412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Art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Seating Optimization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5434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88632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6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fundamentals of efficient restaurant seating and capacity management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304" y="331304"/>
            <a:ext cx="11587370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b="1" kern="0" spc="91" dirty="0">
                <a:solidFill>
                  <a:srgbClr val="B47B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1304" y="563217"/>
            <a:ext cx="11728174" cy="39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30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Table Turnover: The Heartbeat of Revenue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1304" y="1060174"/>
            <a:ext cx="11612217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Mastering the delicate balance between efficiency and exceptional customer experience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1304" y="1490870"/>
            <a:ext cx="5665304" cy="3445565"/>
          </a:xfrm>
          <a:custGeom>
            <a:avLst/>
            <a:gdLst/>
            <a:ahLst/>
            <a:cxnLst/>
            <a:rect l="l" t="t" r="r" b="b"/>
            <a:pathLst>
              <a:path w="5665304" h="3445565">
                <a:moveTo>
                  <a:pt x="66258" y="0"/>
                </a:moveTo>
                <a:lnTo>
                  <a:pt x="5599046" y="0"/>
                </a:lnTo>
                <a:cubicBezTo>
                  <a:pt x="5635640" y="0"/>
                  <a:pt x="5665304" y="29665"/>
                  <a:pt x="5665304" y="66258"/>
                </a:cubicBezTo>
                <a:lnTo>
                  <a:pt x="5665304" y="3379307"/>
                </a:lnTo>
                <a:cubicBezTo>
                  <a:pt x="5665304" y="3415900"/>
                  <a:pt x="5635640" y="3445565"/>
                  <a:pt x="5599046" y="3445565"/>
                </a:cubicBezTo>
                <a:lnTo>
                  <a:pt x="66258" y="3445565"/>
                </a:lnTo>
                <a:cubicBezTo>
                  <a:pt x="29665" y="3445565"/>
                  <a:pt x="0" y="3415900"/>
                  <a:pt x="0" y="3379307"/>
                </a:cubicBezTo>
                <a:lnTo>
                  <a:pt x="0" y="66258"/>
                </a:lnTo>
                <a:cubicBezTo>
                  <a:pt x="0" y="29689"/>
                  <a:pt x="29689" y="0"/>
                  <a:pt x="6625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087" y="1689652"/>
            <a:ext cx="5367130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Fundamental Formula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087" y="2120245"/>
            <a:ext cx="5267739" cy="1987826"/>
          </a:xfrm>
          <a:custGeom>
            <a:avLst/>
            <a:gdLst/>
            <a:ahLst/>
            <a:cxnLst/>
            <a:rect l="l" t="t" r="r" b="b"/>
            <a:pathLst>
              <a:path w="5267739" h="1987826">
                <a:moveTo>
                  <a:pt x="66254" y="0"/>
                </a:moveTo>
                <a:lnTo>
                  <a:pt x="5201485" y="0"/>
                </a:lnTo>
                <a:cubicBezTo>
                  <a:pt x="5238076" y="0"/>
                  <a:pt x="5267739" y="29663"/>
                  <a:pt x="5267739" y="66254"/>
                </a:cubicBezTo>
                <a:lnTo>
                  <a:pt x="5267739" y="1921572"/>
                </a:lnTo>
                <a:cubicBezTo>
                  <a:pt x="5267739" y="1958163"/>
                  <a:pt x="5238076" y="1987826"/>
                  <a:pt x="5201485" y="1987826"/>
                </a:cubicBezTo>
                <a:lnTo>
                  <a:pt x="66254" y="1987826"/>
                </a:lnTo>
                <a:cubicBezTo>
                  <a:pt x="29663" y="1987826"/>
                  <a:pt x="0" y="1958163"/>
                  <a:pt x="0" y="1921572"/>
                </a:cubicBezTo>
                <a:lnTo>
                  <a:pt x="0" y="66254"/>
                </a:lnTo>
                <a:cubicBezTo>
                  <a:pt x="0" y="29663"/>
                  <a:pt x="29663" y="0"/>
                  <a:pt x="66254" y="0"/>
                </a:cubicBezTo>
                <a:close/>
              </a:path>
            </a:pathLst>
          </a:custGeom>
          <a:solidFill>
            <a:srgbClr val="6B7A5A">
              <a:alpha val="5098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54326" y="2319027"/>
            <a:ext cx="5019261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48" b="1" dirty="0">
                <a:solidFill>
                  <a:srgbClr val="6B7A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Table Turnover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9174" y="2716593"/>
            <a:ext cx="4969565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5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6750" y="2981533"/>
            <a:ext cx="4994413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7" b="1" dirty="0">
                <a:solidFill>
                  <a:srgbClr val="B47B6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Parties Served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9174" y="3345968"/>
            <a:ext cx="4969565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5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6750" y="3610908"/>
            <a:ext cx="4994413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57" b="1" dirty="0">
                <a:solidFill>
                  <a:srgbClr val="B47B6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Available Tables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087" y="4273517"/>
            <a:ext cx="5267739" cy="463826"/>
          </a:xfrm>
          <a:custGeom>
            <a:avLst/>
            <a:gdLst/>
            <a:ahLst/>
            <a:cxnLst/>
            <a:rect l="l" t="t" r="r" b="b"/>
            <a:pathLst>
              <a:path w="5267739" h="463826">
                <a:moveTo>
                  <a:pt x="66262" y="0"/>
                </a:moveTo>
                <a:lnTo>
                  <a:pt x="5201477" y="0"/>
                </a:lnTo>
                <a:cubicBezTo>
                  <a:pt x="5238073" y="0"/>
                  <a:pt x="5267739" y="29667"/>
                  <a:pt x="5267739" y="66262"/>
                </a:cubicBezTo>
                <a:lnTo>
                  <a:pt x="5267739" y="397564"/>
                </a:lnTo>
                <a:cubicBezTo>
                  <a:pt x="5267739" y="434159"/>
                  <a:pt x="5238073" y="463826"/>
                  <a:pt x="5201477" y="463826"/>
                </a:cubicBezTo>
                <a:lnTo>
                  <a:pt x="66262" y="463826"/>
                </a:lnTo>
                <a:cubicBezTo>
                  <a:pt x="29691" y="463826"/>
                  <a:pt x="0" y="434135"/>
                  <a:pt x="0" y="397564"/>
                </a:cubicBezTo>
                <a:lnTo>
                  <a:pt x="0" y="66262"/>
                </a:lnTo>
                <a:cubicBezTo>
                  <a:pt x="0" y="29691"/>
                  <a:pt x="29691" y="0"/>
                  <a:pt x="66262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2609" y="4406038"/>
            <a:ext cx="506895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043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45 parties ÷ 15 tables = 3 turnovers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1304" y="5101778"/>
            <a:ext cx="5665304" cy="1755913"/>
          </a:xfrm>
          <a:custGeom>
            <a:avLst/>
            <a:gdLst/>
            <a:ahLst/>
            <a:cxnLst/>
            <a:rect l="l" t="t" r="r" b="b"/>
            <a:pathLst>
              <a:path w="5665304" h="1755913">
                <a:moveTo>
                  <a:pt x="66268" y="0"/>
                </a:moveTo>
                <a:lnTo>
                  <a:pt x="5599036" y="0"/>
                </a:lnTo>
                <a:cubicBezTo>
                  <a:pt x="5635635" y="0"/>
                  <a:pt x="5665304" y="29669"/>
                  <a:pt x="5665304" y="66268"/>
                </a:cubicBezTo>
                <a:lnTo>
                  <a:pt x="5665304" y="1689645"/>
                </a:lnTo>
                <a:cubicBezTo>
                  <a:pt x="5665304" y="1726244"/>
                  <a:pt x="5635635" y="1755913"/>
                  <a:pt x="5599036" y="1755913"/>
                </a:cubicBezTo>
                <a:lnTo>
                  <a:pt x="66268" y="1755913"/>
                </a:lnTo>
                <a:cubicBezTo>
                  <a:pt x="29669" y="1755913"/>
                  <a:pt x="0" y="1726244"/>
                  <a:pt x="0" y="1689645"/>
                </a:cubicBezTo>
                <a:lnTo>
                  <a:pt x="0" y="66268"/>
                </a:lnTo>
                <a:cubicBezTo>
                  <a:pt x="0" y="29669"/>
                  <a:pt x="29669" y="0"/>
                  <a:pt x="66268" y="0"/>
                </a:cubicBezTo>
                <a:close/>
              </a:path>
            </a:pathLst>
          </a:custGeom>
          <a:solidFill>
            <a:srgbClr val="6B7A5A"/>
          </a:solidFill>
          <a:ln/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087" y="5300560"/>
            <a:ext cx="5350565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Industry Benchmarks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087" y="5698020"/>
            <a:ext cx="844826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Casual Dining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49389" y="5664995"/>
            <a:ext cx="844826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3-4 turns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087" y="6062352"/>
            <a:ext cx="69573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 Dining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97118" y="6029325"/>
            <a:ext cx="803413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1-2 turns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087" y="6426684"/>
            <a:ext cx="85310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Service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95656" y="6393656"/>
            <a:ext cx="902804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8-12 turns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5391" y="1490870"/>
            <a:ext cx="5665304" cy="2401957"/>
          </a:xfrm>
          <a:custGeom>
            <a:avLst/>
            <a:gdLst/>
            <a:ahLst/>
            <a:cxnLst/>
            <a:rect l="l" t="t" r="r" b="b"/>
            <a:pathLst>
              <a:path w="5665304" h="2401957">
                <a:moveTo>
                  <a:pt x="66270" y="0"/>
                </a:moveTo>
                <a:lnTo>
                  <a:pt x="5599034" y="0"/>
                </a:lnTo>
                <a:cubicBezTo>
                  <a:pt x="5635634" y="0"/>
                  <a:pt x="5665304" y="29670"/>
                  <a:pt x="5665304" y="66270"/>
                </a:cubicBezTo>
                <a:lnTo>
                  <a:pt x="5665304" y="2335687"/>
                </a:lnTo>
                <a:cubicBezTo>
                  <a:pt x="5665304" y="2372286"/>
                  <a:pt x="5635634" y="2401957"/>
                  <a:pt x="5599034" y="2401957"/>
                </a:cubicBezTo>
                <a:lnTo>
                  <a:pt x="66270" y="2401957"/>
                </a:lnTo>
                <a:cubicBezTo>
                  <a:pt x="29670" y="2401957"/>
                  <a:pt x="0" y="2372286"/>
                  <a:pt x="0" y="2335687"/>
                </a:cubicBezTo>
                <a:lnTo>
                  <a:pt x="0" y="66270"/>
                </a:lnTo>
                <a:cubicBezTo>
                  <a:pt x="0" y="29695"/>
                  <a:pt x="29695" y="0"/>
                  <a:pt x="6627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94174" y="1689652"/>
            <a:ext cx="5367130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30-Minute Rule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4174" y="2120245"/>
            <a:ext cx="2567609" cy="1192696"/>
          </a:xfrm>
          <a:custGeom>
            <a:avLst/>
            <a:gdLst/>
            <a:ahLst/>
            <a:cxnLst/>
            <a:rect l="l" t="t" r="r" b="b"/>
            <a:pathLst>
              <a:path w="2567609" h="1192696">
                <a:moveTo>
                  <a:pt x="66266" y="0"/>
                </a:moveTo>
                <a:lnTo>
                  <a:pt x="2501343" y="0"/>
                </a:lnTo>
                <a:cubicBezTo>
                  <a:pt x="2537940" y="0"/>
                  <a:pt x="2567609" y="29668"/>
                  <a:pt x="2567609" y="66266"/>
                </a:cubicBezTo>
                <a:lnTo>
                  <a:pt x="2567609" y="1126429"/>
                </a:lnTo>
                <a:cubicBezTo>
                  <a:pt x="2567609" y="1163027"/>
                  <a:pt x="2537940" y="1192696"/>
                  <a:pt x="2501343" y="1192696"/>
                </a:cubicBezTo>
                <a:lnTo>
                  <a:pt x="66266" y="1192696"/>
                </a:lnTo>
                <a:cubicBezTo>
                  <a:pt x="29668" y="1192696"/>
                  <a:pt x="0" y="1163027"/>
                  <a:pt x="0" y="1126429"/>
                </a:cubicBezTo>
                <a:lnTo>
                  <a:pt x="0" y="66266"/>
                </a:lnTo>
                <a:cubicBezTo>
                  <a:pt x="0" y="29693"/>
                  <a:pt x="29693" y="0"/>
                  <a:pt x="66266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60435" y="2285897"/>
            <a:ext cx="2435087" cy="39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30" b="1" dirty="0">
                <a:solidFill>
                  <a:srgbClr val="B47B6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72%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26696" y="2749723"/>
            <a:ext cx="2302565" cy="39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3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diners leave after waiting 30 minutes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94304" y="2120245"/>
            <a:ext cx="2567609" cy="1192696"/>
          </a:xfrm>
          <a:custGeom>
            <a:avLst/>
            <a:gdLst/>
            <a:ahLst/>
            <a:cxnLst/>
            <a:rect l="l" t="t" r="r" b="b"/>
            <a:pathLst>
              <a:path w="2567609" h="1192696">
                <a:moveTo>
                  <a:pt x="66266" y="0"/>
                </a:moveTo>
                <a:lnTo>
                  <a:pt x="2501343" y="0"/>
                </a:lnTo>
                <a:cubicBezTo>
                  <a:pt x="2537940" y="0"/>
                  <a:pt x="2567609" y="29668"/>
                  <a:pt x="2567609" y="66266"/>
                </a:cubicBezTo>
                <a:lnTo>
                  <a:pt x="2567609" y="1126429"/>
                </a:lnTo>
                <a:cubicBezTo>
                  <a:pt x="2567609" y="1163027"/>
                  <a:pt x="2537940" y="1192696"/>
                  <a:pt x="2501343" y="1192696"/>
                </a:cubicBezTo>
                <a:lnTo>
                  <a:pt x="66266" y="1192696"/>
                </a:lnTo>
                <a:cubicBezTo>
                  <a:pt x="29668" y="1192696"/>
                  <a:pt x="0" y="1163027"/>
                  <a:pt x="0" y="1126429"/>
                </a:cubicBezTo>
                <a:lnTo>
                  <a:pt x="0" y="66266"/>
                </a:lnTo>
                <a:cubicBezTo>
                  <a:pt x="0" y="29693"/>
                  <a:pt x="29693" y="0"/>
                  <a:pt x="66266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160565" y="2285897"/>
            <a:ext cx="2435087" cy="39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30" b="1" dirty="0">
                <a:solidFill>
                  <a:srgbClr val="6B7A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18%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26826" y="2749723"/>
            <a:ext cx="2302565" cy="39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3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satisfaction with accurate wait estimates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94174" y="3478593"/>
            <a:ext cx="5334000" cy="215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3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shows that managing expectations is as crucial as reducing actual wait times.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5391" y="4058375"/>
            <a:ext cx="5665304" cy="1557130"/>
          </a:xfrm>
          <a:custGeom>
            <a:avLst/>
            <a:gdLst/>
            <a:ahLst/>
            <a:cxnLst/>
            <a:rect l="l" t="t" r="r" b="b"/>
            <a:pathLst>
              <a:path w="5665304" h="1557130">
                <a:moveTo>
                  <a:pt x="66256" y="0"/>
                </a:moveTo>
                <a:lnTo>
                  <a:pt x="5599048" y="0"/>
                </a:lnTo>
                <a:cubicBezTo>
                  <a:pt x="5635641" y="0"/>
                  <a:pt x="5665304" y="29664"/>
                  <a:pt x="5665304" y="66256"/>
                </a:cubicBezTo>
                <a:lnTo>
                  <a:pt x="5665304" y="1490875"/>
                </a:lnTo>
                <a:cubicBezTo>
                  <a:pt x="5665304" y="1527467"/>
                  <a:pt x="5635641" y="1557130"/>
                  <a:pt x="5599048" y="1557130"/>
                </a:cubicBezTo>
                <a:lnTo>
                  <a:pt x="66256" y="1557130"/>
                </a:lnTo>
                <a:cubicBezTo>
                  <a:pt x="29688" y="1557130"/>
                  <a:pt x="0" y="1527442"/>
                  <a:pt x="0" y="1490875"/>
                </a:cubicBezTo>
                <a:lnTo>
                  <a:pt x="0" y="66256"/>
                </a:lnTo>
                <a:cubicBezTo>
                  <a:pt x="0" y="29664"/>
                  <a:pt x="29664" y="0"/>
                  <a:pt x="6625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848" dist="828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94174" y="4257158"/>
            <a:ext cx="5350565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Optimization Strategies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4880" y="4654723"/>
            <a:ext cx="149087" cy="149087"/>
          </a:xfrm>
          <a:custGeom>
            <a:avLst/>
            <a:gdLst/>
            <a:ahLst/>
            <a:cxnLst/>
            <a:rect l="l" t="t" r="r" b="b"/>
            <a:pathLst>
              <a:path w="149087" h="149087">
                <a:moveTo>
                  <a:pt x="74543" y="149087"/>
                </a:moveTo>
                <a:cubicBezTo>
                  <a:pt x="115685" y="149087"/>
                  <a:pt x="149087" y="115685"/>
                  <a:pt x="149087" y="74543"/>
                </a:cubicBezTo>
                <a:cubicBezTo>
                  <a:pt x="149087" y="33402"/>
                  <a:pt x="115685" y="0"/>
                  <a:pt x="74543" y="0"/>
                </a:cubicBezTo>
                <a:cubicBezTo>
                  <a:pt x="33402" y="0"/>
                  <a:pt x="0" y="33402"/>
                  <a:pt x="0" y="74543"/>
                </a:cubicBezTo>
                <a:cubicBezTo>
                  <a:pt x="0" y="115685"/>
                  <a:pt x="33402" y="149087"/>
                  <a:pt x="74543" y="149087"/>
                </a:cubicBezTo>
                <a:close/>
                <a:moveTo>
                  <a:pt x="99120" y="61935"/>
                </a:moveTo>
                <a:lnTo>
                  <a:pt x="75825" y="99207"/>
                </a:lnTo>
                <a:cubicBezTo>
                  <a:pt x="74602" y="101158"/>
                  <a:pt x="72505" y="102381"/>
                  <a:pt x="70205" y="102497"/>
                </a:cubicBezTo>
                <a:cubicBezTo>
                  <a:pt x="67904" y="102614"/>
                  <a:pt x="65691" y="101565"/>
                  <a:pt x="64323" y="99702"/>
                </a:cubicBezTo>
                <a:lnTo>
                  <a:pt x="50346" y="81066"/>
                </a:lnTo>
                <a:cubicBezTo>
                  <a:pt x="48016" y="77979"/>
                  <a:pt x="48657" y="73612"/>
                  <a:pt x="51744" y="71282"/>
                </a:cubicBezTo>
                <a:cubicBezTo>
                  <a:pt x="54830" y="68953"/>
                  <a:pt x="59198" y="69593"/>
                  <a:pt x="61527" y="72680"/>
                </a:cubicBezTo>
                <a:lnTo>
                  <a:pt x="69389" y="83163"/>
                </a:lnTo>
                <a:lnTo>
                  <a:pt x="87268" y="54539"/>
                </a:lnTo>
                <a:cubicBezTo>
                  <a:pt x="89307" y="51278"/>
                  <a:pt x="93616" y="50259"/>
                  <a:pt x="96907" y="52326"/>
                </a:cubicBezTo>
                <a:cubicBezTo>
                  <a:pt x="100197" y="54393"/>
                  <a:pt x="101187" y="58674"/>
                  <a:pt x="99120" y="61964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35" name="Text 33"/>
          <p:cNvSpPr/>
          <p:nvPr/>
        </p:nvSpPr>
        <p:spPr>
          <a:xfrm>
            <a:off x="6679924" y="4621593"/>
            <a:ext cx="336273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Streamline reservations</a:t>
            </a:r>
            <a:r>
              <a:rPr lang="en-US" sz="1043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real-time table management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14880" y="4952897"/>
            <a:ext cx="149087" cy="149087"/>
          </a:xfrm>
          <a:custGeom>
            <a:avLst/>
            <a:gdLst/>
            <a:ahLst/>
            <a:cxnLst/>
            <a:rect l="l" t="t" r="r" b="b"/>
            <a:pathLst>
              <a:path w="149087" h="149087">
                <a:moveTo>
                  <a:pt x="74543" y="149087"/>
                </a:moveTo>
                <a:cubicBezTo>
                  <a:pt x="115685" y="149087"/>
                  <a:pt x="149087" y="115685"/>
                  <a:pt x="149087" y="74543"/>
                </a:cubicBezTo>
                <a:cubicBezTo>
                  <a:pt x="149087" y="33402"/>
                  <a:pt x="115685" y="0"/>
                  <a:pt x="74543" y="0"/>
                </a:cubicBezTo>
                <a:cubicBezTo>
                  <a:pt x="33402" y="0"/>
                  <a:pt x="0" y="33402"/>
                  <a:pt x="0" y="74543"/>
                </a:cubicBezTo>
                <a:cubicBezTo>
                  <a:pt x="0" y="115685"/>
                  <a:pt x="33402" y="149087"/>
                  <a:pt x="74543" y="149087"/>
                </a:cubicBezTo>
                <a:close/>
                <a:moveTo>
                  <a:pt x="99120" y="61935"/>
                </a:moveTo>
                <a:lnTo>
                  <a:pt x="75825" y="99207"/>
                </a:lnTo>
                <a:cubicBezTo>
                  <a:pt x="74602" y="101158"/>
                  <a:pt x="72505" y="102381"/>
                  <a:pt x="70205" y="102497"/>
                </a:cubicBezTo>
                <a:cubicBezTo>
                  <a:pt x="67904" y="102614"/>
                  <a:pt x="65691" y="101565"/>
                  <a:pt x="64323" y="99702"/>
                </a:cubicBezTo>
                <a:lnTo>
                  <a:pt x="50346" y="81066"/>
                </a:lnTo>
                <a:cubicBezTo>
                  <a:pt x="48016" y="77979"/>
                  <a:pt x="48657" y="73612"/>
                  <a:pt x="51744" y="71282"/>
                </a:cubicBezTo>
                <a:cubicBezTo>
                  <a:pt x="54830" y="68953"/>
                  <a:pt x="59198" y="69593"/>
                  <a:pt x="61527" y="72680"/>
                </a:cubicBezTo>
                <a:lnTo>
                  <a:pt x="69389" y="83163"/>
                </a:lnTo>
                <a:lnTo>
                  <a:pt x="87268" y="54539"/>
                </a:lnTo>
                <a:cubicBezTo>
                  <a:pt x="89307" y="51278"/>
                  <a:pt x="93616" y="50259"/>
                  <a:pt x="96907" y="52326"/>
                </a:cubicBezTo>
                <a:cubicBezTo>
                  <a:pt x="100197" y="54393"/>
                  <a:pt x="101187" y="58674"/>
                  <a:pt x="99120" y="61964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37" name="Text 35"/>
          <p:cNvSpPr/>
          <p:nvPr/>
        </p:nvSpPr>
        <p:spPr>
          <a:xfrm>
            <a:off x="6679924" y="4919766"/>
            <a:ext cx="250963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staff</a:t>
            </a:r>
            <a:r>
              <a:rPr lang="en-US" sz="1043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efficient service coordination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4880" y="5251071"/>
            <a:ext cx="149087" cy="149087"/>
          </a:xfrm>
          <a:custGeom>
            <a:avLst/>
            <a:gdLst/>
            <a:ahLst/>
            <a:cxnLst/>
            <a:rect l="l" t="t" r="r" b="b"/>
            <a:pathLst>
              <a:path w="149087" h="149087">
                <a:moveTo>
                  <a:pt x="74543" y="149087"/>
                </a:moveTo>
                <a:cubicBezTo>
                  <a:pt x="115685" y="149087"/>
                  <a:pt x="149087" y="115685"/>
                  <a:pt x="149087" y="74543"/>
                </a:cubicBezTo>
                <a:cubicBezTo>
                  <a:pt x="149087" y="33402"/>
                  <a:pt x="115685" y="0"/>
                  <a:pt x="74543" y="0"/>
                </a:cubicBezTo>
                <a:cubicBezTo>
                  <a:pt x="33402" y="0"/>
                  <a:pt x="0" y="33402"/>
                  <a:pt x="0" y="74543"/>
                </a:cubicBezTo>
                <a:cubicBezTo>
                  <a:pt x="0" y="115685"/>
                  <a:pt x="33402" y="149087"/>
                  <a:pt x="74543" y="149087"/>
                </a:cubicBezTo>
                <a:close/>
                <a:moveTo>
                  <a:pt x="99120" y="61935"/>
                </a:moveTo>
                <a:lnTo>
                  <a:pt x="75825" y="99207"/>
                </a:lnTo>
                <a:cubicBezTo>
                  <a:pt x="74602" y="101158"/>
                  <a:pt x="72505" y="102381"/>
                  <a:pt x="70205" y="102497"/>
                </a:cubicBezTo>
                <a:cubicBezTo>
                  <a:pt x="67904" y="102614"/>
                  <a:pt x="65691" y="101565"/>
                  <a:pt x="64323" y="99702"/>
                </a:cubicBezTo>
                <a:lnTo>
                  <a:pt x="50346" y="81066"/>
                </a:lnTo>
                <a:cubicBezTo>
                  <a:pt x="48016" y="77979"/>
                  <a:pt x="48657" y="73612"/>
                  <a:pt x="51744" y="71282"/>
                </a:cubicBezTo>
                <a:cubicBezTo>
                  <a:pt x="54830" y="68953"/>
                  <a:pt x="59198" y="69593"/>
                  <a:pt x="61527" y="72680"/>
                </a:cubicBezTo>
                <a:lnTo>
                  <a:pt x="69389" y="83163"/>
                </a:lnTo>
                <a:lnTo>
                  <a:pt x="87268" y="54539"/>
                </a:lnTo>
                <a:cubicBezTo>
                  <a:pt x="89307" y="51278"/>
                  <a:pt x="93616" y="50259"/>
                  <a:pt x="96907" y="52326"/>
                </a:cubicBezTo>
                <a:cubicBezTo>
                  <a:pt x="100197" y="54393"/>
                  <a:pt x="101187" y="58674"/>
                  <a:pt x="99120" y="61964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39" name="Text 37"/>
          <p:cNvSpPr/>
          <p:nvPr/>
        </p:nvSpPr>
        <p:spPr>
          <a:xfrm>
            <a:off x="6679924" y="5217940"/>
            <a:ext cx="231913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Simplify menus</a:t>
            </a:r>
            <a:r>
              <a:rPr lang="en-US" sz="1043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reduce decision time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045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kern="0" spc="104" dirty="0">
                <a:solidFill>
                  <a:srgbClr val="B47B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44177"/>
            <a:ext cx="116615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Peak Time Mastery: High &amp; Low Demand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8928" y="1212569"/>
            <a:ext cx="11528876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pricing and availability management to maximize every service period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8928" y="1686228"/>
            <a:ext cx="6167049" cy="3164047"/>
          </a:xfrm>
          <a:custGeom>
            <a:avLst/>
            <a:gdLst/>
            <a:ahLst/>
            <a:cxnLst/>
            <a:rect l="l" t="t" r="r" b="b"/>
            <a:pathLst>
              <a:path w="6167049" h="3164047">
                <a:moveTo>
                  <a:pt x="37893" y="0"/>
                </a:moveTo>
                <a:lnTo>
                  <a:pt x="6129156" y="0"/>
                </a:lnTo>
                <a:cubicBezTo>
                  <a:pt x="6150084" y="0"/>
                  <a:pt x="6167049" y="16965"/>
                  <a:pt x="6167049" y="37893"/>
                </a:cubicBezTo>
                <a:lnTo>
                  <a:pt x="6167049" y="3088268"/>
                </a:lnTo>
                <a:cubicBezTo>
                  <a:pt x="6167049" y="3130119"/>
                  <a:pt x="6133122" y="3164047"/>
                  <a:pt x="6091270" y="3164047"/>
                </a:cubicBezTo>
                <a:lnTo>
                  <a:pt x="75779" y="3164047"/>
                </a:lnTo>
                <a:cubicBezTo>
                  <a:pt x="33927" y="3164047"/>
                  <a:pt x="0" y="3130119"/>
                  <a:pt x="0" y="3088268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20" dist="947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8928" y="1686228"/>
            <a:ext cx="6167049" cy="37893"/>
          </a:xfrm>
          <a:custGeom>
            <a:avLst/>
            <a:gdLst/>
            <a:ahLst/>
            <a:cxnLst/>
            <a:rect l="l" t="t" r="r" b="b"/>
            <a:pathLst>
              <a:path w="6167049" h="37893">
                <a:moveTo>
                  <a:pt x="37893" y="0"/>
                </a:moveTo>
                <a:lnTo>
                  <a:pt x="6129156" y="0"/>
                </a:lnTo>
                <a:cubicBezTo>
                  <a:pt x="6150084" y="0"/>
                  <a:pt x="6167049" y="16965"/>
                  <a:pt x="6167049" y="37893"/>
                </a:cubicBezTo>
                <a:lnTo>
                  <a:pt x="6167049" y="37893"/>
                </a:lnTo>
                <a:lnTo>
                  <a:pt x="0" y="37893"/>
                </a:ln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7" name="Shape 5"/>
          <p:cNvSpPr/>
          <p:nvPr/>
        </p:nvSpPr>
        <p:spPr>
          <a:xfrm>
            <a:off x="606284" y="1903994"/>
            <a:ext cx="284196" cy="284196"/>
          </a:xfrm>
          <a:custGeom>
            <a:avLst/>
            <a:gdLst/>
            <a:ahLst/>
            <a:cxnLst/>
            <a:rect l="l" t="t" r="r" b="b"/>
            <a:pathLst>
              <a:path w="284196" h="284196">
                <a:moveTo>
                  <a:pt x="35524" y="35524"/>
                </a:moveTo>
                <a:cubicBezTo>
                  <a:pt x="35524" y="25700"/>
                  <a:pt x="27587" y="17762"/>
                  <a:pt x="17762" y="17762"/>
                </a:cubicBezTo>
                <a:cubicBezTo>
                  <a:pt x="7937" y="17762"/>
                  <a:pt x="0" y="25700"/>
                  <a:pt x="0" y="35524"/>
                </a:cubicBezTo>
                <a:lnTo>
                  <a:pt x="0" y="222028"/>
                </a:lnTo>
                <a:cubicBezTo>
                  <a:pt x="0" y="246562"/>
                  <a:pt x="19872" y="266434"/>
                  <a:pt x="44406" y="266434"/>
                </a:cubicBezTo>
                <a:lnTo>
                  <a:pt x="266434" y="266434"/>
                </a:lnTo>
                <a:cubicBezTo>
                  <a:pt x="276258" y="266434"/>
                  <a:pt x="284196" y="258496"/>
                  <a:pt x="284196" y="248671"/>
                </a:cubicBezTo>
                <a:cubicBezTo>
                  <a:pt x="284196" y="238847"/>
                  <a:pt x="276258" y="230909"/>
                  <a:pt x="266434" y="230909"/>
                </a:cubicBezTo>
                <a:lnTo>
                  <a:pt x="44406" y="230909"/>
                </a:lnTo>
                <a:cubicBezTo>
                  <a:pt x="39521" y="230909"/>
                  <a:pt x="35524" y="226913"/>
                  <a:pt x="35524" y="222028"/>
                </a:cubicBezTo>
                <a:lnTo>
                  <a:pt x="35524" y="35524"/>
                </a:lnTo>
                <a:close/>
                <a:moveTo>
                  <a:pt x="261216" y="83594"/>
                </a:moveTo>
                <a:cubicBezTo>
                  <a:pt x="268154" y="76655"/>
                  <a:pt x="268154" y="65387"/>
                  <a:pt x="261216" y="58449"/>
                </a:cubicBezTo>
                <a:cubicBezTo>
                  <a:pt x="254278" y="51510"/>
                  <a:pt x="243010" y="51510"/>
                  <a:pt x="236071" y="58449"/>
                </a:cubicBezTo>
                <a:lnTo>
                  <a:pt x="177622" y="116953"/>
                </a:lnTo>
                <a:lnTo>
                  <a:pt x="145761" y="85148"/>
                </a:lnTo>
                <a:cubicBezTo>
                  <a:pt x="138823" y="78209"/>
                  <a:pt x="127555" y="78209"/>
                  <a:pt x="120617" y="85148"/>
                </a:cubicBezTo>
                <a:lnTo>
                  <a:pt x="67330" y="138434"/>
                </a:lnTo>
                <a:cubicBezTo>
                  <a:pt x="60392" y="145373"/>
                  <a:pt x="60392" y="156641"/>
                  <a:pt x="67330" y="163579"/>
                </a:cubicBezTo>
                <a:cubicBezTo>
                  <a:pt x="74268" y="170517"/>
                  <a:pt x="85536" y="170517"/>
                  <a:pt x="92475" y="163579"/>
                </a:cubicBezTo>
                <a:lnTo>
                  <a:pt x="133217" y="122837"/>
                </a:lnTo>
                <a:lnTo>
                  <a:pt x="165078" y="154698"/>
                </a:lnTo>
                <a:cubicBezTo>
                  <a:pt x="172016" y="161636"/>
                  <a:pt x="183284" y="161636"/>
                  <a:pt x="190222" y="154698"/>
                </a:cubicBezTo>
                <a:lnTo>
                  <a:pt x="261271" y="83649"/>
                </a:ln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8" name="Text 6"/>
          <p:cNvSpPr/>
          <p:nvPr/>
        </p:nvSpPr>
        <p:spPr>
          <a:xfrm>
            <a:off x="1037315" y="1894639"/>
            <a:ext cx="2320932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High Demand Strategies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8392" y="2349234"/>
            <a:ext cx="2832485" cy="1212569"/>
          </a:xfrm>
          <a:custGeom>
            <a:avLst/>
            <a:gdLst/>
            <a:ahLst/>
            <a:cxnLst/>
            <a:rect l="l" t="t" r="r" b="b"/>
            <a:pathLst>
              <a:path w="2832485" h="1212569">
                <a:moveTo>
                  <a:pt x="75786" y="0"/>
                </a:moveTo>
                <a:lnTo>
                  <a:pt x="2756699" y="0"/>
                </a:lnTo>
                <a:cubicBezTo>
                  <a:pt x="2798555" y="0"/>
                  <a:pt x="2832485" y="33930"/>
                  <a:pt x="2832485" y="75786"/>
                </a:cubicBezTo>
                <a:lnTo>
                  <a:pt x="2832485" y="1136783"/>
                </a:lnTo>
                <a:cubicBezTo>
                  <a:pt x="2832485" y="1178638"/>
                  <a:pt x="2798555" y="1212569"/>
                  <a:pt x="2756699" y="1212569"/>
                </a:cubicBezTo>
                <a:lnTo>
                  <a:pt x="75786" y="1212569"/>
                </a:lnTo>
                <a:cubicBezTo>
                  <a:pt x="33930" y="1212569"/>
                  <a:pt x="0" y="1178638"/>
                  <a:pt x="0" y="1136783"/>
                </a:cubicBezTo>
                <a:lnTo>
                  <a:pt x="0" y="75786"/>
                </a:lnTo>
                <a:cubicBezTo>
                  <a:pt x="0" y="33930"/>
                  <a:pt x="33930" y="0"/>
                  <a:pt x="75786" y="0"/>
                </a:cubicBezTo>
                <a:close/>
              </a:path>
            </a:pathLst>
          </a:custGeom>
          <a:solidFill>
            <a:srgbClr val="B47B60">
              <a:alpha val="5098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2070" y="2462912"/>
            <a:ext cx="268091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Reservation Availability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2070" y="2766055"/>
            <a:ext cx="2680914" cy="682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Reserve prime slots for most valuable guests, open remaining tables closer to service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17870" y="2349234"/>
            <a:ext cx="2832485" cy="1212569"/>
          </a:xfrm>
          <a:custGeom>
            <a:avLst/>
            <a:gdLst/>
            <a:ahLst/>
            <a:cxnLst/>
            <a:rect l="l" t="t" r="r" b="b"/>
            <a:pathLst>
              <a:path w="2832485" h="1212569">
                <a:moveTo>
                  <a:pt x="75786" y="0"/>
                </a:moveTo>
                <a:lnTo>
                  <a:pt x="2756699" y="0"/>
                </a:lnTo>
                <a:cubicBezTo>
                  <a:pt x="2798555" y="0"/>
                  <a:pt x="2832485" y="33930"/>
                  <a:pt x="2832485" y="75786"/>
                </a:cubicBezTo>
                <a:lnTo>
                  <a:pt x="2832485" y="1136783"/>
                </a:lnTo>
                <a:cubicBezTo>
                  <a:pt x="2832485" y="1178638"/>
                  <a:pt x="2798555" y="1212569"/>
                  <a:pt x="2756699" y="1212569"/>
                </a:cubicBezTo>
                <a:lnTo>
                  <a:pt x="75786" y="1212569"/>
                </a:lnTo>
                <a:cubicBezTo>
                  <a:pt x="33930" y="1212569"/>
                  <a:pt x="0" y="1178638"/>
                  <a:pt x="0" y="1136783"/>
                </a:cubicBezTo>
                <a:lnTo>
                  <a:pt x="0" y="75786"/>
                </a:lnTo>
                <a:cubicBezTo>
                  <a:pt x="0" y="33930"/>
                  <a:pt x="33930" y="0"/>
                  <a:pt x="75786" y="0"/>
                </a:cubicBezTo>
                <a:close/>
              </a:path>
            </a:pathLst>
          </a:custGeom>
          <a:solidFill>
            <a:srgbClr val="B47B60">
              <a:alpha val="5098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31549" y="2462912"/>
            <a:ext cx="268091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Size Optimization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1549" y="2766055"/>
            <a:ext cx="2680914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 small parties from booking larger tables during peak periods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8392" y="3675481"/>
            <a:ext cx="2832485" cy="985212"/>
          </a:xfrm>
          <a:custGeom>
            <a:avLst/>
            <a:gdLst/>
            <a:ahLst/>
            <a:cxnLst/>
            <a:rect l="l" t="t" r="r" b="b"/>
            <a:pathLst>
              <a:path w="2832485" h="985212">
                <a:moveTo>
                  <a:pt x="75783" y="0"/>
                </a:moveTo>
                <a:lnTo>
                  <a:pt x="2756702" y="0"/>
                </a:lnTo>
                <a:cubicBezTo>
                  <a:pt x="2798556" y="0"/>
                  <a:pt x="2832485" y="33929"/>
                  <a:pt x="2832485" y="75783"/>
                </a:cubicBezTo>
                <a:lnTo>
                  <a:pt x="2832485" y="909430"/>
                </a:lnTo>
                <a:cubicBezTo>
                  <a:pt x="2832485" y="951283"/>
                  <a:pt x="2798556" y="985212"/>
                  <a:pt x="2756702" y="985212"/>
                </a:cubicBezTo>
                <a:lnTo>
                  <a:pt x="75783" y="985212"/>
                </a:lnTo>
                <a:cubicBezTo>
                  <a:pt x="33929" y="985212"/>
                  <a:pt x="0" y="951283"/>
                  <a:pt x="0" y="909430"/>
                </a:cubicBezTo>
                <a:lnTo>
                  <a:pt x="0" y="75783"/>
                </a:lnTo>
                <a:cubicBezTo>
                  <a:pt x="0" y="33957"/>
                  <a:pt x="33957" y="0"/>
                  <a:pt x="75783" y="0"/>
                </a:cubicBezTo>
                <a:close/>
              </a:path>
            </a:pathLst>
          </a:custGeom>
          <a:solidFill>
            <a:srgbClr val="B47B60">
              <a:alpha val="5098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2070" y="3789159"/>
            <a:ext cx="268091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Deposit Requirements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2070" y="4092302"/>
            <a:ext cx="2680914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cancellation fees to reduce no-shows and late cancellations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17870" y="3675481"/>
            <a:ext cx="2832485" cy="985212"/>
          </a:xfrm>
          <a:custGeom>
            <a:avLst/>
            <a:gdLst/>
            <a:ahLst/>
            <a:cxnLst/>
            <a:rect l="l" t="t" r="r" b="b"/>
            <a:pathLst>
              <a:path w="2832485" h="985212">
                <a:moveTo>
                  <a:pt x="75783" y="0"/>
                </a:moveTo>
                <a:lnTo>
                  <a:pt x="2756702" y="0"/>
                </a:lnTo>
                <a:cubicBezTo>
                  <a:pt x="2798556" y="0"/>
                  <a:pt x="2832485" y="33929"/>
                  <a:pt x="2832485" y="75783"/>
                </a:cubicBezTo>
                <a:lnTo>
                  <a:pt x="2832485" y="909430"/>
                </a:lnTo>
                <a:cubicBezTo>
                  <a:pt x="2832485" y="951283"/>
                  <a:pt x="2798556" y="985212"/>
                  <a:pt x="2756702" y="985212"/>
                </a:cubicBezTo>
                <a:lnTo>
                  <a:pt x="75783" y="985212"/>
                </a:lnTo>
                <a:cubicBezTo>
                  <a:pt x="33929" y="985212"/>
                  <a:pt x="0" y="951283"/>
                  <a:pt x="0" y="909430"/>
                </a:cubicBezTo>
                <a:lnTo>
                  <a:pt x="0" y="75783"/>
                </a:lnTo>
                <a:cubicBezTo>
                  <a:pt x="0" y="33957"/>
                  <a:pt x="33957" y="0"/>
                  <a:pt x="75783" y="0"/>
                </a:cubicBezTo>
                <a:close/>
              </a:path>
            </a:pathLst>
          </a:custGeom>
          <a:solidFill>
            <a:srgbClr val="B47B60">
              <a:alpha val="5098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31549" y="3789159"/>
            <a:ext cx="268091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Spend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31549" y="4092302"/>
            <a:ext cx="2680914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minimum requirements for premium tables or special events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8928" y="5020675"/>
            <a:ext cx="6167049" cy="1837800"/>
          </a:xfrm>
          <a:custGeom>
            <a:avLst/>
            <a:gdLst/>
            <a:ahLst/>
            <a:cxnLst/>
            <a:rect l="l" t="t" r="r" b="b"/>
            <a:pathLst>
              <a:path w="6167049" h="1837800">
                <a:moveTo>
                  <a:pt x="37893" y="0"/>
                </a:moveTo>
                <a:lnTo>
                  <a:pt x="6129156" y="0"/>
                </a:lnTo>
                <a:cubicBezTo>
                  <a:pt x="6150084" y="0"/>
                  <a:pt x="6167049" y="16965"/>
                  <a:pt x="6167049" y="37893"/>
                </a:cubicBezTo>
                <a:lnTo>
                  <a:pt x="6167049" y="1762009"/>
                </a:lnTo>
                <a:cubicBezTo>
                  <a:pt x="6167049" y="1803867"/>
                  <a:pt x="6133116" y="1837800"/>
                  <a:pt x="6091258" y="1837800"/>
                </a:cubicBezTo>
                <a:lnTo>
                  <a:pt x="75791" y="1837800"/>
                </a:lnTo>
                <a:cubicBezTo>
                  <a:pt x="33933" y="1837800"/>
                  <a:pt x="0" y="1803867"/>
                  <a:pt x="0" y="1762009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20" dist="947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8928" y="5020675"/>
            <a:ext cx="6167049" cy="37893"/>
          </a:xfrm>
          <a:custGeom>
            <a:avLst/>
            <a:gdLst/>
            <a:ahLst/>
            <a:cxnLst/>
            <a:rect l="l" t="t" r="r" b="b"/>
            <a:pathLst>
              <a:path w="6167049" h="37893">
                <a:moveTo>
                  <a:pt x="37893" y="0"/>
                </a:moveTo>
                <a:lnTo>
                  <a:pt x="6129156" y="0"/>
                </a:lnTo>
                <a:cubicBezTo>
                  <a:pt x="6150084" y="0"/>
                  <a:pt x="6167049" y="16965"/>
                  <a:pt x="6167049" y="37893"/>
                </a:cubicBezTo>
                <a:lnTo>
                  <a:pt x="6167049" y="37893"/>
                </a:lnTo>
                <a:lnTo>
                  <a:pt x="0" y="37893"/>
                </a:ln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23" name="Shape 21"/>
          <p:cNvSpPr/>
          <p:nvPr/>
        </p:nvSpPr>
        <p:spPr>
          <a:xfrm>
            <a:off x="606284" y="5238440"/>
            <a:ext cx="284196" cy="284196"/>
          </a:xfrm>
          <a:custGeom>
            <a:avLst/>
            <a:gdLst/>
            <a:ahLst/>
            <a:cxnLst/>
            <a:rect l="l" t="t" r="r" b="b"/>
            <a:pathLst>
              <a:path w="284196" h="284196">
                <a:moveTo>
                  <a:pt x="142098" y="0"/>
                </a:moveTo>
                <a:cubicBezTo>
                  <a:pt x="63611" y="0"/>
                  <a:pt x="0" y="63611"/>
                  <a:pt x="0" y="142098"/>
                </a:cubicBezTo>
                <a:cubicBezTo>
                  <a:pt x="0" y="220585"/>
                  <a:pt x="63611" y="284196"/>
                  <a:pt x="142098" y="284196"/>
                </a:cubicBezTo>
                <a:cubicBezTo>
                  <a:pt x="180287" y="284196"/>
                  <a:pt x="214979" y="269098"/>
                  <a:pt x="240512" y="244564"/>
                </a:cubicBezTo>
                <a:cubicBezTo>
                  <a:pt x="244564" y="240678"/>
                  <a:pt x="245729" y="234628"/>
                  <a:pt x="243454" y="229521"/>
                </a:cubicBezTo>
                <a:cubicBezTo>
                  <a:pt x="241178" y="224415"/>
                  <a:pt x="235849" y="221251"/>
                  <a:pt x="230243" y="221695"/>
                </a:cubicBezTo>
                <a:cubicBezTo>
                  <a:pt x="227523" y="221917"/>
                  <a:pt x="224803" y="222028"/>
                  <a:pt x="222028" y="222028"/>
                </a:cubicBezTo>
                <a:cubicBezTo>
                  <a:pt x="165633" y="222028"/>
                  <a:pt x="119895" y="176290"/>
                  <a:pt x="119895" y="119895"/>
                </a:cubicBezTo>
                <a:cubicBezTo>
                  <a:pt x="119895" y="79875"/>
                  <a:pt x="142931" y="45183"/>
                  <a:pt x="176568" y="28420"/>
                </a:cubicBezTo>
                <a:cubicBezTo>
                  <a:pt x="181619" y="25922"/>
                  <a:pt x="184505" y="20482"/>
                  <a:pt x="183839" y="14876"/>
                </a:cubicBezTo>
                <a:cubicBezTo>
                  <a:pt x="183173" y="9270"/>
                  <a:pt x="179066" y="4718"/>
                  <a:pt x="173570" y="3497"/>
                </a:cubicBezTo>
                <a:cubicBezTo>
                  <a:pt x="163413" y="1221"/>
                  <a:pt x="152866" y="0"/>
                  <a:pt x="142098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24" name="Text 22"/>
          <p:cNvSpPr/>
          <p:nvPr/>
        </p:nvSpPr>
        <p:spPr>
          <a:xfrm>
            <a:off x="1037315" y="5229085"/>
            <a:ext cx="1998844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Low Demand Tactics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8392" y="5683680"/>
            <a:ext cx="2832485" cy="985212"/>
          </a:xfrm>
          <a:custGeom>
            <a:avLst/>
            <a:gdLst/>
            <a:ahLst/>
            <a:cxnLst/>
            <a:rect l="l" t="t" r="r" b="b"/>
            <a:pathLst>
              <a:path w="2832485" h="985212">
                <a:moveTo>
                  <a:pt x="75783" y="0"/>
                </a:moveTo>
                <a:lnTo>
                  <a:pt x="2756702" y="0"/>
                </a:lnTo>
                <a:cubicBezTo>
                  <a:pt x="2798556" y="0"/>
                  <a:pt x="2832485" y="33929"/>
                  <a:pt x="2832485" y="75783"/>
                </a:cubicBezTo>
                <a:lnTo>
                  <a:pt x="2832485" y="909430"/>
                </a:lnTo>
                <a:cubicBezTo>
                  <a:pt x="2832485" y="951283"/>
                  <a:pt x="2798556" y="985212"/>
                  <a:pt x="2756702" y="985212"/>
                </a:cubicBezTo>
                <a:lnTo>
                  <a:pt x="75783" y="985212"/>
                </a:lnTo>
                <a:cubicBezTo>
                  <a:pt x="33929" y="985212"/>
                  <a:pt x="0" y="951283"/>
                  <a:pt x="0" y="909430"/>
                </a:cubicBezTo>
                <a:lnTo>
                  <a:pt x="0" y="75783"/>
                </a:lnTo>
                <a:cubicBezTo>
                  <a:pt x="0" y="33957"/>
                  <a:pt x="33957" y="0"/>
                  <a:pt x="75783" y="0"/>
                </a:cubicBezTo>
                <a:close/>
              </a:path>
            </a:pathLst>
          </a:custGeom>
          <a:solidFill>
            <a:srgbClr val="6B7A5A">
              <a:alpha val="5098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2070" y="5797359"/>
            <a:ext cx="268091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Policies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2070" y="6100501"/>
            <a:ext cx="2680914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minimum spends, allow any party size to book available tables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517870" y="5683680"/>
            <a:ext cx="2832485" cy="985212"/>
          </a:xfrm>
          <a:custGeom>
            <a:avLst/>
            <a:gdLst/>
            <a:ahLst/>
            <a:cxnLst/>
            <a:rect l="l" t="t" r="r" b="b"/>
            <a:pathLst>
              <a:path w="2832485" h="985212">
                <a:moveTo>
                  <a:pt x="75783" y="0"/>
                </a:moveTo>
                <a:lnTo>
                  <a:pt x="2756702" y="0"/>
                </a:lnTo>
                <a:cubicBezTo>
                  <a:pt x="2798556" y="0"/>
                  <a:pt x="2832485" y="33929"/>
                  <a:pt x="2832485" y="75783"/>
                </a:cubicBezTo>
                <a:lnTo>
                  <a:pt x="2832485" y="909430"/>
                </a:lnTo>
                <a:cubicBezTo>
                  <a:pt x="2832485" y="951283"/>
                  <a:pt x="2798556" y="985212"/>
                  <a:pt x="2756702" y="985212"/>
                </a:cubicBezTo>
                <a:lnTo>
                  <a:pt x="75783" y="985212"/>
                </a:lnTo>
                <a:cubicBezTo>
                  <a:pt x="33929" y="985212"/>
                  <a:pt x="0" y="951283"/>
                  <a:pt x="0" y="909430"/>
                </a:cubicBezTo>
                <a:lnTo>
                  <a:pt x="0" y="75783"/>
                </a:lnTo>
                <a:cubicBezTo>
                  <a:pt x="0" y="33957"/>
                  <a:pt x="33957" y="0"/>
                  <a:pt x="75783" y="0"/>
                </a:cubicBezTo>
                <a:close/>
              </a:path>
            </a:pathLst>
          </a:custGeom>
          <a:solidFill>
            <a:srgbClr val="6B7A5A">
              <a:alpha val="5098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631549" y="5797359"/>
            <a:ext cx="268091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 Promotions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31549" y="6100501"/>
            <a:ext cx="2680914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 limited-time deals, happy hours, and menu specials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70491" y="1667282"/>
            <a:ext cx="5039739" cy="3334564"/>
          </a:xfrm>
          <a:custGeom>
            <a:avLst/>
            <a:gdLst/>
            <a:ahLst/>
            <a:cxnLst/>
            <a:rect l="l" t="t" r="r" b="b"/>
            <a:pathLst>
              <a:path w="5039739" h="3334564">
                <a:moveTo>
                  <a:pt x="75795" y="0"/>
                </a:moveTo>
                <a:lnTo>
                  <a:pt x="4963944" y="0"/>
                </a:lnTo>
                <a:cubicBezTo>
                  <a:pt x="5005805" y="0"/>
                  <a:pt x="5039739" y="33934"/>
                  <a:pt x="5039739" y="75795"/>
                </a:cubicBezTo>
                <a:lnTo>
                  <a:pt x="5039739" y="3258769"/>
                </a:lnTo>
                <a:cubicBezTo>
                  <a:pt x="5039739" y="3300630"/>
                  <a:pt x="5005805" y="3334564"/>
                  <a:pt x="4963944" y="3334564"/>
                </a:cubicBezTo>
                <a:lnTo>
                  <a:pt x="75795" y="3334564"/>
                </a:lnTo>
                <a:cubicBezTo>
                  <a:pt x="33934" y="3334564"/>
                  <a:pt x="0" y="3300630"/>
                  <a:pt x="0" y="3258769"/>
                </a:cubicBezTo>
                <a:lnTo>
                  <a:pt x="0" y="75795"/>
                </a:lnTo>
                <a:cubicBezTo>
                  <a:pt x="0" y="33962"/>
                  <a:pt x="33962" y="0"/>
                  <a:pt x="75795" y="0"/>
                </a:cubicBezTo>
                <a:close/>
              </a:path>
            </a:pathLst>
          </a:custGeom>
          <a:solidFill>
            <a:srgbClr val="D8A25F"/>
          </a:solidFill>
          <a:ln/>
          <a:effectLst>
            <a:outerShdw blurRad="28420" dist="947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93319" y="2396600"/>
            <a:ext cx="397874" cy="454713"/>
          </a:xfrm>
          <a:custGeom>
            <a:avLst/>
            <a:gdLst/>
            <a:ahLst/>
            <a:cxnLst/>
            <a:rect l="l" t="t" r="r" b="b"/>
            <a:pathLst>
              <a:path w="397874" h="454713">
                <a:moveTo>
                  <a:pt x="170517" y="113678"/>
                </a:moveTo>
                <a:cubicBezTo>
                  <a:pt x="170517" y="66623"/>
                  <a:pt x="132314" y="28420"/>
                  <a:pt x="85259" y="28420"/>
                </a:cubicBezTo>
                <a:cubicBezTo>
                  <a:pt x="38203" y="28420"/>
                  <a:pt x="0" y="66623"/>
                  <a:pt x="0" y="113678"/>
                </a:cubicBezTo>
                <a:cubicBezTo>
                  <a:pt x="0" y="160734"/>
                  <a:pt x="38203" y="198937"/>
                  <a:pt x="85259" y="198937"/>
                </a:cubicBezTo>
                <a:cubicBezTo>
                  <a:pt x="132314" y="198937"/>
                  <a:pt x="170517" y="160734"/>
                  <a:pt x="170517" y="113678"/>
                </a:cubicBezTo>
                <a:close/>
                <a:moveTo>
                  <a:pt x="397874" y="341035"/>
                </a:moveTo>
                <a:cubicBezTo>
                  <a:pt x="397874" y="293979"/>
                  <a:pt x="359671" y="255776"/>
                  <a:pt x="312615" y="255776"/>
                </a:cubicBezTo>
                <a:cubicBezTo>
                  <a:pt x="265560" y="255776"/>
                  <a:pt x="227357" y="293979"/>
                  <a:pt x="227357" y="341035"/>
                </a:cubicBezTo>
                <a:cubicBezTo>
                  <a:pt x="227357" y="388091"/>
                  <a:pt x="265560" y="426294"/>
                  <a:pt x="312615" y="426294"/>
                </a:cubicBezTo>
                <a:cubicBezTo>
                  <a:pt x="359671" y="426294"/>
                  <a:pt x="397874" y="388091"/>
                  <a:pt x="397874" y="341035"/>
                </a:cubicBezTo>
                <a:close/>
                <a:moveTo>
                  <a:pt x="389526" y="76910"/>
                </a:moveTo>
                <a:cubicBezTo>
                  <a:pt x="400627" y="65809"/>
                  <a:pt x="400627" y="47780"/>
                  <a:pt x="389526" y="36679"/>
                </a:cubicBezTo>
                <a:cubicBezTo>
                  <a:pt x="378424" y="25578"/>
                  <a:pt x="360396" y="25578"/>
                  <a:pt x="349294" y="36679"/>
                </a:cubicBezTo>
                <a:lnTo>
                  <a:pt x="8259" y="377714"/>
                </a:lnTo>
                <a:cubicBezTo>
                  <a:pt x="-2842" y="388815"/>
                  <a:pt x="-2842" y="406844"/>
                  <a:pt x="8259" y="417945"/>
                </a:cubicBezTo>
                <a:cubicBezTo>
                  <a:pt x="19361" y="429047"/>
                  <a:pt x="37390" y="429047"/>
                  <a:pt x="48491" y="417945"/>
                </a:cubicBezTo>
                <a:lnTo>
                  <a:pt x="389526" y="76910"/>
                </a:ln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33" name="Text 31"/>
          <p:cNvSpPr/>
          <p:nvPr/>
        </p:nvSpPr>
        <p:spPr>
          <a:xfrm>
            <a:off x="6855750" y="2964992"/>
            <a:ext cx="4869221" cy="568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476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5-15%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50482" y="3609169"/>
            <a:ext cx="467975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2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Revenue Increase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59955" y="4025989"/>
            <a:ext cx="4660811" cy="2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93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 strategic yield management implementation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70491" y="5153181"/>
            <a:ext cx="5039739" cy="1705175"/>
          </a:xfrm>
          <a:custGeom>
            <a:avLst/>
            <a:gdLst/>
            <a:ahLst/>
            <a:cxnLst/>
            <a:rect l="l" t="t" r="r" b="b"/>
            <a:pathLst>
              <a:path w="5039739" h="1705175">
                <a:moveTo>
                  <a:pt x="75778" y="0"/>
                </a:moveTo>
                <a:lnTo>
                  <a:pt x="4963961" y="0"/>
                </a:lnTo>
                <a:cubicBezTo>
                  <a:pt x="5005812" y="0"/>
                  <a:pt x="5039739" y="33927"/>
                  <a:pt x="5039739" y="75778"/>
                </a:cubicBezTo>
                <a:lnTo>
                  <a:pt x="5039739" y="1629397"/>
                </a:lnTo>
                <a:cubicBezTo>
                  <a:pt x="5039739" y="1671220"/>
                  <a:pt x="5005784" y="1705175"/>
                  <a:pt x="4963961" y="1705175"/>
                </a:cubicBezTo>
                <a:lnTo>
                  <a:pt x="75778" y="1705175"/>
                </a:lnTo>
                <a:cubicBezTo>
                  <a:pt x="33927" y="1705175"/>
                  <a:pt x="0" y="1671248"/>
                  <a:pt x="0" y="1629397"/>
                </a:cubicBezTo>
                <a:lnTo>
                  <a:pt x="0" y="75778"/>
                </a:lnTo>
                <a:cubicBezTo>
                  <a:pt x="0" y="33955"/>
                  <a:pt x="33955" y="0"/>
                  <a:pt x="7577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420" dist="947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59955" y="5342645"/>
            <a:ext cx="475554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Dynamic Pricing Impact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59955" y="5740519"/>
            <a:ext cx="1345193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Weekend Premium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19219" y="5721573"/>
            <a:ext cx="701016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B47B6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+15-20%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59955" y="6081554"/>
            <a:ext cx="105152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Holiday Pricing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983221" y="6062608"/>
            <a:ext cx="738909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B47B6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+25-30%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59955" y="6422589"/>
            <a:ext cx="1392559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Weekday Discounts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65637" y="6403643"/>
            <a:ext cx="653650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6B7A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-10-15%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78" y="370575"/>
            <a:ext cx="11515696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b="1" kern="0" spc="102" dirty="0">
                <a:solidFill>
                  <a:srgbClr val="B47B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578" y="629980"/>
            <a:ext cx="1167319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2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Strategic Layout Design for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578" y="1185846"/>
            <a:ext cx="1154348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spaces that enhance customer comfort and operational efficiency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0578" y="1630539"/>
            <a:ext cx="3668717" cy="5225143"/>
          </a:xfrm>
          <a:custGeom>
            <a:avLst/>
            <a:gdLst/>
            <a:ahLst/>
            <a:cxnLst/>
            <a:rect l="l" t="t" r="r" b="b"/>
            <a:pathLst>
              <a:path w="3668717" h="5225143">
                <a:moveTo>
                  <a:pt x="74108" y="0"/>
                </a:moveTo>
                <a:lnTo>
                  <a:pt x="3594609" y="0"/>
                </a:lnTo>
                <a:cubicBezTo>
                  <a:pt x="3635538" y="0"/>
                  <a:pt x="3668717" y="33179"/>
                  <a:pt x="3668717" y="74108"/>
                </a:cubicBezTo>
                <a:lnTo>
                  <a:pt x="3668717" y="5151035"/>
                </a:lnTo>
                <a:cubicBezTo>
                  <a:pt x="3668717" y="5191964"/>
                  <a:pt x="3635538" y="5225143"/>
                  <a:pt x="3594609" y="5225143"/>
                </a:cubicBezTo>
                <a:lnTo>
                  <a:pt x="74108" y="5225143"/>
                </a:lnTo>
                <a:cubicBezTo>
                  <a:pt x="33179" y="5225143"/>
                  <a:pt x="0" y="5191964"/>
                  <a:pt x="0" y="5151035"/>
                </a:cubicBezTo>
                <a:lnTo>
                  <a:pt x="0" y="74108"/>
                </a:lnTo>
                <a:cubicBezTo>
                  <a:pt x="0" y="33207"/>
                  <a:pt x="33207" y="0"/>
                  <a:pt x="741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2924" y="1852885"/>
            <a:ext cx="3335198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Seating Audit Process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2924" y="2430872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8" name="Text 6"/>
          <p:cNvSpPr/>
          <p:nvPr/>
        </p:nvSpPr>
        <p:spPr>
          <a:xfrm>
            <a:off x="555866" y="2430872"/>
            <a:ext cx="370578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0559" y="2430872"/>
            <a:ext cx="289050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Peak Times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0559" y="2653219"/>
            <a:ext cx="2890505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during busiest periods: weekends and dinner service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2924" y="3290610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12" name="Text 10"/>
          <p:cNvSpPr/>
          <p:nvPr/>
        </p:nvSpPr>
        <p:spPr>
          <a:xfrm>
            <a:off x="555866" y="3290610"/>
            <a:ext cx="370578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0559" y="3290610"/>
            <a:ext cx="289050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 Customer Flow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0559" y="3512957"/>
            <a:ext cx="2890505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chokepoints and areas frequently avoided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2924" y="4150353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16" name="Text 14"/>
          <p:cNvSpPr/>
          <p:nvPr/>
        </p:nvSpPr>
        <p:spPr>
          <a:xfrm>
            <a:off x="555866" y="4150353"/>
            <a:ext cx="370578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0559" y="4150353"/>
            <a:ext cx="289050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Wait Times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0559" y="4372699"/>
            <a:ext cx="2890505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seating delays and identify inefficiencies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2924" y="5010091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20" name="Text 18"/>
          <p:cNvSpPr/>
          <p:nvPr/>
        </p:nvSpPr>
        <p:spPr>
          <a:xfrm>
            <a:off x="555866" y="5010091"/>
            <a:ext cx="370578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0559" y="5010091"/>
            <a:ext cx="289050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Gather Feedback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0559" y="5232437"/>
            <a:ext cx="2890505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surveys to understand comfort and preference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2924" y="5869833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24" name="Text 22"/>
          <p:cNvSpPr/>
          <p:nvPr/>
        </p:nvSpPr>
        <p:spPr>
          <a:xfrm>
            <a:off x="555866" y="5869833"/>
            <a:ext cx="370578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0559" y="5869833"/>
            <a:ext cx="289050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Utilization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0559" y="6092180"/>
            <a:ext cx="2890505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which tables remain unoccupied during peaks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60252" y="1630539"/>
            <a:ext cx="3668717" cy="5225143"/>
          </a:xfrm>
          <a:custGeom>
            <a:avLst/>
            <a:gdLst/>
            <a:ahLst/>
            <a:cxnLst/>
            <a:rect l="l" t="t" r="r" b="b"/>
            <a:pathLst>
              <a:path w="3668717" h="5225143">
                <a:moveTo>
                  <a:pt x="74108" y="0"/>
                </a:moveTo>
                <a:lnTo>
                  <a:pt x="3594609" y="0"/>
                </a:lnTo>
                <a:cubicBezTo>
                  <a:pt x="3635538" y="0"/>
                  <a:pt x="3668717" y="33179"/>
                  <a:pt x="3668717" y="74108"/>
                </a:cubicBezTo>
                <a:lnTo>
                  <a:pt x="3668717" y="5151035"/>
                </a:lnTo>
                <a:cubicBezTo>
                  <a:pt x="3668717" y="5191964"/>
                  <a:pt x="3635538" y="5225143"/>
                  <a:pt x="3594609" y="5225143"/>
                </a:cubicBezTo>
                <a:lnTo>
                  <a:pt x="74108" y="5225143"/>
                </a:lnTo>
                <a:cubicBezTo>
                  <a:pt x="33179" y="5225143"/>
                  <a:pt x="0" y="5191964"/>
                  <a:pt x="0" y="5151035"/>
                </a:cubicBezTo>
                <a:lnTo>
                  <a:pt x="0" y="74108"/>
                </a:lnTo>
                <a:cubicBezTo>
                  <a:pt x="0" y="33207"/>
                  <a:pt x="33207" y="0"/>
                  <a:pt x="741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482598" y="1852885"/>
            <a:ext cx="3335198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Layout Principles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82598" y="2353052"/>
            <a:ext cx="3224024" cy="1037617"/>
          </a:xfrm>
          <a:custGeom>
            <a:avLst/>
            <a:gdLst/>
            <a:ahLst/>
            <a:cxnLst/>
            <a:rect l="l" t="t" r="r" b="b"/>
            <a:pathLst>
              <a:path w="3224024" h="1037617">
                <a:moveTo>
                  <a:pt x="74117" y="0"/>
                </a:moveTo>
                <a:lnTo>
                  <a:pt x="3149907" y="0"/>
                </a:lnTo>
                <a:cubicBezTo>
                  <a:pt x="3190841" y="0"/>
                  <a:pt x="3224024" y="33183"/>
                  <a:pt x="3224024" y="74117"/>
                </a:cubicBezTo>
                <a:lnTo>
                  <a:pt x="3224024" y="963500"/>
                </a:lnTo>
                <a:cubicBezTo>
                  <a:pt x="3224024" y="1004434"/>
                  <a:pt x="3190841" y="1037617"/>
                  <a:pt x="3149907" y="1037617"/>
                </a:cubicBezTo>
                <a:lnTo>
                  <a:pt x="74117" y="1037617"/>
                </a:lnTo>
                <a:cubicBezTo>
                  <a:pt x="33183" y="1037617"/>
                  <a:pt x="0" y="1004434"/>
                  <a:pt x="0" y="963500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49358" y="2538341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39374" y="11581"/>
                </a:moveTo>
                <a:cubicBezTo>
                  <a:pt x="39374" y="2632"/>
                  <a:pt x="46639" y="-4632"/>
                  <a:pt x="55587" y="-4632"/>
                </a:cubicBezTo>
                <a:cubicBezTo>
                  <a:pt x="64535" y="-4632"/>
                  <a:pt x="71799" y="2632"/>
                  <a:pt x="71799" y="11581"/>
                </a:cubicBezTo>
                <a:cubicBezTo>
                  <a:pt x="71799" y="20529"/>
                  <a:pt x="64535" y="27793"/>
                  <a:pt x="55587" y="27793"/>
                </a:cubicBezTo>
                <a:cubicBezTo>
                  <a:pt x="46639" y="27793"/>
                  <a:pt x="39374" y="20529"/>
                  <a:pt x="39374" y="11581"/>
                </a:cubicBezTo>
                <a:close/>
                <a:moveTo>
                  <a:pt x="34134" y="57208"/>
                </a:moveTo>
                <a:lnTo>
                  <a:pt x="37782" y="75447"/>
                </a:lnTo>
                <a:cubicBezTo>
                  <a:pt x="26606" y="79037"/>
                  <a:pt x="18529" y="89547"/>
                  <a:pt x="18529" y="101909"/>
                </a:cubicBezTo>
                <a:cubicBezTo>
                  <a:pt x="18529" y="117253"/>
                  <a:pt x="30978" y="129702"/>
                  <a:pt x="46322" y="129702"/>
                </a:cubicBezTo>
                <a:cubicBezTo>
                  <a:pt x="56629" y="129702"/>
                  <a:pt x="65633" y="124086"/>
                  <a:pt x="70439" y="115748"/>
                </a:cubicBezTo>
                <a:cubicBezTo>
                  <a:pt x="71105" y="115777"/>
                  <a:pt x="71770" y="115805"/>
                  <a:pt x="72465" y="115805"/>
                </a:cubicBezTo>
                <a:lnTo>
                  <a:pt x="73652" y="115805"/>
                </a:lnTo>
                <a:cubicBezTo>
                  <a:pt x="73942" y="115805"/>
                  <a:pt x="74260" y="115805"/>
                  <a:pt x="74550" y="115805"/>
                </a:cubicBezTo>
                <a:lnTo>
                  <a:pt x="90531" y="115805"/>
                </a:lnTo>
                <a:cubicBezTo>
                  <a:pt x="84625" y="134595"/>
                  <a:pt x="67080" y="148231"/>
                  <a:pt x="46322" y="148231"/>
                </a:cubicBezTo>
                <a:cubicBezTo>
                  <a:pt x="20729" y="148231"/>
                  <a:pt x="0" y="127502"/>
                  <a:pt x="0" y="101909"/>
                </a:cubicBezTo>
                <a:cubicBezTo>
                  <a:pt x="0" y="80543"/>
                  <a:pt x="14476" y="62564"/>
                  <a:pt x="34134" y="57208"/>
                </a:cubicBezTo>
                <a:close/>
                <a:moveTo>
                  <a:pt x="77155" y="49073"/>
                </a:moveTo>
                <a:lnTo>
                  <a:pt x="84017" y="83380"/>
                </a:lnTo>
                <a:lnTo>
                  <a:pt x="101532" y="83380"/>
                </a:lnTo>
                <a:cubicBezTo>
                  <a:pt x="111173" y="83380"/>
                  <a:pt x="119830" y="89373"/>
                  <a:pt x="123217" y="98406"/>
                </a:cubicBezTo>
                <a:lnTo>
                  <a:pt x="130600" y="118093"/>
                </a:lnTo>
                <a:lnTo>
                  <a:pt x="136014" y="116298"/>
                </a:lnTo>
                <a:cubicBezTo>
                  <a:pt x="140877" y="114676"/>
                  <a:pt x="146118" y="117311"/>
                  <a:pt x="147739" y="122146"/>
                </a:cubicBezTo>
                <a:cubicBezTo>
                  <a:pt x="149360" y="126981"/>
                  <a:pt x="146726" y="132250"/>
                  <a:pt x="141891" y="133871"/>
                </a:cubicBezTo>
                <a:lnTo>
                  <a:pt x="127994" y="138503"/>
                </a:lnTo>
                <a:cubicBezTo>
                  <a:pt x="123275" y="140067"/>
                  <a:pt x="118151" y="137635"/>
                  <a:pt x="116384" y="132974"/>
                </a:cubicBezTo>
                <a:lnTo>
                  <a:pt x="105875" y="104920"/>
                </a:lnTo>
                <a:cubicBezTo>
                  <a:pt x="105209" y="103125"/>
                  <a:pt x="103472" y="101909"/>
                  <a:pt x="101532" y="101909"/>
                </a:cubicBezTo>
                <a:lnTo>
                  <a:pt x="76605" y="101909"/>
                </a:lnTo>
                <a:cubicBezTo>
                  <a:pt x="76490" y="101909"/>
                  <a:pt x="76374" y="101909"/>
                  <a:pt x="76229" y="101909"/>
                </a:cubicBezTo>
                <a:lnTo>
                  <a:pt x="72436" y="101909"/>
                </a:lnTo>
                <a:cubicBezTo>
                  <a:pt x="63606" y="101909"/>
                  <a:pt x="55992" y="95684"/>
                  <a:pt x="54255" y="87028"/>
                </a:cubicBezTo>
                <a:lnTo>
                  <a:pt x="47857" y="54921"/>
                </a:lnTo>
                <a:cubicBezTo>
                  <a:pt x="46004" y="45685"/>
                  <a:pt x="53068" y="37058"/>
                  <a:pt x="62506" y="37058"/>
                </a:cubicBezTo>
                <a:cubicBezTo>
                  <a:pt x="69628" y="37058"/>
                  <a:pt x="75766" y="42095"/>
                  <a:pt x="77155" y="49073"/>
                </a:cubicBez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31" name="Text 29"/>
          <p:cNvSpPr/>
          <p:nvPr/>
        </p:nvSpPr>
        <p:spPr>
          <a:xfrm>
            <a:off x="4816118" y="2501283"/>
            <a:ext cx="281638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Comfort &amp; Accessibility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30829" y="2797745"/>
            <a:ext cx="3001678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ample space between tables and wheelchair accessibility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82598" y="3427727"/>
            <a:ext cx="3224024" cy="1037617"/>
          </a:xfrm>
          <a:custGeom>
            <a:avLst/>
            <a:gdLst/>
            <a:ahLst/>
            <a:cxnLst/>
            <a:rect l="l" t="t" r="r" b="b"/>
            <a:pathLst>
              <a:path w="3224024" h="1037617">
                <a:moveTo>
                  <a:pt x="74117" y="0"/>
                </a:moveTo>
                <a:lnTo>
                  <a:pt x="3149907" y="0"/>
                </a:lnTo>
                <a:cubicBezTo>
                  <a:pt x="3190841" y="0"/>
                  <a:pt x="3224024" y="33183"/>
                  <a:pt x="3224024" y="74117"/>
                </a:cubicBezTo>
                <a:lnTo>
                  <a:pt x="3224024" y="963500"/>
                </a:lnTo>
                <a:cubicBezTo>
                  <a:pt x="3224024" y="1004434"/>
                  <a:pt x="3190841" y="1037617"/>
                  <a:pt x="3149907" y="1037617"/>
                </a:cubicBezTo>
                <a:lnTo>
                  <a:pt x="74117" y="1037617"/>
                </a:lnTo>
                <a:cubicBezTo>
                  <a:pt x="33183" y="1037617"/>
                  <a:pt x="0" y="1004434"/>
                  <a:pt x="0" y="963500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49358" y="3613015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138996" y="55587"/>
                </a:moveTo>
                <a:lnTo>
                  <a:pt x="141283" y="55587"/>
                </a:lnTo>
                <a:cubicBezTo>
                  <a:pt x="145133" y="55587"/>
                  <a:pt x="148231" y="52489"/>
                  <a:pt x="148231" y="48638"/>
                </a:cubicBezTo>
                <a:lnTo>
                  <a:pt x="148231" y="6948"/>
                </a:lnTo>
                <a:cubicBezTo>
                  <a:pt x="148231" y="4140"/>
                  <a:pt x="146552" y="1592"/>
                  <a:pt x="143946" y="521"/>
                </a:cubicBezTo>
                <a:cubicBezTo>
                  <a:pt x="141341" y="-550"/>
                  <a:pt x="138359" y="58"/>
                  <a:pt x="136361" y="2027"/>
                </a:cubicBezTo>
                <a:lnTo>
                  <a:pt x="121393" y="17023"/>
                </a:lnTo>
                <a:cubicBezTo>
                  <a:pt x="108568" y="6398"/>
                  <a:pt x="92065" y="0"/>
                  <a:pt x="74116" y="0"/>
                </a:cubicBezTo>
                <a:cubicBezTo>
                  <a:pt x="36768" y="0"/>
                  <a:pt x="5877" y="27620"/>
                  <a:pt x="753" y="63548"/>
                </a:cubicBezTo>
                <a:cubicBezTo>
                  <a:pt x="29" y="68615"/>
                  <a:pt x="3532" y="73305"/>
                  <a:pt x="8599" y="74029"/>
                </a:cubicBezTo>
                <a:cubicBezTo>
                  <a:pt x="13665" y="74752"/>
                  <a:pt x="18355" y="71220"/>
                  <a:pt x="19079" y="66183"/>
                </a:cubicBezTo>
                <a:cubicBezTo>
                  <a:pt x="22929" y="39229"/>
                  <a:pt x="46120" y="18529"/>
                  <a:pt x="74116" y="18529"/>
                </a:cubicBezTo>
                <a:cubicBezTo>
                  <a:pt x="86970" y="18529"/>
                  <a:pt x="98782" y="22872"/>
                  <a:pt x="108191" y="30196"/>
                </a:cubicBezTo>
                <a:lnTo>
                  <a:pt x="94671" y="43717"/>
                </a:lnTo>
                <a:cubicBezTo>
                  <a:pt x="92673" y="45714"/>
                  <a:pt x="92094" y="48696"/>
                  <a:pt x="93166" y="51302"/>
                </a:cubicBezTo>
                <a:cubicBezTo>
                  <a:pt x="94237" y="53907"/>
                  <a:pt x="96784" y="55587"/>
                  <a:pt x="99593" y="55587"/>
                </a:cubicBezTo>
                <a:lnTo>
                  <a:pt x="138996" y="55587"/>
                </a:lnTo>
                <a:close/>
                <a:moveTo>
                  <a:pt x="147507" y="84683"/>
                </a:moveTo>
                <a:cubicBezTo>
                  <a:pt x="148231" y="79616"/>
                  <a:pt x="144699" y="74926"/>
                  <a:pt x="139661" y="74202"/>
                </a:cubicBezTo>
                <a:cubicBezTo>
                  <a:pt x="134624" y="73479"/>
                  <a:pt x="129905" y="77011"/>
                  <a:pt x="129181" y="82048"/>
                </a:cubicBezTo>
                <a:cubicBezTo>
                  <a:pt x="125330" y="108973"/>
                  <a:pt x="102140" y="129673"/>
                  <a:pt x="74144" y="129673"/>
                </a:cubicBezTo>
                <a:cubicBezTo>
                  <a:pt x="61290" y="129673"/>
                  <a:pt x="49478" y="125330"/>
                  <a:pt x="40069" y="118006"/>
                </a:cubicBezTo>
                <a:lnTo>
                  <a:pt x="53560" y="104514"/>
                </a:lnTo>
                <a:cubicBezTo>
                  <a:pt x="55558" y="102517"/>
                  <a:pt x="56137" y="99535"/>
                  <a:pt x="55066" y="96929"/>
                </a:cubicBezTo>
                <a:cubicBezTo>
                  <a:pt x="53994" y="94324"/>
                  <a:pt x="51447" y="92644"/>
                  <a:pt x="48638" y="92644"/>
                </a:cubicBezTo>
                <a:lnTo>
                  <a:pt x="6948" y="92644"/>
                </a:lnTo>
                <a:cubicBezTo>
                  <a:pt x="3098" y="92644"/>
                  <a:pt x="0" y="95742"/>
                  <a:pt x="0" y="99593"/>
                </a:cubicBezTo>
                <a:lnTo>
                  <a:pt x="0" y="141283"/>
                </a:lnTo>
                <a:cubicBezTo>
                  <a:pt x="0" y="144091"/>
                  <a:pt x="1679" y="146639"/>
                  <a:pt x="4285" y="147710"/>
                </a:cubicBezTo>
                <a:cubicBezTo>
                  <a:pt x="6890" y="148781"/>
                  <a:pt x="9872" y="148173"/>
                  <a:pt x="11870" y="146204"/>
                </a:cubicBezTo>
                <a:lnTo>
                  <a:pt x="26867" y="131208"/>
                </a:lnTo>
                <a:cubicBezTo>
                  <a:pt x="39663" y="141833"/>
                  <a:pt x="56166" y="148231"/>
                  <a:pt x="74116" y="148231"/>
                </a:cubicBezTo>
                <a:cubicBezTo>
                  <a:pt x="111463" y="148231"/>
                  <a:pt x="142354" y="120611"/>
                  <a:pt x="147478" y="84683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35" name="Text 33"/>
          <p:cNvSpPr/>
          <p:nvPr/>
        </p:nvSpPr>
        <p:spPr>
          <a:xfrm>
            <a:off x="4816118" y="3575958"/>
            <a:ext cx="281638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Flexible Options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30829" y="3872420"/>
            <a:ext cx="3001678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modular seating for adjustable arrangements by group size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82598" y="4502401"/>
            <a:ext cx="3224024" cy="1037617"/>
          </a:xfrm>
          <a:custGeom>
            <a:avLst/>
            <a:gdLst/>
            <a:ahLst/>
            <a:cxnLst/>
            <a:rect l="l" t="t" r="r" b="b"/>
            <a:pathLst>
              <a:path w="3224024" h="1037617">
                <a:moveTo>
                  <a:pt x="74117" y="0"/>
                </a:moveTo>
                <a:lnTo>
                  <a:pt x="3149907" y="0"/>
                </a:lnTo>
                <a:cubicBezTo>
                  <a:pt x="3190841" y="0"/>
                  <a:pt x="3224024" y="33183"/>
                  <a:pt x="3224024" y="74117"/>
                </a:cubicBezTo>
                <a:lnTo>
                  <a:pt x="3224024" y="963500"/>
                </a:lnTo>
                <a:cubicBezTo>
                  <a:pt x="3224024" y="1004434"/>
                  <a:pt x="3190841" y="1037617"/>
                  <a:pt x="3149907" y="1037617"/>
                </a:cubicBezTo>
                <a:lnTo>
                  <a:pt x="74117" y="1037617"/>
                </a:lnTo>
                <a:cubicBezTo>
                  <a:pt x="33183" y="1037617"/>
                  <a:pt x="0" y="1004434"/>
                  <a:pt x="0" y="963500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40094" y="4687690"/>
            <a:ext cx="166760" cy="148231"/>
          </a:xfrm>
          <a:custGeom>
            <a:avLst/>
            <a:gdLst/>
            <a:ahLst/>
            <a:cxnLst/>
            <a:rect l="l" t="t" r="r" b="b"/>
            <a:pathLst>
              <a:path w="166760" h="148231">
                <a:moveTo>
                  <a:pt x="83380" y="9264"/>
                </a:moveTo>
                <a:cubicBezTo>
                  <a:pt x="59987" y="9264"/>
                  <a:pt x="41256" y="19919"/>
                  <a:pt x="27620" y="32599"/>
                </a:cubicBezTo>
                <a:cubicBezTo>
                  <a:pt x="14070" y="45193"/>
                  <a:pt x="5009" y="60219"/>
                  <a:pt x="695" y="70554"/>
                </a:cubicBezTo>
                <a:cubicBezTo>
                  <a:pt x="-261" y="72842"/>
                  <a:pt x="-261" y="75389"/>
                  <a:pt x="695" y="77677"/>
                </a:cubicBezTo>
                <a:cubicBezTo>
                  <a:pt x="5009" y="88012"/>
                  <a:pt x="14070" y="103067"/>
                  <a:pt x="27620" y="115632"/>
                </a:cubicBezTo>
                <a:cubicBezTo>
                  <a:pt x="41256" y="128284"/>
                  <a:pt x="59987" y="138967"/>
                  <a:pt x="83380" y="138967"/>
                </a:cubicBezTo>
                <a:cubicBezTo>
                  <a:pt x="106773" y="138967"/>
                  <a:pt x="125504" y="128312"/>
                  <a:pt x="139140" y="115632"/>
                </a:cubicBezTo>
                <a:cubicBezTo>
                  <a:pt x="152690" y="103038"/>
                  <a:pt x="161751" y="88012"/>
                  <a:pt x="166065" y="77677"/>
                </a:cubicBezTo>
                <a:cubicBezTo>
                  <a:pt x="167020" y="75389"/>
                  <a:pt x="167020" y="72842"/>
                  <a:pt x="166065" y="70554"/>
                </a:cubicBezTo>
                <a:cubicBezTo>
                  <a:pt x="161751" y="60219"/>
                  <a:pt x="152690" y="45164"/>
                  <a:pt x="139140" y="32599"/>
                </a:cubicBezTo>
                <a:cubicBezTo>
                  <a:pt x="125504" y="19947"/>
                  <a:pt x="106773" y="9264"/>
                  <a:pt x="83380" y="9264"/>
                </a:cubicBezTo>
                <a:close/>
                <a:moveTo>
                  <a:pt x="41690" y="74116"/>
                </a:moveTo>
                <a:cubicBezTo>
                  <a:pt x="41690" y="51106"/>
                  <a:pt x="60371" y="32426"/>
                  <a:pt x="83380" y="32426"/>
                </a:cubicBezTo>
                <a:cubicBezTo>
                  <a:pt x="106389" y="32426"/>
                  <a:pt x="125070" y="51106"/>
                  <a:pt x="125070" y="74116"/>
                </a:cubicBezTo>
                <a:cubicBezTo>
                  <a:pt x="125070" y="97125"/>
                  <a:pt x="106389" y="115805"/>
                  <a:pt x="83380" y="115805"/>
                </a:cubicBezTo>
                <a:cubicBezTo>
                  <a:pt x="60371" y="115805"/>
                  <a:pt x="41690" y="97125"/>
                  <a:pt x="41690" y="74116"/>
                </a:cubicBezTo>
                <a:close/>
                <a:moveTo>
                  <a:pt x="83380" y="55587"/>
                </a:moveTo>
                <a:cubicBezTo>
                  <a:pt x="83380" y="65806"/>
                  <a:pt x="75071" y="74116"/>
                  <a:pt x="64851" y="74116"/>
                </a:cubicBezTo>
                <a:cubicBezTo>
                  <a:pt x="61522" y="74116"/>
                  <a:pt x="58395" y="73247"/>
                  <a:pt x="55673" y="71684"/>
                </a:cubicBezTo>
                <a:cubicBezTo>
                  <a:pt x="55384" y="74839"/>
                  <a:pt x="55645" y="78082"/>
                  <a:pt x="56513" y="81295"/>
                </a:cubicBezTo>
                <a:cubicBezTo>
                  <a:pt x="60479" y="96119"/>
                  <a:pt x="75737" y="104920"/>
                  <a:pt x="90560" y="100953"/>
                </a:cubicBezTo>
                <a:cubicBezTo>
                  <a:pt x="105383" y="96987"/>
                  <a:pt x="114184" y="81730"/>
                  <a:pt x="110218" y="66907"/>
                </a:cubicBezTo>
                <a:cubicBezTo>
                  <a:pt x="106686" y="53676"/>
                  <a:pt x="94150" y="45251"/>
                  <a:pt x="80948" y="46409"/>
                </a:cubicBezTo>
                <a:cubicBezTo>
                  <a:pt x="82482" y="49102"/>
                  <a:pt x="83380" y="52228"/>
                  <a:pt x="83380" y="55587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39" name="Text 37"/>
          <p:cNvSpPr/>
          <p:nvPr/>
        </p:nvSpPr>
        <p:spPr>
          <a:xfrm>
            <a:off x="4816118" y="4650632"/>
            <a:ext cx="281638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 Balance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30829" y="4947094"/>
            <a:ext cx="3001678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dividers or planters to create intimacy without isolation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82598" y="5577076"/>
            <a:ext cx="3224024" cy="1037617"/>
          </a:xfrm>
          <a:custGeom>
            <a:avLst/>
            <a:gdLst/>
            <a:ahLst/>
            <a:cxnLst/>
            <a:rect l="l" t="t" r="r" b="b"/>
            <a:pathLst>
              <a:path w="3224024" h="1037617">
                <a:moveTo>
                  <a:pt x="74117" y="0"/>
                </a:moveTo>
                <a:lnTo>
                  <a:pt x="3149907" y="0"/>
                </a:lnTo>
                <a:cubicBezTo>
                  <a:pt x="3190841" y="0"/>
                  <a:pt x="3224024" y="33183"/>
                  <a:pt x="3224024" y="74117"/>
                </a:cubicBezTo>
                <a:lnTo>
                  <a:pt x="3224024" y="963500"/>
                </a:lnTo>
                <a:cubicBezTo>
                  <a:pt x="3224024" y="1004434"/>
                  <a:pt x="3190841" y="1037617"/>
                  <a:pt x="3149907" y="1037617"/>
                </a:cubicBezTo>
                <a:lnTo>
                  <a:pt x="74117" y="1037617"/>
                </a:lnTo>
                <a:cubicBezTo>
                  <a:pt x="33183" y="1037617"/>
                  <a:pt x="0" y="1004434"/>
                  <a:pt x="0" y="963500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49358" y="5762365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148231" y="27793"/>
                </a:moveTo>
                <a:cubicBezTo>
                  <a:pt x="148231" y="42327"/>
                  <a:pt x="131121" y="64011"/>
                  <a:pt x="123738" y="72668"/>
                </a:cubicBezTo>
                <a:cubicBezTo>
                  <a:pt x="122638" y="73942"/>
                  <a:pt x="121017" y="74434"/>
                  <a:pt x="119540" y="74116"/>
                </a:cubicBezTo>
                <a:lnTo>
                  <a:pt x="92644" y="74116"/>
                </a:lnTo>
                <a:cubicBezTo>
                  <a:pt x="87520" y="74116"/>
                  <a:pt x="83380" y="78256"/>
                  <a:pt x="83380" y="83380"/>
                </a:cubicBezTo>
                <a:cubicBezTo>
                  <a:pt x="83380" y="88504"/>
                  <a:pt x="87520" y="92644"/>
                  <a:pt x="92644" y="92644"/>
                </a:cubicBezTo>
                <a:lnTo>
                  <a:pt x="120438" y="92644"/>
                </a:lnTo>
                <a:cubicBezTo>
                  <a:pt x="135782" y="92644"/>
                  <a:pt x="148231" y="105093"/>
                  <a:pt x="148231" y="120438"/>
                </a:cubicBezTo>
                <a:cubicBezTo>
                  <a:pt x="148231" y="135782"/>
                  <a:pt x="135782" y="148231"/>
                  <a:pt x="120438" y="148231"/>
                </a:cubicBezTo>
                <a:lnTo>
                  <a:pt x="40416" y="148231"/>
                </a:lnTo>
                <a:cubicBezTo>
                  <a:pt x="42935" y="145365"/>
                  <a:pt x="46004" y="141688"/>
                  <a:pt x="49102" y="137577"/>
                </a:cubicBezTo>
                <a:cubicBezTo>
                  <a:pt x="50925" y="135145"/>
                  <a:pt x="52807" y="132481"/>
                  <a:pt x="54602" y="129702"/>
                </a:cubicBezTo>
                <a:lnTo>
                  <a:pt x="120438" y="129702"/>
                </a:lnTo>
                <a:cubicBezTo>
                  <a:pt x="125562" y="129702"/>
                  <a:pt x="129702" y="125562"/>
                  <a:pt x="129702" y="120438"/>
                </a:cubicBezTo>
                <a:cubicBezTo>
                  <a:pt x="129702" y="115313"/>
                  <a:pt x="125562" y="111173"/>
                  <a:pt x="120438" y="111173"/>
                </a:cubicBezTo>
                <a:lnTo>
                  <a:pt x="92644" y="111173"/>
                </a:lnTo>
                <a:cubicBezTo>
                  <a:pt x="77300" y="111173"/>
                  <a:pt x="64851" y="98724"/>
                  <a:pt x="64851" y="83380"/>
                </a:cubicBezTo>
                <a:cubicBezTo>
                  <a:pt x="64851" y="68036"/>
                  <a:pt x="77300" y="55587"/>
                  <a:pt x="92644" y="55587"/>
                </a:cubicBezTo>
                <a:lnTo>
                  <a:pt x="104167" y="55587"/>
                </a:lnTo>
                <a:cubicBezTo>
                  <a:pt x="98087" y="46467"/>
                  <a:pt x="92644" y="35987"/>
                  <a:pt x="92644" y="27793"/>
                </a:cubicBezTo>
                <a:cubicBezTo>
                  <a:pt x="92644" y="12449"/>
                  <a:pt x="105093" y="0"/>
                  <a:pt x="120438" y="0"/>
                </a:cubicBezTo>
                <a:cubicBezTo>
                  <a:pt x="135782" y="0"/>
                  <a:pt x="148231" y="12449"/>
                  <a:pt x="148231" y="27793"/>
                </a:cubicBezTo>
                <a:close/>
                <a:moveTo>
                  <a:pt x="33902" y="141601"/>
                </a:moveTo>
                <a:cubicBezTo>
                  <a:pt x="32802" y="142846"/>
                  <a:pt x="31818" y="143946"/>
                  <a:pt x="30978" y="144873"/>
                </a:cubicBezTo>
                <a:lnTo>
                  <a:pt x="30457" y="145452"/>
                </a:lnTo>
                <a:lnTo>
                  <a:pt x="30399" y="145394"/>
                </a:lnTo>
                <a:cubicBezTo>
                  <a:pt x="28662" y="146726"/>
                  <a:pt x="26172" y="146552"/>
                  <a:pt x="24609" y="144873"/>
                </a:cubicBezTo>
                <a:cubicBezTo>
                  <a:pt x="17313" y="136940"/>
                  <a:pt x="0" y="116529"/>
                  <a:pt x="0" y="101909"/>
                </a:cubicBezTo>
                <a:cubicBezTo>
                  <a:pt x="0" y="86565"/>
                  <a:pt x="12449" y="74116"/>
                  <a:pt x="27793" y="74116"/>
                </a:cubicBezTo>
                <a:cubicBezTo>
                  <a:pt x="43138" y="74116"/>
                  <a:pt x="55587" y="86565"/>
                  <a:pt x="55587" y="101909"/>
                </a:cubicBezTo>
                <a:cubicBezTo>
                  <a:pt x="55587" y="110594"/>
                  <a:pt x="49478" y="121306"/>
                  <a:pt x="42993" y="130252"/>
                </a:cubicBezTo>
                <a:cubicBezTo>
                  <a:pt x="39895" y="134508"/>
                  <a:pt x="36710" y="138359"/>
                  <a:pt x="34076" y="141398"/>
                </a:cubicBezTo>
                <a:lnTo>
                  <a:pt x="33902" y="141601"/>
                </a:lnTo>
                <a:close/>
                <a:moveTo>
                  <a:pt x="37058" y="101909"/>
                </a:moveTo>
                <a:cubicBezTo>
                  <a:pt x="37058" y="96796"/>
                  <a:pt x="32906" y="92644"/>
                  <a:pt x="27793" y="92644"/>
                </a:cubicBezTo>
                <a:cubicBezTo>
                  <a:pt x="22680" y="92644"/>
                  <a:pt x="18529" y="96796"/>
                  <a:pt x="18529" y="101909"/>
                </a:cubicBezTo>
                <a:cubicBezTo>
                  <a:pt x="18529" y="107022"/>
                  <a:pt x="22680" y="111173"/>
                  <a:pt x="27793" y="111173"/>
                </a:cubicBezTo>
                <a:cubicBezTo>
                  <a:pt x="32906" y="111173"/>
                  <a:pt x="37058" y="107022"/>
                  <a:pt x="37058" y="101909"/>
                </a:cubicBezTo>
                <a:close/>
                <a:moveTo>
                  <a:pt x="120438" y="37058"/>
                </a:moveTo>
                <a:cubicBezTo>
                  <a:pt x="125551" y="37058"/>
                  <a:pt x="129702" y="32906"/>
                  <a:pt x="129702" y="27793"/>
                </a:cubicBezTo>
                <a:cubicBezTo>
                  <a:pt x="129702" y="22680"/>
                  <a:pt x="125551" y="18529"/>
                  <a:pt x="120438" y="18529"/>
                </a:cubicBezTo>
                <a:cubicBezTo>
                  <a:pt x="115325" y="18529"/>
                  <a:pt x="111173" y="22680"/>
                  <a:pt x="111173" y="27793"/>
                </a:cubicBezTo>
                <a:cubicBezTo>
                  <a:pt x="111173" y="32906"/>
                  <a:pt x="115325" y="37058"/>
                  <a:pt x="120438" y="37058"/>
                </a:cubicBez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43" name="Text 41"/>
          <p:cNvSpPr/>
          <p:nvPr/>
        </p:nvSpPr>
        <p:spPr>
          <a:xfrm>
            <a:off x="4816118" y="5725307"/>
            <a:ext cx="281638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Staff Movement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630829" y="6021769"/>
            <a:ext cx="3001678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pathways for efficient service and reduced collisions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49926" y="1630539"/>
            <a:ext cx="3668717" cy="3372255"/>
          </a:xfrm>
          <a:custGeom>
            <a:avLst/>
            <a:gdLst/>
            <a:ahLst/>
            <a:cxnLst/>
            <a:rect l="l" t="t" r="r" b="b"/>
            <a:pathLst>
              <a:path w="3668717" h="3372255">
                <a:moveTo>
                  <a:pt x="74122" y="0"/>
                </a:moveTo>
                <a:lnTo>
                  <a:pt x="3594595" y="0"/>
                </a:lnTo>
                <a:cubicBezTo>
                  <a:pt x="3635532" y="0"/>
                  <a:pt x="3668717" y="33186"/>
                  <a:pt x="3668717" y="74122"/>
                </a:cubicBezTo>
                <a:lnTo>
                  <a:pt x="3668717" y="3298133"/>
                </a:lnTo>
                <a:cubicBezTo>
                  <a:pt x="3668717" y="3339070"/>
                  <a:pt x="3635532" y="3372255"/>
                  <a:pt x="3594595" y="3372255"/>
                </a:cubicBezTo>
                <a:lnTo>
                  <a:pt x="74122" y="3372255"/>
                </a:lnTo>
                <a:cubicBezTo>
                  <a:pt x="33186" y="3372255"/>
                  <a:pt x="0" y="3339070"/>
                  <a:pt x="0" y="3298133"/>
                </a:cubicBezTo>
                <a:lnTo>
                  <a:pt x="0" y="74122"/>
                </a:lnTo>
                <a:cubicBezTo>
                  <a:pt x="0" y="33213"/>
                  <a:pt x="33213" y="0"/>
                  <a:pt x="74122" y="0"/>
                </a:cubicBezTo>
                <a:close/>
              </a:path>
            </a:pathLst>
          </a:custGeom>
          <a:solidFill>
            <a:srgbClr val="6B7A5A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372272" y="1852885"/>
            <a:ext cx="331666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Utilization Metrics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61099" y="2297578"/>
            <a:ext cx="344637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02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85%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35215" y="2779329"/>
            <a:ext cx="329814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table occupancy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61099" y="3186964"/>
            <a:ext cx="344637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02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18-24"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35215" y="3668715"/>
            <a:ext cx="329814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aisle width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61099" y="4076350"/>
            <a:ext cx="344637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502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3-4'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35215" y="4558101"/>
            <a:ext cx="3298140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spacing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49926" y="5225141"/>
            <a:ext cx="3668717" cy="1630541"/>
          </a:xfrm>
          <a:custGeom>
            <a:avLst/>
            <a:gdLst/>
            <a:ahLst/>
            <a:cxnLst/>
            <a:rect l="l" t="t" r="r" b="b"/>
            <a:pathLst>
              <a:path w="3668717" h="1630541">
                <a:moveTo>
                  <a:pt x="74108" y="0"/>
                </a:moveTo>
                <a:lnTo>
                  <a:pt x="3594609" y="0"/>
                </a:lnTo>
                <a:cubicBezTo>
                  <a:pt x="3635538" y="0"/>
                  <a:pt x="3668717" y="33179"/>
                  <a:pt x="3668717" y="74108"/>
                </a:cubicBezTo>
                <a:lnTo>
                  <a:pt x="3668717" y="1556433"/>
                </a:lnTo>
                <a:cubicBezTo>
                  <a:pt x="3668717" y="1597362"/>
                  <a:pt x="3635538" y="1630541"/>
                  <a:pt x="3594609" y="1630541"/>
                </a:cubicBezTo>
                <a:lnTo>
                  <a:pt x="74108" y="1630541"/>
                </a:lnTo>
                <a:cubicBezTo>
                  <a:pt x="33179" y="1630541"/>
                  <a:pt x="0" y="1597362"/>
                  <a:pt x="0" y="1556433"/>
                </a:cubicBezTo>
                <a:lnTo>
                  <a:pt x="0" y="74108"/>
                </a:lnTo>
                <a:cubicBezTo>
                  <a:pt x="0" y="33207"/>
                  <a:pt x="33207" y="0"/>
                  <a:pt x="7410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793" dist="926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372272" y="5447487"/>
            <a:ext cx="3316669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Flexible Solutions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00066" y="5855122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125881" y="20295"/>
                </a:moveTo>
                <a:cubicBezTo>
                  <a:pt x="130021" y="23306"/>
                  <a:pt x="130947" y="29096"/>
                  <a:pt x="127936" y="33236"/>
                </a:cubicBezTo>
                <a:lnTo>
                  <a:pt x="53821" y="135145"/>
                </a:lnTo>
                <a:cubicBezTo>
                  <a:pt x="52228" y="137345"/>
                  <a:pt x="49767" y="138706"/>
                  <a:pt x="47046" y="138938"/>
                </a:cubicBezTo>
                <a:cubicBezTo>
                  <a:pt x="44325" y="139169"/>
                  <a:pt x="41690" y="138156"/>
                  <a:pt x="39779" y="136245"/>
                </a:cubicBezTo>
                <a:lnTo>
                  <a:pt x="2721" y="99187"/>
                </a:lnTo>
                <a:cubicBezTo>
                  <a:pt x="-897" y="95568"/>
                  <a:pt x="-897" y="89691"/>
                  <a:pt x="2721" y="86072"/>
                </a:cubicBezTo>
                <a:cubicBezTo>
                  <a:pt x="6340" y="82453"/>
                  <a:pt x="12217" y="82453"/>
                  <a:pt x="15836" y="86072"/>
                </a:cubicBezTo>
                <a:lnTo>
                  <a:pt x="45222" y="115458"/>
                </a:lnTo>
                <a:lnTo>
                  <a:pt x="112968" y="22322"/>
                </a:lnTo>
                <a:cubicBezTo>
                  <a:pt x="115979" y="18181"/>
                  <a:pt x="121769" y="17255"/>
                  <a:pt x="125909" y="20266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56" name="Text 54"/>
          <p:cNvSpPr/>
          <p:nvPr/>
        </p:nvSpPr>
        <p:spPr>
          <a:xfrm>
            <a:off x="8631677" y="5818065"/>
            <a:ext cx="174171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Movable tables and chairs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00066" y="6151584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125881" y="20295"/>
                </a:moveTo>
                <a:cubicBezTo>
                  <a:pt x="130021" y="23306"/>
                  <a:pt x="130947" y="29096"/>
                  <a:pt x="127936" y="33236"/>
                </a:cubicBezTo>
                <a:lnTo>
                  <a:pt x="53821" y="135145"/>
                </a:lnTo>
                <a:cubicBezTo>
                  <a:pt x="52228" y="137345"/>
                  <a:pt x="49767" y="138706"/>
                  <a:pt x="47046" y="138938"/>
                </a:cubicBezTo>
                <a:cubicBezTo>
                  <a:pt x="44325" y="139169"/>
                  <a:pt x="41690" y="138156"/>
                  <a:pt x="39779" y="136245"/>
                </a:cubicBezTo>
                <a:lnTo>
                  <a:pt x="2721" y="99187"/>
                </a:lnTo>
                <a:cubicBezTo>
                  <a:pt x="-897" y="95568"/>
                  <a:pt x="-897" y="89691"/>
                  <a:pt x="2721" y="86072"/>
                </a:cubicBezTo>
                <a:cubicBezTo>
                  <a:pt x="6340" y="82453"/>
                  <a:pt x="12217" y="82453"/>
                  <a:pt x="15836" y="86072"/>
                </a:cubicBezTo>
                <a:lnTo>
                  <a:pt x="45222" y="115458"/>
                </a:lnTo>
                <a:lnTo>
                  <a:pt x="112968" y="22322"/>
                </a:lnTo>
                <a:cubicBezTo>
                  <a:pt x="115979" y="18181"/>
                  <a:pt x="121769" y="17255"/>
                  <a:pt x="125909" y="20266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58" name="Text 56"/>
          <p:cNvSpPr/>
          <p:nvPr/>
        </p:nvSpPr>
        <p:spPr>
          <a:xfrm>
            <a:off x="8631677" y="6114527"/>
            <a:ext cx="158421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Extendable table leaves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00066" y="6448046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125881" y="20295"/>
                </a:moveTo>
                <a:cubicBezTo>
                  <a:pt x="130021" y="23306"/>
                  <a:pt x="130947" y="29096"/>
                  <a:pt x="127936" y="33236"/>
                </a:cubicBezTo>
                <a:lnTo>
                  <a:pt x="53821" y="135145"/>
                </a:lnTo>
                <a:cubicBezTo>
                  <a:pt x="52228" y="137345"/>
                  <a:pt x="49767" y="138706"/>
                  <a:pt x="47046" y="138938"/>
                </a:cubicBezTo>
                <a:cubicBezTo>
                  <a:pt x="44325" y="139169"/>
                  <a:pt x="41690" y="138156"/>
                  <a:pt x="39779" y="136245"/>
                </a:cubicBezTo>
                <a:lnTo>
                  <a:pt x="2721" y="99187"/>
                </a:lnTo>
                <a:cubicBezTo>
                  <a:pt x="-897" y="95568"/>
                  <a:pt x="-897" y="89691"/>
                  <a:pt x="2721" y="86072"/>
                </a:cubicBezTo>
                <a:cubicBezTo>
                  <a:pt x="6340" y="82453"/>
                  <a:pt x="12217" y="82453"/>
                  <a:pt x="15836" y="86072"/>
                </a:cubicBezTo>
                <a:lnTo>
                  <a:pt x="45222" y="115458"/>
                </a:lnTo>
                <a:lnTo>
                  <a:pt x="112968" y="22322"/>
                </a:lnTo>
                <a:cubicBezTo>
                  <a:pt x="115979" y="18181"/>
                  <a:pt x="121769" y="17255"/>
                  <a:pt x="125909" y="20266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60" name="Text 58"/>
          <p:cNvSpPr/>
          <p:nvPr/>
        </p:nvSpPr>
        <p:spPr>
          <a:xfrm>
            <a:off x="8631677" y="6410989"/>
            <a:ext cx="1176584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Stackable seating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caterermiddleeast.com/14b37300f214e1229c1ba82bebcfe80a54df800e.jpg"/>
          <p:cNvPicPr>
            <a:picLocks noChangeAspect="1"/>
          </p:cNvPicPr>
          <p:nvPr/>
        </p:nvPicPr>
        <p:blipFill>
          <a:blip r:embed="rId3"/>
          <a:srcRect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B47B60">
                  <a:alpha val="90000"/>
                </a:srgbClr>
              </a:gs>
              <a:gs pos="50000">
                <a:srgbClr val="B47B6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287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5" name="Text 2"/>
          <p:cNvSpPr/>
          <p:nvPr/>
        </p:nvSpPr>
        <p:spPr>
          <a:xfrm>
            <a:off x="295275" y="1228725"/>
            <a:ext cx="933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95400" y="1457325"/>
            <a:ext cx="1914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kern="0" spc="180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2412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Sustainable Materials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&amp; Design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5434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88632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6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Exploring eco-friendly materials and biophilic design principles for restaurant spaces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B47B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Eco-Friendly Materials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Nature's Building Blocks: Sustainable Furniture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Durable, beautiful materials that respect the environment and enhance dining experiences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638300"/>
            <a:ext cx="5619750" cy="2514600"/>
          </a:xfrm>
          <a:custGeom>
            <a:avLst/>
            <a:gdLst/>
            <a:ahLst/>
            <a:cxnLst/>
            <a:rect l="l" t="t" r="r" b="b"/>
            <a:pathLst>
              <a:path w="5619750" h="2514600">
                <a:moveTo>
                  <a:pt x="38100" y="0"/>
                </a:moveTo>
                <a:lnTo>
                  <a:pt x="5543558" y="0"/>
                </a:lnTo>
                <a:cubicBezTo>
                  <a:pt x="5585638" y="0"/>
                  <a:pt x="5619750" y="34112"/>
                  <a:pt x="5619750" y="76192"/>
                </a:cubicBezTo>
                <a:lnTo>
                  <a:pt x="5619750" y="2438408"/>
                </a:lnTo>
                <a:cubicBezTo>
                  <a:pt x="5619750" y="2480488"/>
                  <a:pt x="5585638" y="2514600"/>
                  <a:pt x="5543558" y="2514600"/>
                </a:cubicBez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638300"/>
            <a:ext cx="38100" cy="251460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3810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3820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17859"/>
                </a:moveTo>
                <a:cubicBezTo>
                  <a:pt x="285750" y="78191"/>
                  <a:pt x="242999" y="128532"/>
                  <a:pt x="186184" y="140308"/>
                </a:cubicBezTo>
                <a:cubicBezTo>
                  <a:pt x="181775" y="107882"/>
                  <a:pt x="167208" y="78693"/>
                  <a:pt x="145721" y="56090"/>
                </a:cubicBezTo>
                <a:cubicBezTo>
                  <a:pt x="168101" y="22324"/>
                  <a:pt x="206443" y="0"/>
                  <a:pt x="250031" y="0"/>
                </a:cubicBezTo>
                <a:lnTo>
                  <a:pt x="267891" y="0"/>
                </a:lnTo>
                <a:cubicBezTo>
                  <a:pt x="277769" y="0"/>
                  <a:pt x="285750" y="7981"/>
                  <a:pt x="285750" y="17859"/>
                </a:cubicBezTo>
                <a:close/>
                <a:moveTo>
                  <a:pt x="0" y="53578"/>
                </a:moveTo>
                <a:cubicBezTo>
                  <a:pt x="0" y="43700"/>
                  <a:pt x="7981" y="35719"/>
                  <a:pt x="17859" y="35719"/>
                </a:cubicBezTo>
                <a:lnTo>
                  <a:pt x="35719" y="35719"/>
                </a:lnTo>
                <a:cubicBezTo>
                  <a:pt x="104756" y="35719"/>
                  <a:pt x="160734" y="91697"/>
                  <a:pt x="160734" y="160734"/>
                </a:cubicBezTo>
                <a:lnTo>
                  <a:pt x="160734" y="267891"/>
                </a:lnTo>
                <a:cubicBezTo>
                  <a:pt x="160734" y="277769"/>
                  <a:pt x="152753" y="285750"/>
                  <a:pt x="142875" y="285750"/>
                </a:cubicBezTo>
                <a:cubicBezTo>
                  <a:pt x="132997" y="285750"/>
                  <a:pt x="125016" y="277769"/>
                  <a:pt x="125016" y="267891"/>
                </a:cubicBezTo>
                <a:lnTo>
                  <a:pt x="125016" y="178594"/>
                </a:lnTo>
                <a:cubicBezTo>
                  <a:pt x="55978" y="178594"/>
                  <a:pt x="0" y="122616"/>
                  <a:pt x="0" y="53578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8" name="Text 6"/>
          <p:cNvSpPr/>
          <p:nvPr/>
        </p:nvSpPr>
        <p:spPr>
          <a:xfrm>
            <a:off x="1081088" y="1828800"/>
            <a:ext cx="857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Bamboo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47779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renewable wonder:</a:t>
            </a:r>
            <a:r>
              <a:rPr lang="en-US" sz="1200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Technically a grass, bamboo offers hardwood durability with rapid renewability.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857379"/>
            <a:ext cx="2552700" cy="762000"/>
          </a:xfrm>
          <a:custGeom>
            <a:avLst/>
            <a:gdLst/>
            <a:ahLst/>
            <a:cxnLst/>
            <a:rect l="l" t="t" r="r" b="b"/>
            <a:pathLst>
              <a:path w="2552700" h="762000">
                <a:moveTo>
                  <a:pt x="76200" y="0"/>
                </a:moveTo>
                <a:lnTo>
                  <a:pt x="2476500" y="0"/>
                </a:lnTo>
                <a:cubicBezTo>
                  <a:pt x="2518556" y="0"/>
                  <a:pt x="2552700" y="34144"/>
                  <a:pt x="2552700" y="76200"/>
                </a:cubicBezTo>
                <a:lnTo>
                  <a:pt x="2552700" y="685800"/>
                </a:lnTo>
                <a:cubicBezTo>
                  <a:pt x="2552700" y="727856"/>
                  <a:pt x="2518556" y="762000"/>
                  <a:pt x="24765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2463" y="2971679"/>
            <a:ext cx="2466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B7A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3-5 yrs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563" y="3314579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maturity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76600" y="2857379"/>
            <a:ext cx="2552700" cy="762000"/>
          </a:xfrm>
          <a:custGeom>
            <a:avLst/>
            <a:gdLst/>
            <a:ahLst/>
            <a:cxnLst/>
            <a:rect l="l" t="t" r="r" b="b"/>
            <a:pathLst>
              <a:path w="2552700" h="762000">
                <a:moveTo>
                  <a:pt x="76200" y="0"/>
                </a:moveTo>
                <a:lnTo>
                  <a:pt x="2476500" y="0"/>
                </a:lnTo>
                <a:cubicBezTo>
                  <a:pt x="2518556" y="0"/>
                  <a:pt x="2552700" y="34144"/>
                  <a:pt x="2552700" y="76200"/>
                </a:cubicBezTo>
                <a:lnTo>
                  <a:pt x="2552700" y="685800"/>
                </a:lnTo>
                <a:cubicBezTo>
                  <a:pt x="2552700" y="727856"/>
                  <a:pt x="2518556" y="762000"/>
                  <a:pt x="24765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19463" y="2971679"/>
            <a:ext cx="2466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B7A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57563" y="3314579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stronger than steel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733679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Pest resistant, humidity tolerant, ideal for high-traffic areas.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305179"/>
            <a:ext cx="5619750" cy="2171700"/>
          </a:xfrm>
          <a:custGeom>
            <a:avLst/>
            <a:gdLst/>
            <a:ahLst/>
            <a:cxnLst/>
            <a:rect l="l" t="t" r="r" b="b"/>
            <a:pathLst>
              <a:path w="5619750" h="2171700">
                <a:moveTo>
                  <a:pt x="38100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2095495"/>
                </a:lnTo>
                <a:cubicBezTo>
                  <a:pt x="5619750" y="2137582"/>
                  <a:pt x="5585632" y="2171700"/>
                  <a:pt x="5543545" y="2171700"/>
                </a:cubicBez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4305179"/>
            <a:ext cx="38100" cy="2171700"/>
          </a:xfrm>
          <a:custGeom>
            <a:avLst/>
            <a:gdLst/>
            <a:ahLst/>
            <a:cxnLst/>
            <a:rect l="l" t="t" r="r" b="b"/>
            <a:pathLst>
              <a:path w="38100" h="2171700">
                <a:moveTo>
                  <a:pt x="38100" y="0"/>
                </a:moveTo>
                <a:lnTo>
                  <a:pt x="38100" y="0"/>
                </a:lnTo>
                <a:lnTo>
                  <a:pt x="38100" y="2171700"/>
                </a:lnTo>
                <a:lnTo>
                  <a:pt x="38100" y="2171700"/>
                </a:lnTo>
                <a:cubicBezTo>
                  <a:pt x="17072" y="2171700"/>
                  <a:pt x="0" y="2154628"/>
                  <a:pt x="0" y="2133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19" name="Shape 17"/>
          <p:cNvSpPr/>
          <p:nvPr/>
        </p:nvSpPr>
        <p:spPr>
          <a:xfrm>
            <a:off x="665559" y="450508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-17859"/>
                </a:moveTo>
                <a:cubicBezTo>
                  <a:pt x="128922" y="-17859"/>
                  <a:pt x="132662" y="-16129"/>
                  <a:pt x="135229" y="-13115"/>
                </a:cubicBezTo>
                <a:lnTo>
                  <a:pt x="211131" y="76181"/>
                </a:lnTo>
                <a:cubicBezTo>
                  <a:pt x="214536" y="80144"/>
                  <a:pt x="215261" y="85725"/>
                  <a:pt x="213085" y="90469"/>
                </a:cubicBezTo>
                <a:cubicBezTo>
                  <a:pt x="210908" y="95213"/>
                  <a:pt x="206164" y="98227"/>
                  <a:pt x="200918" y="98227"/>
                </a:cubicBezTo>
                <a:lnTo>
                  <a:pt x="187021" y="98227"/>
                </a:lnTo>
                <a:lnTo>
                  <a:pt x="228991" y="147619"/>
                </a:lnTo>
                <a:cubicBezTo>
                  <a:pt x="232395" y="151581"/>
                  <a:pt x="233121" y="157163"/>
                  <a:pt x="230944" y="161906"/>
                </a:cubicBezTo>
                <a:cubicBezTo>
                  <a:pt x="228767" y="166650"/>
                  <a:pt x="224024" y="169664"/>
                  <a:pt x="218777" y="169664"/>
                </a:cubicBezTo>
                <a:lnTo>
                  <a:pt x="197290" y="169664"/>
                </a:lnTo>
                <a:lnTo>
                  <a:pt x="246850" y="227986"/>
                </a:lnTo>
                <a:cubicBezTo>
                  <a:pt x="250254" y="231949"/>
                  <a:pt x="250980" y="237530"/>
                  <a:pt x="248803" y="242274"/>
                </a:cubicBezTo>
                <a:cubicBezTo>
                  <a:pt x="246627" y="247017"/>
                  <a:pt x="241883" y="250031"/>
                  <a:pt x="236637" y="250031"/>
                </a:cubicBezTo>
                <a:lnTo>
                  <a:pt x="142875" y="250031"/>
                </a:lnTo>
                <a:lnTo>
                  <a:pt x="142875" y="285750"/>
                </a:lnTo>
                <a:cubicBezTo>
                  <a:pt x="142875" y="295628"/>
                  <a:pt x="134894" y="303609"/>
                  <a:pt x="125016" y="303609"/>
                </a:cubicBezTo>
                <a:cubicBezTo>
                  <a:pt x="115137" y="303609"/>
                  <a:pt x="107156" y="295628"/>
                  <a:pt x="107156" y="285750"/>
                </a:cubicBezTo>
                <a:lnTo>
                  <a:pt x="107156" y="250031"/>
                </a:lnTo>
                <a:lnTo>
                  <a:pt x="13395" y="250031"/>
                </a:lnTo>
                <a:cubicBezTo>
                  <a:pt x="8148" y="250031"/>
                  <a:pt x="3404" y="247017"/>
                  <a:pt x="1228" y="242274"/>
                </a:cubicBezTo>
                <a:cubicBezTo>
                  <a:pt x="-949" y="237530"/>
                  <a:pt x="-223" y="231949"/>
                  <a:pt x="3181" y="227986"/>
                </a:cubicBezTo>
                <a:lnTo>
                  <a:pt x="52741" y="169664"/>
                </a:lnTo>
                <a:lnTo>
                  <a:pt x="31254" y="169664"/>
                </a:lnTo>
                <a:cubicBezTo>
                  <a:pt x="26008" y="169664"/>
                  <a:pt x="21264" y="166650"/>
                  <a:pt x="19087" y="161906"/>
                </a:cubicBezTo>
                <a:cubicBezTo>
                  <a:pt x="16911" y="157163"/>
                  <a:pt x="17636" y="151581"/>
                  <a:pt x="21041" y="147619"/>
                </a:cubicBezTo>
                <a:lnTo>
                  <a:pt x="63010" y="98227"/>
                </a:lnTo>
                <a:lnTo>
                  <a:pt x="49113" y="98227"/>
                </a:lnTo>
                <a:cubicBezTo>
                  <a:pt x="43867" y="98227"/>
                  <a:pt x="39123" y="95213"/>
                  <a:pt x="36947" y="90469"/>
                </a:cubicBezTo>
                <a:cubicBezTo>
                  <a:pt x="34770" y="85725"/>
                  <a:pt x="35496" y="80144"/>
                  <a:pt x="38900" y="76181"/>
                </a:cubicBezTo>
                <a:lnTo>
                  <a:pt x="114802" y="-13115"/>
                </a:lnTo>
                <a:cubicBezTo>
                  <a:pt x="117370" y="-16129"/>
                  <a:pt x="121109" y="-17859"/>
                  <a:pt x="125016" y="-17859"/>
                </a:cubicBez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20" name="Text 18"/>
          <p:cNvSpPr/>
          <p:nvPr/>
        </p:nvSpPr>
        <p:spPr>
          <a:xfrm>
            <a:off x="1081088" y="4495679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Reclaimed Wood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914663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Stories in every grain:</a:t>
            </a:r>
            <a:r>
              <a:rPr lang="en-US" sz="1200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Salvaged from barns and factories, it reduces deforestation while adding character.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9600" y="5524263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685800"/>
                </a:lnTo>
                <a:cubicBezTo>
                  <a:pt x="5219700" y="727856"/>
                  <a:pt x="5185556" y="762000"/>
                  <a:pt x="51435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23900" y="5638563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Impact: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Prevents 5-10 tons of waste per project.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3900" y="5943363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Aesthetic Value: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Nail holes and patina create unmatched character.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0" y="1638300"/>
            <a:ext cx="5619750" cy="2438400"/>
          </a:xfrm>
          <a:custGeom>
            <a:avLst/>
            <a:gdLst/>
            <a:ahLst/>
            <a:cxnLst/>
            <a:rect l="l" t="t" r="r" b="b"/>
            <a:pathLst>
              <a:path w="5619750" h="2438400">
                <a:moveTo>
                  <a:pt x="381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2362200"/>
                </a:lnTo>
                <a:cubicBezTo>
                  <a:pt x="5619750" y="2404256"/>
                  <a:pt x="5585606" y="2438400"/>
                  <a:pt x="5543550" y="2438400"/>
                </a:cubicBez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1250" y="1638300"/>
            <a:ext cx="38100" cy="2438400"/>
          </a:xfrm>
          <a:custGeom>
            <a:avLst/>
            <a:gdLst/>
            <a:ahLst/>
            <a:cxnLst/>
            <a:rect l="l" t="t" r="r" b="b"/>
            <a:pathLst>
              <a:path w="38100" h="2438400">
                <a:moveTo>
                  <a:pt x="3810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2478" y="1838204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44648" y="-17859"/>
                </a:moveTo>
                <a:cubicBezTo>
                  <a:pt x="44648" y="-27738"/>
                  <a:pt x="52629" y="-35719"/>
                  <a:pt x="62508" y="-35719"/>
                </a:cubicBezTo>
                <a:lnTo>
                  <a:pt x="116086" y="-35719"/>
                </a:lnTo>
                <a:cubicBezTo>
                  <a:pt x="125964" y="-35719"/>
                  <a:pt x="133945" y="-27738"/>
                  <a:pt x="133945" y="-17859"/>
                </a:cubicBezTo>
                <a:cubicBezTo>
                  <a:pt x="133945" y="-11274"/>
                  <a:pt x="130373" y="-5469"/>
                  <a:pt x="125016" y="-2400"/>
                </a:cubicBezTo>
                <a:lnTo>
                  <a:pt x="125016" y="78860"/>
                </a:lnTo>
                <a:cubicBezTo>
                  <a:pt x="156549" y="92646"/>
                  <a:pt x="178594" y="124123"/>
                  <a:pt x="178594" y="160734"/>
                </a:cubicBezTo>
                <a:lnTo>
                  <a:pt x="178594" y="285750"/>
                </a:lnTo>
                <a:cubicBezTo>
                  <a:pt x="178594" y="305451"/>
                  <a:pt x="162576" y="321469"/>
                  <a:pt x="142875" y="321469"/>
                </a:cubicBezTo>
                <a:lnTo>
                  <a:pt x="35719" y="321469"/>
                </a:lnTo>
                <a:cubicBezTo>
                  <a:pt x="16018" y="321469"/>
                  <a:pt x="0" y="305451"/>
                  <a:pt x="0" y="285750"/>
                </a:cubicBezTo>
                <a:lnTo>
                  <a:pt x="0" y="160734"/>
                </a:lnTo>
                <a:cubicBezTo>
                  <a:pt x="0" y="124123"/>
                  <a:pt x="22045" y="92646"/>
                  <a:pt x="53578" y="78860"/>
                </a:cubicBezTo>
                <a:lnTo>
                  <a:pt x="53578" y="-2400"/>
                </a:lnTo>
                <a:cubicBezTo>
                  <a:pt x="48220" y="-5469"/>
                  <a:pt x="44648" y="-11274"/>
                  <a:pt x="44648" y="-17859"/>
                </a:cubicBezTo>
                <a:close/>
                <a:moveTo>
                  <a:pt x="53578" y="160734"/>
                </a:moveTo>
                <a:cubicBezTo>
                  <a:pt x="43700" y="160734"/>
                  <a:pt x="35719" y="168715"/>
                  <a:pt x="35719" y="178594"/>
                </a:cubicBezTo>
                <a:lnTo>
                  <a:pt x="35719" y="250031"/>
                </a:lnTo>
                <a:cubicBezTo>
                  <a:pt x="35719" y="259910"/>
                  <a:pt x="43700" y="267891"/>
                  <a:pt x="53578" y="267891"/>
                </a:cubicBezTo>
                <a:lnTo>
                  <a:pt x="125016" y="267891"/>
                </a:lnTo>
                <a:cubicBezTo>
                  <a:pt x="134894" y="267891"/>
                  <a:pt x="142875" y="259910"/>
                  <a:pt x="142875" y="250031"/>
                </a:cubicBezTo>
                <a:lnTo>
                  <a:pt x="142875" y="178594"/>
                </a:lnTo>
                <a:cubicBezTo>
                  <a:pt x="142875" y="168715"/>
                  <a:pt x="134894" y="160734"/>
                  <a:pt x="125016" y="160734"/>
                </a:cubicBezTo>
                <a:lnTo>
                  <a:pt x="53578" y="160734"/>
                </a:ln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28" name="Text 26"/>
          <p:cNvSpPr/>
          <p:nvPr/>
        </p:nvSpPr>
        <p:spPr>
          <a:xfrm>
            <a:off x="6872288" y="1828800"/>
            <a:ext cx="561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Cork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0" y="2247779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Harvested without harm:</a:t>
            </a:r>
            <a:r>
              <a:rPr lang="en-US" sz="1200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tree bark, it allows trees to live for centuries, absorbing CO₂.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0" y="2857379"/>
            <a:ext cx="2552700" cy="685800"/>
          </a:xfrm>
          <a:custGeom>
            <a:avLst/>
            <a:gdLst/>
            <a:ahLst/>
            <a:cxnLst/>
            <a:rect l="l" t="t" r="r" b="b"/>
            <a:pathLst>
              <a:path w="2552700" h="6858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609601"/>
                </a:lnTo>
                <a:cubicBezTo>
                  <a:pt x="2552700" y="651684"/>
                  <a:pt x="2518584" y="685800"/>
                  <a:pt x="2476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577138" y="297167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661" y="-11787"/>
                </a:moveTo>
                <a:cubicBezTo>
                  <a:pt x="75813" y="-15270"/>
                  <a:pt x="81930" y="-15136"/>
                  <a:pt x="85904" y="-11385"/>
                </a:cubicBezTo>
                <a:cubicBezTo>
                  <a:pt x="91395" y="-6206"/>
                  <a:pt x="96307" y="-491"/>
                  <a:pt x="101039" y="5313"/>
                </a:cubicBezTo>
                <a:cubicBezTo>
                  <a:pt x="107067" y="12680"/>
                  <a:pt x="114300" y="22414"/>
                  <a:pt x="121265" y="33977"/>
                </a:cubicBezTo>
                <a:cubicBezTo>
                  <a:pt x="123587" y="30941"/>
                  <a:pt x="125730" y="28262"/>
                  <a:pt x="127605" y="25985"/>
                </a:cubicBezTo>
                <a:cubicBezTo>
                  <a:pt x="128096" y="25405"/>
                  <a:pt x="128588" y="24780"/>
                  <a:pt x="129079" y="24155"/>
                </a:cubicBezTo>
                <a:cubicBezTo>
                  <a:pt x="132606" y="19779"/>
                  <a:pt x="136981" y="14287"/>
                  <a:pt x="142830" y="14287"/>
                </a:cubicBezTo>
                <a:cubicBezTo>
                  <a:pt x="148813" y="14287"/>
                  <a:pt x="153010" y="19601"/>
                  <a:pt x="156582" y="24155"/>
                </a:cubicBezTo>
                <a:cubicBezTo>
                  <a:pt x="157163" y="24914"/>
                  <a:pt x="157743" y="25628"/>
                  <a:pt x="158323" y="26298"/>
                </a:cubicBezTo>
                <a:cubicBezTo>
                  <a:pt x="162922" y="31834"/>
                  <a:pt x="169039" y="39826"/>
                  <a:pt x="175156" y="49694"/>
                </a:cubicBezTo>
                <a:cubicBezTo>
                  <a:pt x="187300" y="69294"/>
                  <a:pt x="199980" y="97200"/>
                  <a:pt x="199980" y="128543"/>
                </a:cubicBezTo>
                <a:cubicBezTo>
                  <a:pt x="199980" y="183773"/>
                  <a:pt x="155198" y="228555"/>
                  <a:pt x="99968" y="228555"/>
                </a:cubicBezTo>
                <a:cubicBezTo>
                  <a:pt x="44738" y="228555"/>
                  <a:pt x="0" y="183818"/>
                  <a:pt x="0" y="128588"/>
                </a:cubicBezTo>
                <a:cubicBezTo>
                  <a:pt x="0" y="87913"/>
                  <a:pt x="18351" y="52685"/>
                  <a:pt x="35942" y="28129"/>
                </a:cubicBezTo>
                <a:cubicBezTo>
                  <a:pt x="44827" y="15761"/>
                  <a:pt x="53667" y="5849"/>
                  <a:pt x="60320" y="-938"/>
                </a:cubicBezTo>
                <a:cubicBezTo>
                  <a:pt x="63981" y="-4688"/>
                  <a:pt x="67687" y="-8394"/>
                  <a:pt x="71705" y="-11743"/>
                </a:cubicBezTo>
                <a:close/>
                <a:moveTo>
                  <a:pt x="100772" y="185738"/>
                </a:moveTo>
                <a:cubicBezTo>
                  <a:pt x="112068" y="185738"/>
                  <a:pt x="122069" y="182612"/>
                  <a:pt x="131490" y="176361"/>
                </a:cubicBezTo>
                <a:cubicBezTo>
                  <a:pt x="150287" y="163235"/>
                  <a:pt x="155332" y="136981"/>
                  <a:pt x="144036" y="116354"/>
                </a:cubicBezTo>
                <a:cubicBezTo>
                  <a:pt x="142027" y="112335"/>
                  <a:pt x="136892" y="112068"/>
                  <a:pt x="133990" y="115461"/>
                </a:cubicBezTo>
                <a:lnTo>
                  <a:pt x="122739" y="128543"/>
                </a:lnTo>
                <a:cubicBezTo>
                  <a:pt x="119792" y="131936"/>
                  <a:pt x="114479" y="131847"/>
                  <a:pt x="111710" y="128320"/>
                </a:cubicBezTo>
                <a:cubicBezTo>
                  <a:pt x="103986" y="118452"/>
                  <a:pt x="89788" y="100459"/>
                  <a:pt x="82555" y="91261"/>
                </a:cubicBezTo>
                <a:cubicBezTo>
                  <a:pt x="80144" y="88181"/>
                  <a:pt x="75768" y="87690"/>
                  <a:pt x="72956" y="90413"/>
                </a:cubicBezTo>
                <a:cubicBezTo>
                  <a:pt x="64785" y="98361"/>
                  <a:pt x="49962" y="115773"/>
                  <a:pt x="49962" y="136981"/>
                </a:cubicBezTo>
                <a:cubicBezTo>
                  <a:pt x="49962" y="167610"/>
                  <a:pt x="72554" y="185738"/>
                  <a:pt x="100727" y="185738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32" name="Text 30"/>
          <p:cNvSpPr/>
          <p:nvPr/>
        </p:nvSpPr>
        <p:spPr>
          <a:xfrm>
            <a:off x="6481763" y="3238379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 resistant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067800" y="2857379"/>
            <a:ext cx="2552700" cy="685800"/>
          </a:xfrm>
          <a:custGeom>
            <a:avLst/>
            <a:gdLst/>
            <a:ahLst/>
            <a:cxnLst/>
            <a:rect l="l" t="t" r="r" b="b"/>
            <a:pathLst>
              <a:path w="2552700" h="685800">
                <a:moveTo>
                  <a:pt x="76199" y="0"/>
                </a:moveTo>
                <a:lnTo>
                  <a:pt x="2476501" y="0"/>
                </a:lnTo>
                <a:cubicBezTo>
                  <a:pt x="2518584" y="0"/>
                  <a:pt x="2552700" y="34116"/>
                  <a:pt x="2552700" y="76199"/>
                </a:cubicBezTo>
                <a:lnTo>
                  <a:pt x="2552700" y="609601"/>
                </a:lnTo>
                <a:cubicBezTo>
                  <a:pt x="2552700" y="651684"/>
                  <a:pt x="2518584" y="685800"/>
                  <a:pt x="2476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215563" y="2971679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157163"/>
                </a:moveTo>
                <a:lnTo>
                  <a:pt x="42863" y="157163"/>
                </a:lnTo>
                <a:lnTo>
                  <a:pt x="102736" y="210383"/>
                </a:lnTo>
                <a:cubicBezTo>
                  <a:pt x="105594" y="212928"/>
                  <a:pt x="109255" y="214313"/>
                  <a:pt x="113050" y="214313"/>
                </a:cubicBezTo>
                <a:cubicBezTo>
                  <a:pt x="121622" y="214313"/>
                  <a:pt x="128588" y="207347"/>
                  <a:pt x="128588" y="198775"/>
                </a:cubicBezTo>
                <a:lnTo>
                  <a:pt x="128588" y="29825"/>
                </a:lnTo>
                <a:cubicBezTo>
                  <a:pt x="128588" y="21253"/>
                  <a:pt x="121622" y="14288"/>
                  <a:pt x="113050" y="14288"/>
                </a:cubicBezTo>
                <a:cubicBezTo>
                  <a:pt x="109255" y="14288"/>
                  <a:pt x="105594" y="15672"/>
                  <a:pt x="102736" y="18217"/>
                </a:cubicBezTo>
                <a:lnTo>
                  <a:pt x="42863" y="71438"/>
                </a:lnTo>
                <a:lnTo>
                  <a:pt x="21431" y="71438"/>
                </a:lnTo>
                <a:cubicBezTo>
                  <a:pt x="9599" y="71438"/>
                  <a:pt x="0" y="81037"/>
                  <a:pt x="0" y="92869"/>
                </a:cubicBezTo>
                <a:lnTo>
                  <a:pt x="0" y="135731"/>
                </a:lnTo>
                <a:cubicBezTo>
                  <a:pt x="0" y="147563"/>
                  <a:pt x="9599" y="157163"/>
                  <a:pt x="21431" y="157163"/>
                </a:cubicBezTo>
                <a:close/>
                <a:moveTo>
                  <a:pt x="163860" y="78135"/>
                </a:moveTo>
                <a:cubicBezTo>
                  <a:pt x="159663" y="82332"/>
                  <a:pt x="159663" y="89118"/>
                  <a:pt x="163860" y="93271"/>
                </a:cubicBezTo>
                <a:lnTo>
                  <a:pt x="184845" y="114255"/>
                </a:lnTo>
                <a:lnTo>
                  <a:pt x="163860" y="135240"/>
                </a:lnTo>
                <a:cubicBezTo>
                  <a:pt x="159663" y="139437"/>
                  <a:pt x="159663" y="146224"/>
                  <a:pt x="163860" y="150376"/>
                </a:cubicBezTo>
                <a:cubicBezTo>
                  <a:pt x="168057" y="154528"/>
                  <a:pt x="174843" y="154573"/>
                  <a:pt x="178996" y="150376"/>
                </a:cubicBezTo>
                <a:lnTo>
                  <a:pt x="199980" y="129391"/>
                </a:lnTo>
                <a:lnTo>
                  <a:pt x="220965" y="150376"/>
                </a:lnTo>
                <a:cubicBezTo>
                  <a:pt x="225162" y="154573"/>
                  <a:pt x="231949" y="154573"/>
                  <a:pt x="236101" y="150376"/>
                </a:cubicBezTo>
                <a:cubicBezTo>
                  <a:pt x="240253" y="146179"/>
                  <a:pt x="240298" y="139392"/>
                  <a:pt x="236101" y="135240"/>
                </a:cubicBezTo>
                <a:lnTo>
                  <a:pt x="215116" y="114255"/>
                </a:lnTo>
                <a:lnTo>
                  <a:pt x="236101" y="93271"/>
                </a:lnTo>
                <a:cubicBezTo>
                  <a:pt x="240298" y="89074"/>
                  <a:pt x="240298" y="82287"/>
                  <a:pt x="236101" y="78135"/>
                </a:cubicBezTo>
                <a:cubicBezTo>
                  <a:pt x="231904" y="73982"/>
                  <a:pt x="225117" y="73938"/>
                  <a:pt x="220965" y="78135"/>
                </a:cubicBezTo>
                <a:lnTo>
                  <a:pt x="199980" y="99120"/>
                </a:lnTo>
                <a:lnTo>
                  <a:pt x="178996" y="78135"/>
                </a:lnTo>
                <a:cubicBezTo>
                  <a:pt x="174799" y="73938"/>
                  <a:pt x="168012" y="73938"/>
                  <a:pt x="163860" y="78135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35" name="Text 33"/>
          <p:cNvSpPr/>
          <p:nvPr/>
        </p:nvSpPr>
        <p:spPr>
          <a:xfrm>
            <a:off x="9148763" y="3238379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Acoustic benefits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0" y="3657479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Flooring, wall panels, tabletops, and upholstery.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1250" y="4228979"/>
            <a:ext cx="5619750" cy="2095500"/>
          </a:xfrm>
          <a:custGeom>
            <a:avLst/>
            <a:gdLst/>
            <a:ahLst/>
            <a:cxnLst/>
            <a:rect l="l" t="t" r="r" b="b"/>
            <a:pathLst>
              <a:path w="5619750" h="2095500">
                <a:moveTo>
                  <a:pt x="38100" y="0"/>
                </a:moveTo>
                <a:lnTo>
                  <a:pt x="5543558" y="0"/>
                </a:lnTo>
                <a:cubicBezTo>
                  <a:pt x="5585638" y="0"/>
                  <a:pt x="5619750" y="34112"/>
                  <a:pt x="5619750" y="76192"/>
                </a:cubicBezTo>
                <a:lnTo>
                  <a:pt x="5619750" y="2019308"/>
                </a:lnTo>
                <a:cubicBezTo>
                  <a:pt x="5619750" y="2061388"/>
                  <a:pt x="5585638" y="2095500"/>
                  <a:pt x="5543558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91250" y="4228979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39" name="Shape 37"/>
          <p:cNvSpPr/>
          <p:nvPr/>
        </p:nvSpPr>
        <p:spPr>
          <a:xfrm>
            <a:off x="6438900" y="442888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4999" y="33486"/>
                </a:moveTo>
                <a:cubicBezTo>
                  <a:pt x="110784" y="-11162"/>
                  <a:pt x="175245" y="-11162"/>
                  <a:pt x="201030" y="33486"/>
                </a:cubicBezTo>
                <a:lnTo>
                  <a:pt x="221847" y="69540"/>
                </a:lnTo>
                <a:lnTo>
                  <a:pt x="237306" y="60610"/>
                </a:lnTo>
                <a:cubicBezTo>
                  <a:pt x="241995" y="57876"/>
                  <a:pt x="247855" y="58266"/>
                  <a:pt x="252152" y="61559"/>
                </a:cubicBezTo>
                <a:cubicBezTo>
                  <a:pt x="256449" y="64852"/>
                  <a:pt x="258347" y="70433"/>
                  <a:pt x="256952" y="75679"/>
                </a:cubicBezTo>
                <a:lnTo>
                  <a:pt x="243836" y="124458"/>
                </a:lnTo>
                <a:cubicBezTo>
                  <a:pt x="241939" y="131601"/>
                  <a:pt x="234572" y="135843"/>
                  <a:pt x="227428" y="133945"/>
                </a:cubicBezTo>
                <a:lnTo>
                  <a:pt x="178650" y="120886"/>
                </a:lnTo>
                <a:cubicBezTo>
                  <a:pt x="173403" y="119490"/>
                  <a:pt x="169552" y="115081"/>
                  <a:pt x="168827" y="109724"/>
                </a:cubicBezTo>
                <a:cubicBezTo>
                  <a:pt x="168101" y="104366"/>
                  <a:pt x="170724" y="99064"/>
                  <a:pt x="175413" y="96385"/>
                </a:cubicBezTo>
                <a:lnTo>
                  <a:pt x="190872" y="87455"/>
                </a:lnTo>
                <a:lnTo>
                  <a:pt x="170055" y="51402"/>
                </a:lnTo>
                <a:cubicBezTo>
                  <a:pt x="158000" y="30584"/>
                  <a:pt x="127974" y="30584"/>
                  <a:pt x="115919" y="51402"/>
                </a:cubicBezTo>
                <a:lnTo>
                  <a:pt x="112961" y="56480"/>
                </a:lnTo>
                <a:cubicBezTo>
                  <a:pt x="108049" y="65019"/>
                  <a:pt x="97110" y="67921"/>
                  <a:pt x="88571" y="63010"/>
                </a:cubicBezTo>
                <a:cubicBezTo>
                  <a:pt x="80032" y="58099"/>
                  <a:pt x="77130" y="47160"/>
                  <a:pt x="82042" y="38565"/>
                </a:cubicBezTo>
                <a:lnTo>
                  <a:pt x="84999" y="33486"/>
                </a:lnTo>
                <a:close/>
                <a:moveTo>
                  <a:pt x="250980" y="155767"/>
                </a:moveTo>
                <a:cubicBezTo>
                  <a:pt x="259519" y="150856"/>
                  <a:pt x="270458" y="153758"/>
                  <a:pt x="275369" y="162297"/>
                </a:cubicBezTo>
                <a:lnTo>
                  <a:pt x="278327" y="167376"/>
                </a:lnTo>
                <a:cubicBezTo>
                  <a:pt x="304112" y="212024"/>
                  <a:pt x="271909" y="267835"/>
                  <a:pt x="220340" y="267835"/>
                </a:cubicBezTo>
                <a:lnTo>
                  <a:pt x="178705" y="267835"/>
                </a:lnTo>
                <a:lnTo>
                  <a:pt x="178705" y="285694"/>
                </a:lnTo>
                <a:cubicBezTo>
                  <a:pt x="178705" y="291108"/>
                  <a:pt x="175468" y="296019"/>
                  <a:pt x="170445" y="298084"/>
                </a:cubicBezTo>
                <a:cubicBezTo>
                  <a:pt x="165422" y="300149"/>
                  <a:pt x="159674" y="299033"/>
                  <a:pt x="155823" y="295182"/>
                </a:cubicBezTo>
                <a:lnTo>
                  <a:pt x="120104" y="259463"/>
                </a:lnTo>
                <a:cubicBezTo>
                  <a:pt x="114858" y="254217"/>
                  <a:pt x="114858" y="245734"/>
                  <a:pt x="120104" y="240543"/>
                </a:cubicBezTo>
                <a:lnTo>
                  <a:pt x="155823" y="204825"/>
                </a:lnTo>
                <a:cubicBezTo>
                  <a:pt x="159674" y="200974"/>
                  <a:pt x="165422" y="199858"/>
                  <a:pt x="170445" y="201923"/>
                </a:cubicBezTo>
                <a:cubicBezTo>
                  <a:pt x="175468" y="203988"/>
                  <a:pt x="178705" y="208899"/>
                  <a:pt x="178705" y="214313"/>
                </a:cubicBezTo>
                <a:lnTo>
                  <a:pt x="178705" y="232172"/>
                </a:lnTo>
                <a:lnTo>
                  <a:pt x="220340" y="232172"/>
                </a:lnTo>
                <a:cubicBezTo>
                  <a:pt x="244394" y="232172"/>
                  <a:pt x="259463" y="206108"/>
                  <a:pt x="247408" y="185291"/>
                </a:cubicBezTo>
                <a:lnTo>
                  <a:pt x="244450" y="180212"/>
                </a:lnTo>
                <a:cubicBezTo>
                  <a:pt x="239539" y="171673"/>
                  <a:pt x="242441" y="160734"/>
                  <a:pt x="250980" y="155823"/>
                </a:cubicBezTo>
                <a:close/>
                <a:moveTo>
                  <a:pt x="28463" y="131378"/>
                </a:moveTo>
                <a:lnTo>
                  <a:pt x="13004" y="122448"/>
                </a:lnTo>
                <a:cubicBezTo>
                  <a:pt x="8316" y="119714"/>
                  <a:pt x="5693" y="114467"/>
                  <a:pt x="6418" y="109110"/>
                </a:cubicBezTo>
                <a:cubicBezTo>
                  <a:pt x="7144" y="103752"/>
                  <a:pt x="10995" y="99343"/>
                  <a:pt x="16241" y="97948"/>
                </a:cubicBezTo>
                <a:lnTo>
                  <a:pt x="65019" y="84832"/>
                </a:lnTo>
                <a:cubicBezTo>
                  <a:pt x="72163" y="82934"/>
                  <a:pt x="79530" y="87176"/>
                  <a:pt x="81428" y="94320"/>
                </a:cubicBezTo>
                <a:lnTo>
                  <a:pt x="94487" y="143098"/>
                </a:lnTo>
                <a:cubicBezTo>
                  <a:pt x="95883" y="148344"/>
                  <a:pt x="93985" y="153870"/>
                  <a:pt x="89688" y="157218"/>
                </a:cubicBezTo>
                <a:cubicBezTo>
                  <a:pt x="85390" y="160567"/>
                  <a:pt x="79530" y="160902"/>
                  <a:pt x="74842" y="158167"/>
                </a:cubicBezTo>
                <a:lnTo>
                  <a:pt x="59382" y="149237"/>
                </a:lnTo>
                <a:lnTo>
                  <a:pt x="38565" y="185291"/>
                </a:lnTo>
                <a:cubicBezTo>
                  <a:pt x="26510" y="206108"/>
                  <a:pt x="41579" y="232172"/>
                  <a:pt x="65633" y="232172"/>
                </a:cubicBezTo>
                <a:lnTo>
                  <a:pt x="71549" y="232172"/>
                </a:lnTo>
                <a:cubicBezTo>
                  <a:pt x="81428" y="232172"/>
                  <a:pt x="89408" y="240153"/>
                  <a:pt x="89408" y="250031"/>
                </a:cubicBezTo>
                <a:cubicBezTo>
                  <a:pt x="89408" y="259910"/>
                  <a:pt x="81428" y="267891"/>
                  <a:pt x="71549" y="267891"/>
                </a:cubicBezTo>
                <a:lnTo>
                  <a:pt x="65633" y="267891"/>
                </a:lnTo>
                <a:cubicBezTo>
                  <a:pt x="14120" y="267891"/>
                  <a:pt x="-18083" y="212080"/>
                  <a:pt x="7702" y="167432"/>
                </a:cubicBezTo>
                <a:lnTo>
                  <a:pt x="28463" y="131378"/>
                </a:ln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40" name="Text 38"/>
          <p:cNvSpPr/>
          <p:nvPr/>
        </p:nvSpPr>
        <p:spPr>
          <a:xfrm>
            <a:off x="6872288" y="4419479"/>
            <a:ext cx="1514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Recycled Metal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0" y="4838463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Industrial elegance:</a:t>
            </a:r>
            <a:r>
              <a:rPr lang="en-US" sz="1200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Adds contemporary edge while repurposing waste, ideal for outdoor use.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0800" y="5448063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515100" y="5562363"/>
            <a:ext cx="506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Durable, weather-resistant, infinitely recyclable without quality loss.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files.idyllic.app/3fc3808b8eb7e92d7181103c0fd469e29b3bd37f"/>
          <p:cNvPicPr>
            <a:picLocks noChangeAspect="1"/>
          </p:cNvPicPr>
          <p:nvPr/>
        </p:nvPicPr>
        <p:blipFill>
          <a:blip r:embed="rId3"/>
          <a:srcRect l="13281" r="13281"/>
          <a:stretch/>
        </p:blipFill>
        <p:spPr>
          <a:xfrm>
            <a:off x="381000" y="381000"/>
            <a:ext cx="4476750" cy="6096000"/>
          </a:xfrm>
          <a:prstGeom prst="roundRect">
            <a:avLst>
              <a:gd name="adj" fmla="val 1702"/>
            </a:avLst>
          </a:prstGeom>
        </p:spPr>
      </p:pic>
      <p:sp>
        <p:nvSpPr>
          <p:cNvPr id="3" name="Text 0"/>
          <p:cNvSpPr/>
          <p:nvPr/>
        </p:nvSpPr>
        <p:spPr>
          <a:xfrm>
            <a:off x="5090160" y="381000"/>
            <a:ext cx="679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B47B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Biophilic Design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90160" y="647700"/>
            <a:ext cx="695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Where Nature Meets Dining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90160" y="1219200"/>
            <a:ext cx="681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Integrating natural elements to enhance wellbeing and create memorable spaces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90160" y="1676400"/>
            <a:ext cx="6724650" cy="1524000"/>
          </a:xfrm>
          <a:custGeom>
            <a:avLst/>
            <a:gdLst/>
            <a:ahLst/>
            <a:cxnLst/>
            <a:rect l="l" t="t" r="r" b="b"/>
            <a:pathLst>
              <a:path w="6724650" h="1524000">
                <a:moveTo>
                  <a:pt x="76200" y="0"/>
                </a:moveTo>
                <a:lnTo>
                  <a:pt x="6648450" y="0"/>
                </a:lnTo>
                <a:cubicBezTo>
                  <a:pt x="6690506" y="0"/>
                  <a:pt x="6724650" y="34144"/>
                  <a:pt x="6724650" y="76200"/>
                </a:cubicBezTo>
                <a:lnTo>
                  <a:pt x="6724650" y="1447800"/>
                </a:lnTo>
                <a:cubicBezTo>
                  <a:pt x="6724650" y="1489856"/>
                  <a:pt x="6690506" y="1524000"/>
                  <a:pt x="664845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18760" y="19050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3035" y="3739"/>
                </a:moveTo>
                <a:cubicBezTo>
                  <a:pt x="266607" y="335"/>
                  <a:pt x="271797" y="-893"/>
                  <a:pt x="276597" y="670"/>
                </a:cubicBezTo>
                <a:cubicBezTo>
                  <a:pt x="282067" y="2511"/>
                  <a:pt x="285750" y="7646"/>
                  <a:pt x="285750" y="13395"/>
                </a:cubicBezTo>
                <a:lnTo>
                  <a:pt x="285750" y="117704"/>
                </a:lnTo>
                <a:cubicBezTo>
                  <a:pt x="285750" y="190928"/>
                  <a:pt x="225419" y="250031"/>
                  <a:pt x="152474" y="250031"/>
                </a:cubicBezTo>
                <a:cubicBezTo>
                  <a:pt x="109500" y="250031"/>
                  <a:pt x="72442" y="222405"/>
                  <a:pt x="58992" y="183784"/>
                </a:cubicBezTo>
                <a:cubicBezTo>
                  <a:pt x="39235" y="200974"/>
                  <a:pt x="26789" y="226256"/>
                  <a:pt x="26789" y="254496"/>
                </a:cubicBezTo>
                <a:cubicBezTo>
                  <a:pt x="26789" y="261919"/>
                  <a:pt x="20817" y="267891"/>
                  <a:pt x="13395" y="267891"/>
                </a:cubicBezTo>
                <a:cubicBezTo>
                  <a:pt x="5972" y="267891"/>
                  <a:pt x="0" y="261919"/>
                  <a:pt x="0" y="254496"/>
                </a:cubicBezTo>
                <a:cubicBezTo>
                  <a:pt x="0" y="212694"/>
                  <a:pt x="21320" y="175859"/>
                  <a:pt x="53634" y="154205"/>
                </a:cubicBezTo>
                <a:cubicBezTo>
                  <a:pt x="73335" y="141033"/>
                  <a:pt x="96831" y="133945"/>
                  <a:pt x="120551" y="133945"/>
                </a:cubicBezTo>
                <a:lnTo>
                  <a:pt x="165199" y="133945"/>
                </a:lnTo>
                <a:cubicBezTo>
                  <a:pt x="172622" y="133945"/>
                  <a:pt x="178594" y="127974"/>
                  <a:pt x="178594" y="120551"/>
                </a:cubicBezTo>
                <a:cubicBezTo>
                  <a:pt x="178594" y="113128"/>
                  <a:pt x="172622" y="107156"/>
                  <a:pt x="165199" y="107156"/>
                </a:cubicBezTo>
                <a:lnTo>
                  <a:pt x="120551" y="107156"/>
                </a:lnTo>
                <a:cubicBezTo>
                  <a:pt x="98394" y="107156"/>
                  <a:pt x="77409" y="112068"/>
                  <a:pt x="58601" y="120830"/>
                </a:cubicBezTo>
                <a:cubicBezTo>
                  <a:pt x="71605" y="81762"/>
                  <a:pt x="108384" y="53578"/>
                  <a:pt x="151805" y="53578"/>
                </a:cubicBezTo>
                <a:cubicBezTo>
                  <a:pt x="188863" y="53578"/>
                  <a:pt x="216433" y="41244"/>
                  <a:pt x="234795" y="29021"/>
                </a:cubicBezTo>
                <a:cubicBezTo>
                  <a:pt x="245511" y="21878"/>
                  <a:pt x="254608" y="13339"/>
                  <a:pt x="263091" y="3739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8" name="Text 5"/>
          <p:cNvSpPr/>
          <p:nvPr/>
        </p:nvSpPr>
        <p:spPr>
          <a:xfrm>
            <a:off x="5790248" y="1866900"/>
            <a:ext cx="592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Indoor Greenery &amp; Vertical Gardens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90248" y="2209800"/>
            <a:ext cx="5905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Plants purify air, improve acoustics, and create a sense of tranquility. </a:t>
            </a:r>
            <a:r>
              <a:rPr lang="en-US" sz="1200" dirty="0">
                <a:solidFill>
                  <a:srgbClr val="3C3C36"/>
                </a:solidFill>
                <a:highlight>
                  <a:srgbClr val="6B7A5A">
                    <a:alpha val="1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placement can reduce perceived noise by 5-10 decibels.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90248" y="278130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Plants: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Pothos, snake plants, ferns, herbs (dual purpose)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90160" y="3352800"/>
            <a:ext cx="3286125" cy="1219200"/>
          </a:xfrm>
          <a:custGeom>
            <a:avLst/>
            <a:gdLst/>
            <a:ahLst/>
            <a:cxnLst/>
            <a:rect l="l" t="t" r="r" b="b"/>
            <a:pathLst>
              <a:path w="3286125" h="12192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1143000"/>
                </a:lnTo>
                <a:cubicBezTo>
                  <a:pt x="3286125" y="1185056"/>
                  <a:pt x="3251981" y="1219200"/>
                  <a:pt x="32099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94948" y="3581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9564" y="-4509"/>
                </a:moveTo>
                <a:cubicBezTo>
                  <a:pt x="82867" y="-5894"/>
                  <a:pt x="86618" y="-5492"/>
                  <a:pt x="89609" y="-3527"/>
                </a:cubicBezTo>
                <a:lnTo>
                  <a:pt x="128811" y="22458"/>
                </a:lnTo>
                <a:lnTo>
                  <a:pt x="168012" y="-3527"/>
                </a:lnTo>
                <a:cubicBezTo>
                  <a:pt x="171004" y="-5492"/>
                  <a:pt x="174754" y="-5849"/>
                  <a:pt x="178058" y="-4509"/>
                </a:cubicBezTo>
                <a:cubicBezTo>
                  <a:pt x="181362" y="-3170"/>
                  <a:pt x="183684" y="-223"/>
                  <a:pt x="184398" y="3259"/>
                </a:cubicBezTo>
                <a:lnTo>
                  <a:pt x="193730" y="49337"/>
                </a:lnTo>
                <a:lnTo>
                  <a:pt x="239807" y="58668"/>
                </a:lnTo>
                <a:cubicBezTo>
                  <a:pt x="243289" y="59382"/>
                  <a:pt x="246236" y="61793"/>
                  <a:pt x="247576" y="65053"/>
                </a:cubicBezTo>
                <a:cubicBezTo>
                  <a:pt x="248915" y="68312"/>
                  <a:pt x="248558" y="72107"/>
                  <a:pt x="246593" y="75099"/>
                </a:cubicBezTo>
                <a:lnTo>
                  <a:pt x="220608" y="114300"/>
                </a:lnTo>
                <a:lnTo>
                  <a:pt x="246593" y="153501"/>
                </a:lnTo>
                <a:cubicBezTo>
                  <a:pt x="248558" y="156493"/>
                  <a:pt x="248915" y="160243"/>
                  <a:pt x="247576" y="163547"/>
                </a:cubicBezTo>
                <a:cubicBezTo>
                  <a:pt x="246236" y="166851"/>
                  <a:pt x="243289" y="169262"/>
                  <a:pt x="239807" y="169932"/>
                </a:cubicBezTo>
                <a:lnTo>
                  <a:pt x="193685" y="179219"/>
                </a:lnTo>
                <a:lnTo>
                  <a:pt x="184398" y="225341"/>
                </a:lnTo>
                <a:cubicBezTo>
                  <a:pt x="183684" y="228823"/>
                  <a:pt x="181273" y="231770"/>
                  <a:pt x="178013" y="233109"/>
                </a:cubicBezTo>
                <a:cubicBezTo>
                  <a:pt x="174754" y="234449"/>
                  <a:pt x="170959" y="234092"/>
                  <a:pt x="167967" y="232127"/>
                </a:cubicBezTo>
                <a:lnTo>
                  <a:pt x="128766" y="206142"/>
                </a:lnTo>
                <a:lnTo>
                  <a:pt x="89565" y="232127"/>
                </a:lnTo>
                <a:cubicBezTo>
                  <a:pt x="86573" y="234092"/>
                  <a:pt x="82823" y="234449"/>
                  <a:pt x="79519" y="233109"/>
                </a:cubicBezTo>
                <a:cubicBezTo>
                  <a:pt x="76215" y="231770"/>
                  <a:pt x="73804" y="228823"/>
                  <a:pt x="73134" y="225341"/>
                </a:cubicBezTo>
                <a:lnTo>
                  <a:pt x="63847" y="179219"/>
                </a:lnTo>
                <a:lnTo>
                  <a:pt x="17725" y="169887"/>
                </a:lnTo>
                <a:cubicBezTo>
                  <a:pt x="14243" y="169173"/>
                  <a:pt x="11296" y="166762"/>
                  <a:pt x="9957" y="163503"/>
                </a:cubicBezTo>
                <a:cubicBezTo>
                  <a:pt x="8617" y="160243"/>
                  <a:pt x="8974" y="156448"/>
                  <a:pt x="10939" y="153457"/>
                </a:cubicBezTo>
                <a:lnTo>
                  <a:pt x="36924" y="114300"/>
                </a:lnTo>
                <a:lnTo>
                  <a:pt x="10939" y="75099"/>
                </a:lnTo>
                <a:cubicBezTo>
                  <a:pt x="8974" y="72107"/>
                  <a:pt x="8617" y="68357"/>
                  <a:pt x="9957" y="65053"/>
                </a:cubicBezTo>
                <a:cubicBezTo>
                  <a:pt x="11296" y="61749"/>
                  <a:pt x="14243" y="59338"/>
                  <a:pt x="17725" y="58668"/>
                </a:cubicBezTo>
                <a:lnTo>
                  <a:pt x="63847" y="49381"/>
                </a:lnTo>
                <a:lnTo>
                  <a:pt x="73179" y="3259"/>
                </a:lnTo>
                <a:cubicBezTo>
                  <a:pt x="73893" y="-223"/>
                  <a:pt x="76304" y="-3170"/>
                  <a:pt x="79564" y="-4509"/>
                </a:cubicBezTo>
                <a:close/>
                <a:moveTo>
                  <a:pt x="92690" y="114300"/>
                </a:moveTo>
                <a:cubicBezTo>
                  <a:pt x="92690" y="101475"/>
                  <a:pt x="99532" y="89624"/>
                  <a:pt x="110639" y="83212"/>
                </a:cubicBezTo>
                <a:cubicBezTo>
                  <a:pt x="121746" y="76800"/>
                  <a:pt x="135429" y="76800"/>
                  <a:pt x="146536" y="83212"/>
                </a:cubicBezTo>
                <a:cubicBezTo>
                  <a:pt x="157643" y="89624"/>
                  <a:pt x="164485" y="101475"/>
                  <a:pt x="164485" y="114300"/>
                </a:cubicBezTo>
                <a:cubicBezTo>
                  <a:pt x="164485" y="134112"/>
                  <a:pt x="148400" y="150197"/>
                  <a:pt x="128588" y="150197"/>
                </a:cubicBezTo>
                <a:cubicBezTo>
                  <a:pt x="108775" y="150197"/>
                  <a:pt x="92690" y="134112"/>
                  <a:pt x="92690" y="114300"/>
                </a:cubicBezTo>
                <a:close/>
                <a:moveTo>
                  <a:pt x="185916" y="114300"/>
                </a:moveTo>
                <a:cubicBezTo>
                  <a:pt x="185916" y="82659"/>
                  <a:pt x="160228" y="56971"/>
                  <a:pt x="128588" y="56971"/>
                </a:cubicBezTo>
                <a:cubicBezTo>
                  <a:pt x="96947" y="56971"/>
                  <a:pt x="71259" y="82659"/>
                  <a:pt x="71259" y="114300"/>
                </a:cubicBezTo>
                <a:cubicBezTo>
                  <a:pt x="71259" y="134782"/>
                  <a:pt x="82186" y="153707"/>
                  <a:pt x="99923" y="163948"/>
                </a:cubicBezTo>
                <a:cubicBezTo>
                  <a:pt x="117661" y="174189"/>
                  <a:pt x="139514" y="174189"/>
                  <a:pt x="157252" y="163948"/>
                </a:cubicBezTo>
                <a:cubicBezTo>
                  <a:pt x="174989" y="153707"/>
                  <a:pt x="185916" y="134782"/>
                  <a:pt x="185916" y="114300"/>
                </a:cubicBez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13" name="Text 10"/>
          <p:cNvSpPr/>
          <p:nvPr/>
        </p:nvSpPr>
        <p:spPr>
          <a:xfrm>
            <a:off x="5680710" y="3543300"/>
            <a:ext cx="259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Natural Light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80710" y="3886200"/>
            <a:ext cx="2581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windows reduce energy use and regulate circadian rhythms.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526780" y="3352800"/>
            <a:ext cx="3286125" cy="1219200"/>
          </a:xfrm>
          <a:custGeom>
            <a:avLst/>
            <a:gdLst/>
            <a:ahLst/>
            <a:cxnLst/>
            <a:rect l="l" t="t" r="r" b="b"/>
            <a:pathLst>
              <a:path w="3286125" h="12192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1143000"/>
                </a:lnTo>
                <a:cubicBezTo>
                  <a:pt x="3286125" y="1185056"/>
                  <a:pt x="3251981" y="1219200"/>
                  <a:pt x="3209925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745855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3326" y="55409"/>
                </a:moveTo>
                <a:cubicBezTo>
                  <a:pt x="192569" y="62374"/>
                  <a:pt x="203865" y="69116"/>
                  <a:pt x="216456" y="70812"/>
                </a:cubicBezTo>
                <a:cubicBezTo>
                  <a:pt x="222305" y="71616"/>
                  <a:pt x="227707" y="67464"/>
                  <a:pt x="228511" y="61615"/>
                </a:cubicBezTo>
                <a:cubicBezTo>
                  <a:pt x="229314" y="55766"/>
                  <a:pt x="225162" y="50363"/>
                  <a:pt x="219313" y="49560"/>
                </a:cubicBezTo>
                <a:cubicBezTo>
                  <a:pt x="212214" y="48622"/>
                  <a:pt x="204490" y="44514"/>
                  <a:pt x="196230" y="38308"/>
                </a:cubicBezTo>
                <a:cubicBezTo>
                  <a:pt x="179085" y="25360"/>
                  <a:pt x="155823" y="25360"/>
                  <a:pt x="138633" y="38308"/>
                </a:cubicBezTo>
                <a:cubicBezTo>
                  <a:pt x="127918" y="46390"/>
                  <a:pt x="120461" y="50051"/>
                  <a:pt x="114300" y="50051"/>
                </a:cubicBezTo>
                <a:cubicBezTo>
                  <a:pt x="108139" y="50051"/>
                  <a:pt x="100682" y="46390"/>
                  <a:pt x="89967" y="38308"/>
                </a:cubicBezTo>
                <a:cubicBezTo>
                  <a:pt x="72822" y="25360"/>
                  <a:pt x="49560" y="25360"/>
                  <a:pt x="32370" y="38308"/>
                </a:cubicBezTo>
                <a:cubicBezTo>
                  <a:pt x="24110" y="44514"/>
                  <a:pt x="16386" y="48622"/>
                  <a:pt x="9287" y="49560"/>
                </a:cubicBezTo>
                <a:cubicBezTo>
                  <a:pt x="3438" y="50363"/>
                  <a:pt x="-714" y="55721"/>
                  <a:pt x="89" y="61615"/>
                </a:cubicBezTo>
                <a:cubicBezTo>
                  <a:pt x="893" y="67508"/>
                  <a:pt x="6251" y="71616"/>
                  <a:pt x="12144" y="70812"/>
                </a:cubicBezTo>
                <a:cubicBezTo>
                  <a:pt x="24735" y="69116"/>
                  <a:pt x="36076" y="62374"/>
                  <a:pt x="45274" y="55409"/>
                </a:cubicBezTo>
                <a:cubicBezTo>
                  <a:pt x="54784" y="48220"/>
                  <a:pt x="67553" y="48220"/>
                  <a:pt x="77063" y="55409"/>
                </a:cubicBezTo>
                <a:cubicBezTo>
                  <a:pt x="87868" y="63579"/>
                  <a:pt x="100414" y="71438"/>
                  <a:pt x="114300" y="71438"/>
                </a:cubicBezTo>
                <a:cubicBezTo>
                  <a:pt x="128186" y="71438"/>
                  <a:pt x="140687" y="63535"/>
                  <a:pt x="151537" y="55409"/>
                </a:cubicBezTo>
                <a:cubicBezTo>
                  <a:pt x="161047" y="48220"/>
                  <a:pt x="173816" y="48220"/>
                  <a:pt x="183326" y="55409"/>
                </a:cubicBezTo>
                <a:close/>
                <a:moveTo>
                  <a:pt x="183326" y="119702"/>
                </a:moveTo>
                <a:cubicBezTo>
                  <a:pt x="192569" y="126668"/>
                  <a:pt x="203865" y="133410"/>
                  <a:pt x="216456" y="135106"/>
                </a:cubicBezTo>
                <a:cubicBezTo>
                  <a:pt x="222305" y="135910"/>
                  <a:pt x="227707" y="131758"/>
                  <a:pt x="228511" y="125909"/>
                </a:cubicBezTo>
                <a:cubicBezTo>
                  <a:pt x="229314" y="120060"/>
                  <a:pt x="225162" y="114657"/>
                  <a:pt x="219313" y="113854"/>
                </a:cubicBezTo>
                <a:cubicBezTo>
                  <a:pt x="212214" y="112916"/>
                  <a:pt x="204490" y="108808"/>
                  <a:pt x="196230" y="102602"/>
                </a:cubicBezTo>
                <a:cubicBezTo>
                  <a:pt x="179085" y="89654"/>
                  <a:pt x="155823" y="89654"/>
                  <a:pt x="138633" y="102602"/>
                </a:cubicBezTo>
                <a:cubicBezTo>
                  <a:pt x="127918" y="110683"/>
                  <a:pt x="120461" y="114345"/>
                  <a:pt x="114300" y="114345"/>
                </a:cubicBezTo>
                <a:cubicBezTo>
                  <a:pt x="108139" y="114345"/>
                  <a:pt x="100682" y="110683"/>
                  <a:pt x="89967" y="102602"/>
                </a:cubicBezTo>
                <a:cubicBezTo>
                  <a:pt x="72822" y="89654"/>
                  <a:pt x="49560" y="89654"/>
                  <a:pt x="32370" y="102602"/>
                </a:cubicBezTo>
                <a:cubicBezTo>
                  <a:pt x="24110" y="108808"/>
                  <a:pt x="16386" y="112916"/>
                  <a:pt x="9287" y="113854"/>
                </a:cubicBezTo>
                <a:cubicBezTo>
                  <a:pt x="3438" y="114613"/>
                  <a:pt x="-714" y="120015"/>
                  <a:pt x="89" y="125909"/>
                </a:cubicBezTo>
                <a:cubicBezTo>
                  <a:pt x="893" y="131802"/>
                  <a:pt x="6251" y="135910"/>
                  <a:pt x="12144" y="135106"/>
                </a:cubicBezTo>
                <a:cubicBezTo>
                  <a:pt x="24735" y="133410"/>
                  <a:pt x="36076" y="126668"/>
                  <a:pt x="45274" y="119702"/>
                </a:cubicBezTo>
                <a:cubicBezTo>
                  <a:pt x="54784" y="112514"/>
                  <a:pt x="67553" y="112514"/>
                  <a:pt x="77063" y="119702"/>
                </a:cubicBezTo>
                <a:cubicBezTo>
                  <a:pt x="87868" y="127873"/>
                  <a:pt x="100414" y="135731"/>
                  <a:pt x="114300" y="135731"/>
                </a:cubicBezTo>
                <a:cubicBezTo>
                  <a:pt x="128186" y="135731"/>
                  <a:pt x="140687" y="127828"/>
                  <a:pt x="151537" y="119702"/>
                </a:cubicBezTo>
                <a:cubicBezTo>
                  <a:pt x="161047" y="112514"/>
                  <a:pt x="173816" y="112514"/>
                  <a:pt x="183326" y="119702"/>
                </a:cubicBezTo>
                <a:close/>
                <a:moveTo>
                  <a:pt x="151537" y="183996"/>
                </a:moveTo>
                <a:cubicBezTo>
                  <a:pt x="161047" y="176808"/>
                  <a:pt x="173816" y="176808"/>
                  <a:pt x="183326" y="183996"/>
                </a:cubicBezTo>
                <a:cubicBezTo>
                  <a:pt x="192569" y="190961"/>
                  <a:pt x="203865" y="197703"/>
                  <a:pt x="216456" y="199400"/>
                </a:cubicBezTo>
                <a:cubicBezTo>
                  <a:pt x="222305" y="200204"/>
                  <a:pt x="227707" y="196051"/>
                  <a:pt x="228511" y="190202"/>
                </a:cubicBezTo>
                <a:cubicBezTo>
                  <a:pt x="229314" y="184353"/>
                  <a:pt x="225162" y="178951"/>
                  <a:pt x="219313" y="178147"/>
                </a:cubicBezTo>
                <a:cubicBezTo>
                  <a:pt x="212214" y="177210"/>
                  <a:pt x="204490" y="173102"/>
                  <a:pt x="196230" y="166896"/>
                </a:cubicBezTo>
                <a:cubicBezTo>
                  <a:pt x="179085" y="153948"/>
                  <a:pt x="155823" y="153948"/>
                  <a:pt x="138633" y="166896"/>
                </a:cubicBezTo>
                <a:cubicBezTo>
                  <a:pt x="127918" y="174977"/>
                  <a:pt x="120461" y="178638"/>
                  <a:pt x="114300" y="178638"/>
                </a:cubicBezTo>
                <a:cubicBezTo>
                  <a:pt x="108139" y="178638"/>
                  <a:pt x="100682" y="174977"/>
                  <a:pt x="89967" y="166896"/>
                </a:cubicBezTo>
                <a:cubicBezTo>
                  <a:pt x="72822" y="153948"/>
                  <a:pt x="49560" y="153948"/>
                  <a:pt x="32370" y="166896"/>
                </a:cubicBezTo>
                <a:cubicBezTo>
                  <a:pt x="24110" y="173102"/>
                  <a:pt x="16386" y="177210"/>
                  <a:pt x="9287" y="178147"/>
                </a:cubicBezTo>
                <a:cubicBezTo>
                  <a:pt x="3438" y="178951"/>
                  <a:pt x="-714" y="184309"/>
                  <a:pt x="89" y="190202"/>
                </a:cubicBezTo>
                <a:cubicBezTo>
                  <a:pt x="893" y="196096"/>
                  <a:pt x="6251" y="200204"/>
                  <a:pt x="12144" y="199400"/>
                </a:cubicBezTo>
                <a:cubicBezTo>
                  <a:pt x="24735" y="197703"/>
                  <a:pt x="36076" y="190961"/>
                  <a:pt x="45274" y="183996"/>
                </a:cubicBezTo>
                <a:cubicBezTo>
                  <a:pt x="54784" y="176808"/>
                  <a:pt x="67553" y="176808"/>
                  <a:pt x="77063" y="183996"/>
                </a:cubicBezTo>
                <a:cubicBezTo>
                  <a:pt x="87868" y="192167"/>
                  <a:pt x="100414" y="200025"/>
                  <a:pt x="114300" y="200025"/>
                </a:cubicBezTo>
                <a:cubicBezTo>
                  <a:pt x="128186" y="200025"/>
                  <a:pt x="140687" y="192122"/>
                  <a:pt x="151537" y="183996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17" name="Text 14"/>
          <p:cNvSpPr/>
          <p:nvPr/>
        </p:nvSpPr>
        <p:spPr>
          <a:xfrm>
            <a:off x="9117330" y="3543300"/>
            <a:ext cx="259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Water Features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17330" y="3886200"/>
            <a:ext cx="2581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Fountains mask urban noise, creating serene environments.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090160" y="4724400"/>
            <a:ext cx="6724650" cy="1371600"/>
          </a:xfrm>
          <a:custGeom>
            <a:avLst/>
            <a:gdLst/>
            <a:ahLst/>
            <a:cxnLst/>
            <a:rect l="l" t="t" r="r" b="b"/>
            <a:pathLst>
              <a:path w="6724650" h="1371600">
                <a:moveTo>
                  <a:pt x="76206" y="0"/>
                </a:moveTo>
                <a:lnTo>
                  <a:pt x="6648444" y="0"/>
                </a:lnTo>
                <a:cubicBezTo>
                  <a:pt x="6690531" y="0"/>
                  <a:pt x="6724650" y="34119"/>
                  <a:pt x="6724650" y="76206"/>
                </a:cubicBezTo>
                <a:lnTo>
                  <a:pt x="6724650" y="1295394"/>
                </a:lnTo>
                <a:cubicBezTo>
                  <a:pt x="6724650" y="1337481"/>
                  <a:pt x="6690531" y="1371600"/>
                  <a:pt x="664844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6B7A5A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80660" y="4914900"/>
            <a:ext cx="6429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Proven Benefits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94935" y="5295900"/>
            <a:ext cx="2181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47323" y="57150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Stress reduction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59015" y="5295900"/>
            <a:ext cx="2181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20%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11403" y="57150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 quality improvement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523095" y="5295900"/>
            <a:ext cx="2181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12%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575482" y="5715000"/>
            <a:ext cx="2076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Productivity boost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B47B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 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Invisible Green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Cutting-edge technologies that reduce environmental impact while saving costs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38300"/>
            <a:ext cx="3705225" cy="3695700"/>
          </a:xfrm>
          <a:custGeom>
            <a:avLst/>
            <a:gdLst/>
            <a:ahLst/>
            <a:cxnLst/>
            <a:rect l="l" t="t" r="r" b="b"/>
            <a:pathLst>
              <a:path w="3705225" h="3695700">
                <a:moveTo>
                  <a:pt x="76205" y="0"/>
                </a:moveTo>
                <a:lnTo>
                  <a:pt x="3629020" y="0"/>
                </a:lnTo>
                <a:cubicBezTo>
                  <a:pt x="3671107" y="0"/>
                  <a:pt x="3705225" y="34118"/>
                  <a:pt x="3705225" y="76205"/>
                </a:cubicBezTo>
                <a:lnTo>
                  <a:pt x="3705225" y="3619495"/>
                </a:lnTo>
                <a:cubicBezTo>
                  <a:pt x="3705225" y="3661582"/>
                  <a:pt x="3671107" y="3695700"/>
                  <a:pt x="3629020" y="3695700"/>
                </a:cubicBezTo>
                <a:lnTo>
                  <a:pt x="76205" y="3695700"/>
                </a:lnTo>
                <a:cubicBezTo>
                  <a:pt x="34118" y="3695700"/>
                  <a:pt x="0" y="3661582"/>
                  <a:pt x="0" y="36194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5319" y="1838204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7" name="Text 5"/>
          <p:cNvSpPr/>
          <p:nvPr/>
        </p:nvSpPr>
        <p:spPr>
          <a:xfrm>
            <a:off x="1042988" y="1828800"/>
            <a:ext cx="1304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LED Lighting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" y="2285879"/>
            <a:ext cx="3324225" cy="1028700"/>
          </a:xfrm>
          <a:custGeom>
            <a:avLst/>
            <a:gdLst/>
            <a:ahLst/>
            <a:cxnLst/>
            <a:rect l="l" t="t" r="r" b="b"/>
            <a:pathLst>
              <a:path w="3324225" h="1028700">
                <a:moveTo>
                  <a:pt x="76196" y="0"/>
                </a:moveTo>
                <a:lnTo>
                  <a:pt x="3248029" y="0"/>
                </a:lnTo>
                <a:cubicBezTo>
                  <a:pt x="3290111" y="0"/>
                  <a:pt x="3324225" y="34114"/>
                  <a:pt x="3324225" y="76196"/>
                </a:cubicBezTo>
                <a:lnTo>
                  <a:pt x="3324225" y="952504"/>
                </a:lnTo>
                <a:cubicBezTo>
                  <a:pt x="3324225" y="994586"/>
                  <a:pt x="3290111" y="1028700"/>
                  <a:pt x="32480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438279"/>
            <a:ext cx="3248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8A25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933579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Reduction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3500317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Lifespan: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 to 25x longer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394799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2-3 years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4395667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£500+ annually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484334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Dimming: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Enhances ambiance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41721" y="1638300"/>
            <a:ext cx="3705225" cy="3695700"/>
          </a:xfrm>
          <a:custGeom>
            <a:avLst/>
            <a:gdLst/>
            <a:ahLst/>
            <a:cxnLst/>
            <a:rect l="l" t="t" r="r" b="b"/>
            <a:pathLst>
              <a:path w="3705225" h="3695700">
                <a:moveTo>
                  <a:pt x="76205" y="0"/>
                </a:moveTo>
                <a:lnTo>
                  <a:pt x="3629020" y="0"/>
                </a:lnTo>
                <a:cubicBezTo>
                  <a:pt x="3671107" y="0"/>
                  <a:pt x="3705225" y="34118"/>
                  <a:pt x="3705225" y="76205"/>
                </a:cubicBezTo>
                <a:lnTo>
                  <a:pt x="3705225" y="3619495"/>
                </a:lnTo>
                <a:cubicBezTo>
                  <a:pt x="3705225" y="3661582"/>
                  <a:pt x="3671107" y="3695700"/>
                  <a:pt x="3629020" y="3695700"/>
                </a:cubicBezTo>
                <a:lnTo>
                  <a:pt x="76205" y="3695700"/>
                </a:lnTo>
                <a:cubicBezTo>
                  <a:pt x="34118" y="3695700"/>
                  <a:pt x="0" y="3661582"/>
                  <a:pt x="0" y="36194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70321" y="183820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60734" y="17859"/>
                </a:moveTo>
                <a:cubicBezTo>
                  <a:pt x="160734" y="27738"/>
                  <a:pt x="168715" y="35719"/>
                  <a:pt x="178594" y="35719"/>
                </a:cubicBezTo>
                <a:lnTo>
                  <a:pt x="200918" y="35719"/>
                </a:lnTo>
                <a:cubicBezTo>
                  <a:pt x="208341" y="35719"/>
                  <a:pt x="214313" y="41690"/>
                  <a:pt x="214313" y="49113"/>
                </a:cubicBezTo>
                <a:cubicBezTo>
                  <a:pt x="214313" y="56536"/>
                  <a:pt x="208341" y="62508"/>
                  <a:pt x="200918" y="62508"/>
                </a:cubicBezTo>
                <a:lnTo>
                  <a:pt x="17859" y="62508"/>
                </a:lnTo>
                <a:cubicBezTo>
                  <a:pt x="7981" y="62508"/>
                  <a:pt x="0" y="70489"/>
                  <a:pt x="0" y="80367"/>
                </a:cubicBezTo>
                <a:cubicBezTo>
                  <a:pt x="0" y="90246"/>
                  <a:pt x="7981" y="98227"/>
                  <a:pt x="17859" y="98227"/>
                </a:cubicBezTo>
                <a:lnTo>
                  <a:pt x="200918" y="98227"/>
                </a:lnTo>
                <a:cubicBezTo>
                  <a:pt x="228042" y="98227"/>
                  <a:pt x="250031" y="76237"/>
                  <a:pt x="250031" y="49113"/>
                </a:cubicBezTo>
                <a:cubicBezTo>
                  <a:pt x="250031" y="21989"/>
                  <a:pt x="228042" y="0"/>
                  <a:pt x="200918" y="0"/>
                </a:cubicBezTo>
                <a:lnTo>
                  <a:pt x="178594" y="0"/>
                </a:lnTo>
                <a:cubicBezTo>
                  <a:pt x="168715" y="0"/>
                  <a:pt x="160734" y="7981"/>
                  <a:pt x="160734" y="17859"/>
                </a:cubicBezTo>
                <a:close/>
                <a:moveTo>
                  <a:pt x="196453" y="214313"/>
                </a:moveTo>
                <a:cubicBezTo>
                  <a:pt x="196453" y="224191"/>
                  <a:pt x="204434" y="232172"/>
                  <a:pt x="214313" y="232172"/>
                </a:cubicBezTo>
                <a:lnTo>
                  <a:pt x="232172" y="232172"/>
                </a:lnTo>
                <a:cubicBezTo>
                  <a:pt x="261751" y="232172"/>
                  <a:pt x="285750" y="208173"/>
                  <a:pt x="285750" y="178594"/>
                </a:cubicBezTo>
                <a:cubicBezTo>
                  <a:pt x="285750" y="149014"/>
                  <a:pt x="261751" y="125016"/>
                  <a:pt x="232172" y="125016"/>
                </a:cubicBez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214313" y="196453"/>
                </a:lnTo>
                <a:cubicBezTo>
                  <a:pt x="204434" y="196453"/>
                  <a:pt x="196453" y="204434"/>
                  <a:pt x="196453" y="214313"/>
                </a:cubicBezTo>
                <a:close/>
                <a:moveTo>
                  <a:pt x="71438" y="285750"/>
                </a:moveTo>
                <a:lnTo>
                  <a:pt x="93762" y="285750"/>
                </a:lnTo>
                <a:cubicBezTo>
                  <a:pt x="120886" y="285750"/>
                  <a:pt x="142875" y="263761"/>
                  <a:pt x="142875" y="236637"/>
                </a:cubicBezTo>
                <a:cubicBezTo>
                  <a:pt x="142875" y="209513"/>
                  <a:pt x="120886" y="187523"/>
                  <a:pt x="93762" y="187523"/>
                </a:cubicBezTo>
                <a:lnTo>
                  <a:pt x="17859" y="187523"/>
                </a:lnTo>
                <a:cubicBezTo>
                  <a:pt x="7981" y="187523"/>
                  <a:pt x="0" y="195504"/>
                  <a:pt x="0" y="205383"/>
                </a:cubicBezTo>
                <a:cubicBezTo>
                  <a:pt x="0" y="215261"/>
                  <a:pt x="7981" y="223242"/>
                  <a:pt x="17859" y="223242"/>
                </a:cubicBezTo>
                <a:lnTo>
                  <a:pt x="93762" y="223242"/>
                </a:lnTo>
                <a:cubicBezTo>
                  <a:pt x="101185" y="223242"/>
                  <a:pt x="107156" y="229214"/>
                  <a:pt x="107156" y="236637"/>
                </a:cubicBezTo>
                <a:cubicBezTo>
                  <a:pt x="107156" y="244060"/>
                  <a:pt x="101185" y="250031"/>
                  <a:pt x="93762" y="250031"/>
                </a:cubicBezTo>
                <a:lnTo>
                  <a:pt x="71438" y="250031"/>
                </a:lnTo>
                <a:cubicBezTo>
                  <a:pt x="61559" y="250031"/>
                  <a:pt x="53578" y="258012"/>
                  <a:pt x="53578" y="267891"/>
                </a:cubicBezTo>
                <a:cubicBezTo>
                  <a:pt x="53578" y="277769"/>
                  <a:pt x="61559" y="285750"/>
                  <a:pt x="71438" y="28575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17" name="Text 15"/>
          <p:cNvSpPr/>
          <p:nvPr/>
        </p:nvSpPr>
        <p:spPr>
          <a:xfrm>
            <a:off x="4903708" y="1828800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Smart HVAC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32221" y="2285879"/>
            <a:ext cx="3324225" cy="1028700"/>
          </a:xfrm>
          <a:custGeom>
            <a:avLst/>
            <a:gdLst/>
            <a:ahLst/>
            <a:cxnLst/>
            <a:rect l="l" t="t" r="r" b="b"/>
            <a:pathLst>
              <a:path w="3324225" h="1028700">
                <a:moveTo>
                  <a:pt x="76196" y="0"/>
                </a:moveTo>
                <a:lnTo>
                  <a:pt x="3248029" y="0"/>
                </a:lnTo>
                <a:cubicBezTo>
                  <a:pt x="3290111" y="0"/>
                  <a:pt x="3324225" y="34114"/>
                  <a:pt x="3324225" y="76196"/>
                </a:cubicBezTo>
                <a:lnTo>
                  <a:pt x="3324225" y="952504"/>
                </a:lnTo>
                <a:cubicBezTo>
                  <a:pt x="3324225" y="994586"/>
                  <a:pt x="3290111" y="1028700"/>
                  <a:pt x="32480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470321" y="2438279"/>
            <a:ext cx="3248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6B7A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10-15%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46521" y="2933579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32221" y="3500317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Scheduling: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Auto-adjusts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32221" y="394799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Zoning: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Cools only in use areas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32221" y="4395667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1°C Reduction: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Significant savings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2221" y="484334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Sensors: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 occupancy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02561" y="1638300"/>
            <a:ext cx="3705225" cy="3695700"/>
          </a:xfrm>
          <a:custGeom>
            <a:avLst/>
            <a:gdLst/>
            <a:ahLst/>
            <a:cxnLst/>
            <a:rect l="l" t="t" r="r" b="b"/>
            <a:pathLst>
              <a:path w="3705225" h="3695700">
                <a:moveTo>
                  <a:pt x="76205" y="0"/>
                </a:moveTo>
                <a:lnTo>
                  <a:pt x="3629020" y="0"/>
                </a:lnTo>
                <a:cubicBezTo>
                  <a:pt x="3671107" y="0"/>
                  <a:pt x="3705225" y="34118"/>
                  <a:pt x="3705225" y="76205"/>
                </a:cubicBezTo>
                <a:lnTo>
                  <a:pt x="3705225" y="3619495"/>
                </a:lnTo>
                <a:cubicBezTo>
                  <a:pt x="3705225" y="3661582"/>
                  <a:pt x="3671107" y="3695700"/>
                  <a:pt x="3629020" y="3695700"/>
                </a:cubicBezTo>
                <a:lnTo>
                  <a:pt x="76205" y="3695700"/>
                </a:lnTo>
                <a:cubicBezTo>
                  <a:pt x="34118" y="3695700"/>
                  <a:pt x="0" y="3661582"/>
                  <a:pt x="0" y="36194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49020" y="183820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37238" y="-14455"/>
                </a:moveTo>
                <a:cubicBezTo>
                  <a:pt x="129760" y="-19031"/>
                  <a:pt x="120328" y="-19031"/>
                  <a:pt x="112849" y="-14455"/>
                </a:cubicBezTo>
                <a:cubicBezTo>
                  <a:pt x="99231" y="-6139"/>
                  <a:pt x="90804" y="-3907"/>
                  <a:pt x="74842" y="-4242"/>
                </a:cubicBezTo>
                <a:cubicBezTo>
                  <a:pt x="66080" y="-4465"/>
                  <a:pt x="57931" y="279"/>
                  <a:pt x="53690" y="7981"/>
                </a:cubicBezTo>
                <a:cubicBezTo>
                  <a:pt x="46044" y="21989"/>
                  <a:pt x="39849" y="28184"/>
                  <a:pt x="25840" y="35830"/>
                </a:cubicBezTo>
                <a:cubicBezTo>
                  <a:pt x="18138" y="40016"/>
                  <a:pt x="13450" y="48220"/>
                  <a:pt x="13618" y="56983"/>
                </a:cubicBezTo>
                <a:cubicBezTo>
                  <a:pt x="14008" y="72944"/>
                  <a:pt x="11720" y="81372"/>
                  <a:pt x="3404" y="94990"/>
                </a:cubicBezTo>
                <a:cubicBezTo>
                  <a:pt x="-1172" y="102468"/>
                  <a:pt x="-1172" y="111900"/>
                  <a:pt x="3404" y="119379"/>
                </a:cubicBezTo>
                <a:cubicBezTo>
                  <a:pt x="11720" y="132997"/>
                  <a:pt x="13953" y="141424"/>
                  <a:pt x="13618" y="157386"/>
                </a:cubicBezTo>
                <a:cubicBezTo>
                  <a:pt x="13395" y="166148"/>
                  <a:pt x="18138" y="174296"/>
                  <a:pt x="25840" y="178538"/>
                </a:cubicBezTo>
                <a:cubicBezTo>
                  <a:pt x="38174" y="185291"/>
                  <a:pt x="44425" y="190872"/>
                  <a:pt x="51011" y="201699"/>
                </a:cubicBezTo>
                <a:lnTo>
                  <a:pt x="23831" y="255891"/>
                </a:lnTo>
                <a:cubicBezTo>
                  <a:pt x="20538" y="262533"/>
                  <a:pt x="23217" y="270570"/>
                  <a:pt x="29803" y="273862"/>
                </a:cubicBezTo>
                <a:lnTo>
                  <a:pt x="77800" y="297861"/>
                </a:lnTo>
                <a:cubicBezTo>
                  <a:pt x="84218" y="301042"/>
                  <a:pt x="92032" y="298642"/>
                  <a:pt x="95492" y="292391"/>
                </a:cubicBezTo>
                <a:lnTo>
                  <a:pt x="124960" y="239316"/>
                </a:lnTo>
                <a:lnTo>
                  <a:pt x="154428" y="292391"/>
                </a:lnTo>
                <a:cubicBezTo>
                  <a:pt x="157888" y="298642"/>
                  <a:pt x="165702" y="301098"/>
                  <a:pt x="172120" y="297861"/>
                </a:cubicBezTo>
                <a:lnTo>
                  <a:pt x="220117" y="273862"/>
                </a:lnTo>
                <a:cubicBezTo>
                  <a:pt x="226758" y="270570"/>
                  <a:pt x="229437" y="262533"/>
                  <a:pt x="226089" y="255891"/>
                </a:cubicBezTo>
                <a:lnTo>
                  <a:pt x="198965" y="201644"/>
                </a:lnTo>
                <a:cubicBezTo>
                  <a:pt x="205494" y="190816"/>
                  <a:pt x="211801" y="185235"/>
                  <a:pt x="224135" y="178482"/>
                </a:cubicBezTo>
                <a:cubicBezTo>
                  <a:pt x="231837" y="174296"/>
                  <a:pt x="236525" y="166092"/>
                  <a:pt x="236358" y="157330"/>
                </a:cubicBezTo>
                <a:cubicBezTo>
                  <a:pt x="235967" y="141368"/>
                  <a:pt x="238255" y="132941"/>
                  <a:pt x="246571" y="119323"/>
                </a:cubicBezTo>
                <a:cubicBezTo>
                  <a:pt x="251147" y="111844"/>
                  <a:pt x="251147" y="102412"/>
                  <a:pt x="246571" y="94934"/>
                </a:cubicBezTo>
                <a:cubicBezTo>
                  <a:pt x="238255" y="81316"/>
                  <a:pt x="236023" y="72889"/>
                  <a:pt x="236358" y="56927"/>
                </a:cubicBezTo>
                <a:cubicBezTo>
                  <a:pt x="236581" y="48165"/>
                  <a:pt x="231837" y="40016"/>
                  <a:pt x="224135" y="35775"/>
                </a:cubicBezTo>
                <a:cubicBezTo>
                  <a:pt x="210127" y="28129"/>
                  <a:pt x="203932" y="21934"/>
                  <a:pt x="196286" y="7925"/>
                </a:cubicBezTo>
                <a:cubicBezTo>
                  <a:pt x="192100" y="223"/>
                  <a:pt x="183896" y="-4465"/>
                  <a:pt x="175133" y="-4297"/>
                </a:cubicBezTo>
                <a:cubicBezTo>
                  <a:pt x="159172" y="-3907"/>
                  <a:pt x="150744" y="-6195"/>
                  <a:pt x="137127" y="-14511"/>
                </a:cubicBezTo>
                <a:close/>
                <a:moveTo>
                  <a:pt x="125016" y="53578"/>
                </a:moveTo>
                <a:cubicBezTo>
                  <a:pt x="154586" y="53578"/>
                  <a:pt x="178594" y="77586"/>
                  <a:pt x="178594" y="107156"/>
                </a:cubicBezTo>
                <a:cubicBezTo>
                  <a:pt x="178594" y="136727"/>
                  <a:pt x="154586" y="160734"/>
                  <a:pt x="125016" y="160734"/>
                </a:cubicBezTo>
                <a:cubicBezTo>
                  <a:pt x="95445" y="160734"/>
                  <a:pt x="71438" y="136727"/>
                  <a:pt x="71438" y="107156"/>
                </a:cubicBezTo>
                <a:cubicBezTo>
                  <a:pt x="71438" y="77586"/>
                  <a:pt x="95445" y="53578"/>
                  <a:pt x="125016" y="53578"/>
                </a:cubicBez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27" name="Text 25"/>
          <p:cNvSpPr/>
          <p:nvPr/>
        </p:nvSpPr>
        <p:spPr>
          <a:xfrm>
            <a:off x="8764548" y="1828800"/>
            <a:ext cx="1190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Energy Star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93061" y="2285879"/>
            <a:ext cx="3324225" cy="1028700"/>
          </a:xfrm>
          <a:custGeom>
            <a:avLst/>
            <a:gdLst/>
            <a:ahLst/>
            <a:cxnLst/>
            <a:rect l="l" t="t" r="r" b="b"/>
            <a:pathLst>
              <a:path w="3324225" h="1028700">
                <a:moveTo>
                  <a:pt x="76196" y="0"/>
                </a:moveTo>
                <a:lnTo>
                  <a:pt x="3248029" y="0"/>
                </a:lnTo>
                <a:cubicBezTo>
                  <a:pt x="3290111" y="0"/>
                  <a:pt x="3324225" y="34114"/>
                  <a:pt x="3324225" y="76196"/>
                </a:cubicBezTo>
                <a:lnTo>
                  <a:pt x="3324225" y="952504"/>
                </a:lnTo>
                <a:cubicBezTo>
                  <a:pt x="3324225" y="994586"/>
                  <a:pt x="3290111" y="1028700"/>
                  <a:pt x="32480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331161" y="2438279"/>
            <a:ext cx="3248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B47B6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£1,500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07361" y="2933579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Savings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93061" y="3500317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Refrigeration: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Cuts use 30%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93061" y="394799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Dishwashers: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 water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93061" y="4395667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Ovens: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Faster preheating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93061" y="4843342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Grills: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Precise temperature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5486400"/>
            <a:ext cx="11430000" cy="990600"/>
          </a:xfrm>
          <a:custGeom>
            <a:avLst/>
            <a:gdLst/>
            <a:ahLst/>
            <a:cxnLst/>
            <a:rect l="l" t="t" r="r" b="b"/>
            <a:pathLst>
              <a:path w="11430000" h="9906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914403"/>
                </a:lnTo>
                <a:cubicBezTo>
                  <a:pt x="11430000" y="956485"/>
                  <a:pt x="11395885" y="990600"/>
                  <a:pt x="113538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6B7A5A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33400" y="5715000"/>
            <a:ext cx="2647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Combined Annual Savings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3400" y="6019800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energy efficiency upgrade package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80652" y="56388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6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£5,000+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133052" y="60960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2-4 year payback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ecofriend.com/2e4f6eb4bbbe007a6065fba1478fa6905a17e9c6.jpg"/>
          <p:cNvPicPr>
            <a:picLocks noChangeAspect="1"/>
          </p:cNvPicPr>
          <p:nvPr/>
        </p:nvPicPr>
        <p:blipFill>
          <a:blip r:embed="rId3"/>
          <a:srcRect t="14815" b="1481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8A25F">
                  <a:alpha val="90000"/>
                </a:srgbClr>
              </a:gs>
              <a:gs pos="50000">
                <a:srgbClr val="D8A25F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287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5" name="Text 2"/>
          <p:cNvSpPr/>
          <p:nvPr/>
        </p:nvSpPr>
        <p:spPr>
          <a:xfrm>
            <a:off x="295275" y="1228725"/>
            <a:ext cx="933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95400" y="1457325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kern="0" spc="180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2412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Technology for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Green Operations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5434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88632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6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Leveraging digital solutions for sustainable and efficient seat management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6611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kern="0" spc="95" dirty="0">
                <a:solidFill>
                  <a:srgbClr val="B47B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Innovation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583021"/>
            <a:ext cx="11711865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1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Smart Seating: Digital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2954" y="1097451"/>
            <a:ext cx="1159183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reservation systems that optimize both efficiency and sustainability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2954" y="1508996"/>
            <a:ext cx="5650160" cy="2623595"/>
          </a:xfrm>
          <a:custGeom>
            <a:avLst/>
            <a:gdLst/>
            <a:ahLst/>
            <a:cxnLst/>
            <a:rect l="l" t="t" r="r" b="b"/>
            <a:pathLst>
              <a:path w="5650160" h="2623595">
                <a:moveTo>
                  <a:pt x="68581" y="0"/>
                </a:moveTo>
                <a:lnTo>
                  <a:pt x="5581580" y="0"/>
                </a:lnTo>
                <a:cubicBezTo>
                  <a:pt x="5619430" y="0"/>
                  <a:pt x="5650160" y="30730"/>
                  <a:pt x="5650160" y="68581"/>
                </a:cubicBezTo>
                <a:lnTo>
                  <a:pt x="5650160" y="2555014"/>
                </a:lnTo>
                <a:cubicBezTo>
                  <a:pt x="5650160" y="2592890"/>
                  <a:pt x="5619456" y="2623595"/>
                  <a:pt x="5581580" y="2623595"/>
                </a:cubicBezTo>
                <a:lnTo>
                  <a:pt x="68581" y="2623595"/>
                </a:lnTo>
                <a:cubicBezTo>
                  <a:pt x="30730" y="2623595"/>
                  <a:pt x="0" y="2592865"/>
                  <a:pt x="0" y="2555014"/>
                </a:cubicBezTo>
                <a:lnTo>
                  <a:pt x="0" y="68581"/>
                </a:lnTo>
                <a:cubicBezTo>
                  <a:pt x="0" y="30730"/>
                  <a:pt x="30730" y="0"/>
                  <a:pt x="68581" y="0"/>
                </a:cubicBezTo>
                <a:close/>
              </a:path>
            </a:pathLst>
          </a:custGeom>
          <a:solidFill>
            <a:srgbClr val="D8A25F"/>
          </a:solidFill>
          <a:ln/>
          <a:effectLst>
            <a:outerShdw blurRad="25722" dist="85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62690" y="1714768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96456" y="45013"/>
                </a:moveTo>
                <a:cubicBezTo>
                  <a:pt x="96456" y="20175"/>
                  <a:pt x="116631" y="0"/>
                  <a:pt x="141468" y="0"/>
                </a:cubicBezTo>
                <a:lnTo>
                  <a:pt x="160759" y="0"/>
                </a:lnTo>
                <a:cubicBezTo>
                  <a:pt x="174987" y="0"/>
                  <a:pt x="186481" y="11494"/>
                  <a:pt x="186481" y="25722"/>
                </a:cubicBezTo>
                <a:lnTo>
                  <a:pt x="186481" y="385823"/>
                </a:lnTo>
                <a:cubicBezTo>
                  <a:pt x="186481" y="400050"/>
                  <a:pt x="174987" y="411544"/>
                  <a:pt x="160759" y="411544"/>
                </a:cubicBezTo>
                <a:lnTo>
                  <a:pt x="135038" y="411544"/>
                </a:lnTo>
                <a:cubicBezTo>
                  <a:pt x="111085" y="411544"/>
                  <a:pt x="90909" y="395147"/>
                  <a:pt x="85203" y="372962"/>
                </a:cubicBezTo>
                <a:cubicBezTo>
                  <a:pt x="84640" y="372962"/>
                  <a:pt x="84158" y="372962"/>
                  <a:pt x="83595" y="372962"/>
                </a:cubicBezTo>
                <a:cubicBezTo>
                  <a:pt x="48067" y="372962"/>
                  <a:pt x="19291" y="344186"/>
                  <a:pt x="19291" y="308658"/>
                </a:cubicBezTo>
                <a:cubicBezTo>
                  <a:pt x="19291" y="294190"/>
                  <a:pt x="24114" y="280847"/>
                  <a:pt x="32152" y="270076"/>
                </a:cubicBezTo>
                <a:cubicBezTo>
                  <a:pt x="16558" y="258341"/>
                  <a:pt x="6430" y="239692"/>
                  <a:pt x="6430" y="218633"/>
                </a:cubicBezTo>
                <a:cubicBezTo>
                  <a:pt x="6430" y="193796"/>
                  <a:pt x="20577" y="172173"/>
                  <a:pt x="41154" y="161483"/>
                </a:cubicBezTo>
                <a:cubicBezTo>
                  <a:pt x="35447" y="151837"/>
                  <a:pt x="32152" y="140584"/>
                  <a:pt x="32152" y="128608"/>
                </a:cubicBezTo>
                <a:cubicBezTo>
                  <a:pt x="32152" y="93080"/>
                  <a:pt x="60928" y="64304"/>
                  <a:pt x="96456" y="64304"/>
                </a:cubicBezTo>
                <a:lnTo>
                  <a:pt x="96456" y="45013"/>
                </a:lnTo>
                <a:close/>
                <a:moveTo>
                  <a:pt x="315089" y="45013"/>
                </a:moveTo>
                <a:lnTo>
                  <a:pt x="315089" y="64304"/>
                </a:lnTo>
                <a:cubicBezTo>
                  <a:pt x="350616" y="64304"/>
                  <a:pt x="379392" y="93080"/>
                  <a:pt x="379392" y="128608"/>
                </a:cubicBezTo>
                <a:cubicBezTo>
                  <a:pt x="379392" y="140665"/>
                  <a:pt x="376097" y="151918"/>
                  <a:pt x="370390" y="161483"/>
                </a:cubicBezTo>
                <a:cubicBezTo>
                  <a:pt x="391047" y="172173"/>
                  <a:pt x="405114" y="193715"/>
                  <a:pt x="405114" y="218633"/>
                </a:cubicBezTo>
                <a:cubicBezTo>
                  <a:pt x="405114" y="239692"/>
                  <a:pt x="394986" y="258341"/>
                  <a:pt x="379392" y="270076"/>
                </a:cubicBezTo>
                <a:cubicBezTo>
                  <a:pt x="387430" y="280847"/>
                  <a:pt x="392253" y="294190"/>
                  <a:pt x="392253" y="308658"/>
                </a:cubicBezTo>
                <a:cubicBezTo>
                  <a:pt x="392253" y="344186"/>
                  <a:pt x="363477" y="372962"/>
                  <a:pt x="327949" y="372962"/>
                </a:cubicBezTo>
                <a:cubicBezTo>
                  <a:pt x="327387" y="372962"/>
                  <a:pt x="326904" y="372962"/>
                  <a:pt x="326342" y="372962"/>
                </a:cubicBezTo>
                <a:cubicBezTo>
                  <a:pt x="320635" y="395147"/>
                  <a:pt x="300459" y="411544"/>
                  <a:pt x="276506" y="411544"/>
                </a:cubicBezTo>
                <a:lnTo>
                  <a:pt x="250785" y="411544"/>
                </a:lnTo>
                <a:cubicBezTo>
                  <a:pt x="236558" y="411544"/>
                  <a:pt x="225063" y="400050"/>
                  <a:pt x="225063" y="385823"/>
                </a:cubicBezTo>
                <a:lnTo>
                  <a:pt x="225063" y="25722"/>
                </a:lnTo>
                <a:cubicBezTo>
                  <a:pt x="225063" y="11494"/>
                  <a:pt x="236558" y="0"/>
                  <a:pt x="250785" y="0"/>
                </a:cubicBezTo>
                <a:lnTo>
                  <a:pt x="270076" y="0"/>
                </a:lnTo>
                <a:cubicBezTo>
                  <a:pt x="294913" y="0"/>
                  <a:pt x="315089" y="20175"/>
                  <a:pt x="315089" y="45013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7" name="Text 5"/>
          <p:cNvSpPr/>
          <p:nvPr/>
        </p:nvSpPr>
        <p:spPr>
          <a:xfrm>
            <a:off x="497283" y="2229198"/>
            <a:ext cx="5341502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0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Automated Intelligence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726" y="2640634"/>
            <a:ext cx="5238616" cy="925975"/>
          </a:xfrm>
          <a:custGeom>
            <a:avLst/>
            <a:gdLst/>
            <a:ahLst/>
            <a:cxnLst/>
            <a:rect l="l" t="t" r="r" b="b"/>
            <a:pathLst>
              <a:path w="5238616" h="925975">
                <a:moveTo>
                  <a:pt x="68587" y="0"/>
                </a:moveTo>
                <a:lnTo>
                  <a:pt x="5170029" y="0"/>
                </a:lnTo>
                <a:cubicBezTo>
                  <a:pt x="5207883" y="0"/>
                  <a:pt x="5238616" y="30733"/>
                  <a:pt x="5238616" y="68587"/>
                </a:cubicBezTo>
                <a:lnTo>
                  <a:pt x="5238616" y="857388"/>
                </a:lnTo>
                <a:cubicBezTo>
                  <a:pt x="5238616" y="895242"/>
                  <a:pt x="5207883" y="925975"/>
                  <a:pt x="5170029" y="925975"/>
                </a:cubicBezTo>
                <a:lnTo>
                  <a:pt x="68587" y="925975"/>
                </a:lnTo>
                <a:cubicBezTo>
                  <a:pt x="30733" y="925975"/>
                  <a:pt x="0" y="895242"/>
                  <a:pt x="0" y="857388"/>
                </a:cubicBezTo>
                <a:lnTo>
                  <a:pt x="0" y="68587"/>
                </a:lnTo>
                <a:cubicBezTo>
                  <a:pt x="0" y="30707"/>
                  <a:pt x="30707" y="0"/>
                  <a:pt x="68587" y="0"/>
                </a:cubicBezTo>
                <a:close/>
              </a:path>
            </a:pathLst>
          </a:custGeom>
          <a:solidFill>
            <a:srgbClr val="F8F6F2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83021" y="2777815"/>
            <a:ext cx="5170025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241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10,000+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1612" y="3223655"/>
            <a:ext cx="5032844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Combinations analyzed per second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726" y="3703790"/>
            <a:ext cx="5307207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reviews seating arrangements to prevent server burnout and reduce wait times.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54" y="4303959"/>
            <a:ext cx="5650160" cy="1543291"/>
          </a:xfrm>
          <a:custGeom>
            <a:avLst/>
            <a:gdLst/>
            <a:ahLst/>
            <a:cxnLst/>
            <a:rect l="l" t="t" r="r" b="b"/>
            <a:pathLst>
              <a:path w="5650160" h="1543291">
                <a:moveTo>
                  <a:pt x="68584" y="0"/>
                </a:moveTo>
                <a:lnTo>
                  <a:pt x="5581576" y="0"/>
                </a:lnTo>
                <a:cubicBezTo>
                  <a:pt x="5619454" y="0"/>
                  <a:pt x="5650160" y="30706"/>
                  <a:pt x="5650160" y="68584"/>
                </a:cubicBezTo>
                <a:lnTo>
                  <a:pt x="5650160" y="1474707"/>
                </a:lnTo>
                <a:cubicBezTo>
                  <a:pt x="5650160" y="1512585"/>
                  <a:pt x="5619454" y="1543291"/>
                  <a:pt x="5581576" y="1543291"/>
                </a:cubicBezTo>
                <a:lnTo>
                  <a:pt x="68584" y="1543291"/>
                </a:lnTo>
                <a:cubicBezTo>
                  <a:pt x="30731" y="1543291"/>
                  <a:pt x="0" y="1512560"/>
                  <a:pt x="0" y="1474707"/>
                </a:cubicBezTo>
                <a:lnTo>
                  <a:pt x="0" y="68584"/>
                </a:lnTo>
                <a:cubicBezTo>
                  <a:pt x="0" y="30706"/>
                  <a:pt x="30706" y="0"/>
                  <a:pt x="685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722" dist="85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4430" y="4475435"/>
            <a:ext cx="5392945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Real-Time Capabilities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7291" y="4921275"/>
            <a:ext cx="102886" cy="102886"/>
          </a:xfrm>
          <a:custGeom>
            <a:avLst/>
            <a:gdLst/>
            <a:ahLst/>
            <a:cxnLst/>
            <a:rect l="l" t="t" r="r" b="b"/>
            <a:pathLst>
              <a:path w="102886" h="102886">
                <a:moveTo>
                  <a:pt x="0" y="51443"/>
                </a:moveTo>
                <a:cubicBezTo>
                  <a:pt x="0" y="23051"/>
                  <a:pt x="23051" y="0"/>
                  <a:pt x="51443" y="0"/>
                </a:cubicBezTo>
                <a:cubicBezTo>
                  <a:pt x="79835" y="0"/>
                  <a:pt x="102886" y="23051"/>
                  <a:pt x="102886" y="51443"/>
                </a:cubicBezTo>
                <a:cubicBezTo>
                  <a:pt x="102886" y="79835"/>
                  <a:pt x="79835" y="102886"/>
                  <a:pt x="51443" y="102886"/>
                </a:cubicBezTo>
                <a:cubicBezTo>
                  <a:pt x="23051" y="102886"/>
                  <a:pt x="0" y="79835"/>
                  <a:pt x="0" y="51443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15" name="Text 13"/>
          <p:cNvSpPr/>
          <p:nvPr/>
        </p:nvSpPr>
        <p:spPr>
          <a:xfrm>
            <a:off x="745924" y="4852684"/>
            <a:ext cx="324091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Table Status:</a:t>
            </a:r>
            <a:r>
              <a:rPr lang="en-US" sz="108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Instant updates when guests depart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7291" y="5229933"/>
            <a:ext cx="102886" cy="102886"/>
          </a:xfrm>
          <a:custGeom>
            <a:avLst/>
            <a:gdLst/>
            <a:ahLst/>
            <a:cxnLst/>
            <a:rect l="l" t="t" r="r" b="b"/>
            <a:pathLst>
              <a:path w="102886" h="102886">
                <a:moveTo>
                  <a:pt x="0" y="51443"/>
                </a:moveTo>
                <a:cubicBezTo>
                  <a:pt x="0" y="23051"/>
                  <a:pt x="23051" y="0"/>
                  <a:pt x="51443" y="0"/>
                </a:cubicBezTo>
                <a:cubicBezTo>
                  <a:pt x="79835" y="0"/>
                  <a:pt x="102886" y="23051"/>
                  <a:pt x="102886" y="51443"/>
                </a:cubicBezTo>
                <a:cubicBezTo>
                  <a:pt x="102886" y="79835"/>
                  <a:pt x="79835" y="102886"/>
                  <a:pt x="51443" y="102886"/>
                </a:cubicBezTo>
                <a:cubicBezTo>
                  <a:pt x="23051" y="102886"/>
                  <a:pt x="0" y="79835"/>
                  <a:pt x="0" y="51443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17" name="Text 15"/>
          <p:cNvSpPr/>
          <p:nvPr/>
        </p:nvSpPr>
        <p:spPr>
          <a:xfrm>
            <a:off x="745924" y="5161343"/>
            <a:ext cx="3095156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Predictive Wait Times:</a:t>
            </a:r>
            <a:r>
              <a:rPr lang="en-US" sz="108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provides accurate quotes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7291" y="5538592"/>
            <a:ext cx="102886" cy="102886"/>
          </a:xfrm>
          <a:custGeom>
            <a:avLst/>
            <a:gdLst/>
            <a:ahLst/>
            <a:cxnLst/>
            <a:rect l="l" t="t" r="r" b="b"/>
            <a:pathLst>
              <a:path w="102886" h="102886">
                <a:moveTo>
                  <a:pt x="0" y="51443"/>
                </a:moveTo>
                <a:cubicBezTo>
                  <a:pt x="0" y="23051"/>
                  <a:pt x="23051" y="0"/>
                  <a:pt x="51443" y="0"/>
                </a:cubicBezTo>
                <a:cubicBezTo>
                  <a:pt x="79835" y="0"/>
                  <a:pt x="102886" y="23051"/>
                  <a:pt x="102886" y="51443"/>
                </a:cubicBezTo>
                <a:cubicBezTo>
                  <a:pt x="102886" y="79835"/>
                  <a:pt x="79835" y="102886"/>
                  <a:pt x="51443" y="102886"/>
                </a:cubicBezTo>
                <a:cubicBezTo>
                  <a:pt x="23051" y="102886"/>
                  <a:pt x="0" y="79835"/>
                  <a:pt x="0" y="51443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19" name="Text 17"/>
          <p:cNvSpPr/>
          <p:nvPr/>
        </p:nvSpPr>
        <p:spPr>
          <a:xfrm>
            <a:off x="745924" y="5470001"/>
            <a:ext cx="2709333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Notifications:</a:t>
            </a:r>
            <a:r>
              <a:rPr lang="en-US" sz="108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SMS updates for guests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9744" y="1508996"/>
            <a:ext cx="5650160" cy="3086582"/>
          </a:xfrm>
          <a:custGeom>
            <a:avLst/>
            <a:gdLst/>
            <a:ahLst/>
            <a:cxnLst/>
            <a:rect l="l" t="t" r="r" b="b"/>
            <a:pathLst>
              <a:path w="5650160" h="3086582">
                <a:moveTo>
                  <a:pt x="68584" y="0"/>
                </a:moveTo>
                <a:lnTo>
                  <a:pt x="5581576" y="0"/>
                </a:lnTo>
                <a:cubicBezTo>
                  <a:pt x="5619454" y="0"/>
                  <a:pt x="5650160" y="30706"/>
                  <a:pt x="5650160" y="68584"/>
                </a:cubicBezTo>
                <a:lnTo>
                  <a:pt x="5650160" y="3017998"/>
                </a:lnTo>
                <a:cubicBezTo>
                  <a:pt x="5650160" y="3055876"/>
                  <a:pt x="5619454" y="3086582"/>
                  <a:pt x="5581576" y="3086582"/>
                </a:cubicBezTo>
                <a:lnTo>
                  <a:pt x="68584" y="3086582"/>
                </a:lnTo>
                <a:cubicBezTo>
                  <a:pt x="30731" y="3086582"/>
                  <a:pt x="0" y="3055851"/>
                  <a:pt x="0" y="3017998"/>
                </a:cubicBezTo>
                <a:lnTo>
                  <a:pt x="0" y="68584"/>
                </a:lnTo>
                <a:cubicBezTo>
                  <a:pt x="0" y="30706"/>
                  <a:pt x="30706" y="0"/>
                  <a:pt x="6858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5722" dist="85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7668" y="1688938"/>
            <a:ext cx="192911" cy="257215"/>
          </a:xfrm>
          <a:custGeom>
            <a:avLst/>
            <a:gdLst/>
            <a:ahLst/>
            <a:cxnLst/>
            <a:rect l="l" t="t" r="r" b="b"/>
            <a:pathLst>
              <a:path w="192911" h="257215">
                <a:moveTo>
                  <a:pt x="8038" y="32152"/>
                </a:moveTo>
                <a:cubicBezTo>
                  <a:pt x="8038" y="14418"/>
                  <a:pt x="22456" y="0"/>
                  <a:pt x="40190" y="0"/>
                </a:cubicBezTo>
                <a:lnTo>
                  <a:pt x="152722" y="0"/>
                </a:lnTo>
                <a:cubicBezTo>
                  <a:pt x="170455" y="0"/>
                  <a:pt x="184873" y="14418"/>
                  <a:pt x="184873" y="32152"/>
                </a:cubicBezTo>
                <a:lnTo>
                  <a:pt x="184873" y="225063"/>
                </a:lnTo>
                <a:cubicBezTo>
                  <a:pt x="184873" y="242797"/>
                  <a:pt x="170455" y="257215"/>
                  <a:pt x="152722" y="257215"/>
                </a:cubicBezTo>
                <a:lnTo>
                  <a:pt x="40190" y="257215"/>
                </a:lnTo>
                <a:cubicBezTo>
                  <a:pt x="22456" y="257215"/>
                  <a:pt x="8038" y="242797"/>
                  <a:pt x="8038" y="225063"/>
                </a:cubicBezTo>
                <a:lnTo>
                  <a:pt x="8038" y="32152"/>
                </a:lnTo>
                <a:close/>
                <a:moveTo>
                  <a:pt x="40190" y="32152"/>
                </a:moveTo>
                <a:lnTo>
                  <a:pt x="40190" y="184873"/>
                </a:lnTo>
                <a:lnTo>
                  <a:pt x="152722" y="184873"/>
                </a:lnTo>
                <a:lnTo>
                  <a:pt x="152722" y="32152"/>
                </a:lnTo>
                <a:lnTo>
                  <a:pt x="40190" y="32152"/>
                </a:lnTo>
                <a:close/>
                <a:moveTo>
                  <a:pt x="96456" y="237120"/>
                </a:moveTo>
                <a:cubicBezTo>
                  <a:pt x="105348" y="237120"/>
                  <a:pt x="112532" y="229936"/>
                  <a:pt x="112532" y="221044"/>
                </a:cubicBezTo>
                <a:cubicBezTo>
                  <a:pt x="112532" y="212152"/>
                  <a:pt x="105348" y="204968"/>
                  <a:pt x="96456" y="204968"/>
                </a:cubicBezTo>
                <a:cubicBezTo>
                  <a:pt x="87564" y="204968"/>
                  <a:pt x="80380" y="212152"/>
                  <a:pt x="80380" y="221044"/>
                </a:cubicBezTo>
                <a:cubicBezTo>
                  <a:pt x="80380" y="229936"/>
                  <a:pt x="87564" y="237120"/>
                  <a:pt x="96456" y="237120"/>
                </a:cubicBez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22" name="Text 20"/>
          <p:cNvSpPr/>
          <p:nvPr/>
        </p:nvSpPr>
        <p:spPr>
          <a:xfrm>
            <a:off x="6795626" y="1680473"/>
            <a:ext cx="1954835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Guest Communication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71221" y="2057613"/>
            <a:ext cx="5307207" cy="720203"/>
          </a:xfrm>
          <a:custGeom>
            <a:avLst/>
            <a:gdLst/>
            <a:ahLst/>
            <a:cxnLst/>
            <a:rect l="l" t="t" r="r" b="b"/>
            <a:pathLst>
              <a:path w="5307207" h="720203">
                <a:moveTo>
                  <a:pt x="68592" y="0"/>
                </a:moveTo>
                <a:lnTo>
                  <a:pt x="5238615" y="0"/>
                </a:lnTo>
                <a:cubicBezTo>
                  <a:pt x="5276497" y="0"/>
                  <a:pt x="5307207" y="30710"/>
                  <a:pt x="5307207" y="68592"/>
                </a:cubicBezTo>
                <a:lnTo>
                  <a:pt x="5307207" y="651610"/>
                </a:lnTo>
                <a:cubicBezTo>
                  <a:pt x="5307207" y="689493"/>
                  <a:pt x="5276497" y="720203"/>
                  <a:pt x="5238615" y="720203"/>
                </a:cubicBezTo>
                <a:lnTo>
                  <a:pt x="68592" y="720203"/>
                </a:lnTo>
                <a:cubicBezTo>
                  <a:pt x="30710" y="720203"/>
                  <a:pt x="0" y="689493"/>
                  <a:pt x="0" y="651610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508402" y="2194794"/>
            <a:ext cx="51014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Confirmations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8402" y="2434862"/>
            <a:ext cx="51014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no-shows, provides details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71221" y="2880701"/>
            <a:ext cx="5307207" cy="720203"/>
          </a:xfrm>
          <a:custGeom>
            <a:avLst/>
            <a:gdLst/>
            <a:ahLst/>
            <a:cxnLst/>
            <a:rect l="l" t="t" r="r" b="b"/>
            <a:pathLst>
              <a:path w="5307207" h="720203">
                <a:moveTo>
                  <a:pt x="68592" y="0"/>
                </a:moveTo>
                <a:lnTo>
                  <a:pt x="5238615" y="0"/>
                </a:lnTo>
                <a:cubicBezTo>
                  <a:pt x="5276497" y="0"/>
                  <a:pt x="5307207" y="30710"/>
                  <a:pt x="5307207" y="68592"/>
                </a:cubicBezTo>
                <a:lnTo>
                  <a:pt x="5307207" y="651610"/>
                </a:lnTo>
                <a:cubicBezTo>
                  <a:pt x="5307207" y="689493"/>
                  <a:pt x="5276497" y="720203"/>
                  <a:pt x="5238615" y="720203"/>
                </a:cubicBezTo>
                <a:lnTo>
                  <a:pt x="68592" y="720203"/>
                </a:lnTo>
                <a:cubicBezTo>
                  <a:pt x="30710" y="720203"/>
                  <a:pt x="0" y="689493"/>
                  <a:pt x="0" y="651610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508402" y="3017883"/>
            <a:ext cx="51014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Updates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8402" y="3257950"/>
            <a:ext cx="51014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ready alerts, wait time updates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71221" y="3703790"/>
            <a:ext cx="5307207" cy="720203"/>
          </a:xfrm>
          <a:custGeom>
            <a:avLst/>
            <a:gdLst/>
            <a:ahLst/>
            <a:cxnLst/>
            <a:rect l="l" t="t" r="r" b="b"/>
            <a:pathLst>
              <a:path w="5307207" h="720203">
                <a:moveTo>
                  <a:pt x="68592" y="0"/>
                </a:moveTo>
                <a:lnTo>
                  <a:pt x="5238615" y="0"/>
                </a:lnTo>
                <a:cubicBezTo>
                  <a:pt x="5276497" y="0"/>
                  <a:pt x="5307207" y="30710"/>
                  <a:pt x="5307207" y="68592"/>
                </a:cubicBezTo>
                <a:lnTo>
                  <a:pt x="5307207" y="651610"/>
                </a:lnTo>
                <a:cubicBezTo>
                  <a:pt x="5307207" y="689493"/>
                  <a:pt x="5276497" y="720203"/>
                  <a:pt x="5238615" y="720203"/>
                </a:cubicBezTo>
                <a:lnTo>
                  <a:pt x="68592" y="720203"/>
                </a:lnTo>
                <a:cubicBezTo>
                  <a:pt x="30710" y="720203"/>
                  <a:pt x="0" y="689493"/>
                  <a:pt x="0" y="651610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508402" y="3840971"/>
            <a:ext cx="51014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Collection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08402" y="4081039"/>
            <a:ext cx="5101435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Post-visit surveys for insights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9744" y="4766946"/>
            <a:ext cx="5650160" cy="1869097"/>
          </a:xfrm>
          <a:custGeom>
            <a:avLst/>
            <a:gdLst/>
            <a:ahLst/>
            <a:cxnLst/>
            <a:rect l="l" t="t" r="r" b="b"/>
            <a:pathLst>
              <a:path w="5650160" h="1869097">
                <a:moveTo>
                  <a:pt x="68596" y="0"/>
                </a:moveTo>
                <a:lnTo>
                  <a:pt x="5581564" y="0"/>
                </a:lnTo>
                <a:cubicBezTo>
                  <a:pt x="5619449" y="0"/>
                  <a:pt x="5650160" y="30711"/>
                  <a:pt x="5650160" y="68596"/>
                </a:cubicBezTo>
                <a:lnTo>
                  <a:pt x="5650160" y="1800501"/>
                </a:lnTo>
                <a:cubicBezTo>
                  <a:pt x="5650160" y="1838386"/>
                  <a:pt x="5619449" y="1869097"/>
                  <a:pt x="5581564" y="1869097"/>
                </a:cubicBezTo>
                <a:lnTo>
                  <a:pt x="68596" y="1869097"/>
                </a:lnTo>
                <a:cubicBezTo>
                  <a:pt x="30711" y="1869097"/>
                  <a:pt x="0" y="1838386"/>
                  <a:pt x="0" y="1800501"/>
                </a:cubicBezTo>
                <a:lnTo>
                  <a:pt x="0" y="68596"/>
                </a:lnTo>
                <a:cubicBezTo>
                  <a:pt x="0" y="30737"/>
                  <a:pt x="30737" y="0"/>
                  <a:pt x="68596" y="0"/>
                </a:cubicBezTo>
                <a:close/>
              </a:path>
            </a:pathLst>
          </a:custGeom>
          <a:solidFill>
            <a:srgbClr val="6B7A5A"/>
          </a:solidFill>
          <a:ln/>
          <a:effectLst>
            <a:outerShdw blurRad="25722" dist="85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5516" y="4972718"/>
            <a:ext cx="5324354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Technology Investment Trend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76908" y="5315672"/>
            <a:ext cx="5495831" cy="51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051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73%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66934" y="5864397"/>
            <a:ext cx="531578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5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operators increased tech investment in 2024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5516" y="6207351"/>
            <a:ext cx="5307207" cy="22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efficiency, sustainability, and experience through digital transformation.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B47B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&amp;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Data-Driven Sustainability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information into actionable strategies for efficiency and waste reduction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76400"/>
            <a:ext cx="5600700" cy="1905000"/>
          </a:xfrm>
          <a:custGeom>
            <a:avLst/>
            <a:gdLst/>
            <a:ahLst/>
            <a:cxnLst/>
            <a:rect l="l" t="t" r="r" b="b"/>
            <a:pathLst>
              <a:path w="5600700" h="19050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828800"/>
                </a:lnTo>
                <a:cubicBezTo>
                  <a:pt x="5600700" y="1870856"/>
                  <a:pt x="5566556" y="1905000"/>
                  <a:pt x="55245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0075" y="1885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7" name="Text 5"/>
          <p:cNvSpPr/>
          <p:nvPr/>
        </p:nvSpPr>
        <p:spPr>
          <a:xfrm>
            <a:off x="971550" y="186690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POS Integration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22479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POS systems track sales, inventory, and customer behavior, providing insights for smarter decisions.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8884" y="2895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10" name="Text 8"/>
          <p:cNvSpPr/>
          <p:nvPr/>
        </p:nvSpPr>
        <p:spPr>
          <a:xfrm>
            <a:off x="814388" y="2857500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Demand Forecasting: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 customer traffic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8884" y="3200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12" name="Text 10"/>
          <p:cNvSpPr/>
          <p:nvPr/>
        </p:nvSpPr>
        <p:spPr>
          <a:xfrm>
            <a:off x="814388" y="316230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Reporting: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Adjust staffing and inventory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1000" y="3733800"/>
            <a:ext cx="5600700" cy="1828800"/>
          </a:xfrm>
          <a:custGeom>
            <a:avLst/>
            <a:gdLst/>
            <a:ahLst/>
            <a:cxnLst/>
            <a:rect l="l" t="t" r="r" b="b"/>
            <a:pathLst>
              <a:path w="5600700" h="18288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752594"/>
                </a:lnTo>
                <a:cubicBezTo>
                  <a:pt x="5600700" y="1794681"/>
                  <a:pt x="5566581" y="1828800"/>
                  <a:pt x="55244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" y="39433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15" name="Text 13"/>
          <p:cNvSpPr/>
          <p:nvPr/>
        </p:nvSpPr>
        <p:spPr>
          <a:xfrm>
            <a:off x="971550" y="3924300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Customer Insights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43053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CRM systems track preferences and visit frequency, enabling personalized marketing and service.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4914900"/>
            <a:ext cx="5219700" cy="457200"/>
          </a:xfrm>
          <a:custGeom>
            <a:avLst/>
            <a:gdLst/>
            <a:ahLst/>
            <a:cxnLst/>
            <a:rect l="l" t="t" r="r" b="b"/>
            <a:pathLst>
              <a:path w="5219700" h="4572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380998"/>
                </a:lnTo>
                <a:cubicBezTo>
                  <a:pt x="5219700" y="423083"/>
                  <a:pt x="5185583" y="457200"/>
                  <a:pt x="51434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0292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Targeted campaigns encourage repeat visits and higher spending.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0300" y="1676400"/>
            <a:ext cx="5600700" cy="2933700"/>
          </a:xfrm>
          <a:custGeom>
            <a:avLst/>
            <a:gdLst/>
            <a:ahLst/>
            <a:cxnLst/>
            <a:rect l="l" t="t" r="r" b="b"/>
            <a:pathLst>
              <a:path w="5600700" h="2933700">
                <a:moveTo>
                  <a:pt x="76188" y="0"/>
                </a:moveTo>
                <a:lnTo>
                  <a:pt x="5524512" y="0"/>
                </a:lnTo>
                <a:cubicBezTo>
                  <a:pt x="5566589" y="0"/>
                  <a:pt x="5600700" y="34111"/>
                  <a:pt x="5600700" y="76188"/>
                </a:cubicBezTo>
                <a:lnTo>
                  <a:pt x="5600700" y="2857512"/>
                </a:lnTo>
                <a:cubicBezTo>
                  <a:pt x="5600700" y="2899589"/>
                  <a:pt x="5566589" y="2933700"/>
                  <a:pt x="5524512" y="2933700"/>
                </a:cubicBezTo>
                <a:lnTo>
                  <a:pt x="76188" y="2933700"/>
                </a:lnTo>
                <a:cubicBezTo>
                  <a:pt x="34111" y="2933700"/>
                  <a:pt x="0" y="2899589"/>
                  <a:pt x="0" y="2857512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1866900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Waste Reduction Impact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0" y="2247900"/>
            <a:ext cx="2533650" cy="1257300"/>
          </a:xfrm>
          <a:custGeom>
            <a:avLst/>
            <a:gdLst/>
            <a:ahLst/>
            <a:cxnLst/>
            <a:rect l="l" t="t" r="r" b="b"/>
            <a:pathLst>
              <a:path w="2533650" h="1257300">
                <a:moveTo>
                  <a:pt x="76205" y="0"/>
                </a:moveTo>
                <a:lnTo>
                  <a:pt x="2457445" y="0"/>
                </a:lnTo>
                <a:cubicBezTo>
                  <a:pt x="2499532" y="0"/>
                  <a:pt x="2533650" y="34118"/>
                  <a:pt x="2533650" y="76205"/>
                </a:cubicBezTo>
                <a:lnTo>
                  <a:pt x="2533650" y="1181095"/>
                </a:lnTo>
                <a:cubicBezTo>
                  <a:pt x="2533650" y="1223182"/>
                  <a:pt x="2499532" y="1257300"/>
                  <a:pt x="245744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38900" y="2400300"/>
            <a:ext cx="2457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6B7A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4-10%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5100" y="2895600"/>
            <a:ext cx="2305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 waste reduction via inventory tracking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86850" y="2247900"/>
            <a:ext cx="2533650" cy="1257300"/>
          </a:xfrm>
          <a:custGeom>
            <a:avLst/>
            <a:gdLst/>
            <a:ahLst/>
            <a:cxnLst/>
            <a:rect l="l" t="t" r="r" b="b"/>
            <a:pathLst>
              <a:path w="2533650" h="1257300">
                <a:moveTo>
                  <a:pt x="76205" y="0"/>
                </a:moveTo>
                <a:lnTo>
                  <a:pt x="2457445" y="0"/>
                </a:lnTo>
                <a:cubicBezTo>
                  <a:pt x="2499532" y="0"/>
                  <a:pt x="2533650" y="34118"/>
                  <a:pt x="2533650" y="76205"/>
                </a:cubicBezTo>
                <a:lnTo>
                  <a:pt x="2533650" y="1181095"/>
                </a:lnTo>
                <a:cubicBezTo>
                  <a:pt x="2533650" y="1223182"/>
                  <a:pt x="2499532" y="1257300"/>
                  <a:pt x="245744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124950" y="2400300"/>
            <a:ext cx="2457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B47B6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£1,000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01150" y="2895600"/>
            <a:ext cx="2305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Savings per 3.3 lbs of waste reduced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361950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76199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515100" y="3733800"/>
            <a:ext cx="506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Story:</a:t>
            </a:r>
            <a:r>
              <a:rPr lang="en-US" sz="1200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Manhatta's waste audit led to a new supplier strategy, cutting seafood waste by 62% and reducing food costs.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0300" y="4762500"/>
            <a:ext cx="5600700" cy="1714500"/>
          </a:xfrm>
          <a:custGeom>
            <a:avLst/>
            <a:gdLst/>
            <a:ahLst/>
            <a:cxnLst/>
            <a:rect l="l" t="t" r="r" b="b"/>
            <a:pathLst>
              <a:path w="5600700" h="171450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1638308"/>
                </a:lnTo>
                <a:cubicBezTo>
                  <a:pt x="5600700" y="1680388"/>
                  <a:pt x="5566588" y="1714500"/>
                  <a:pt x="5524508" y="1714500"/>
                </a:cubicBezTo>
                <a:lnTo>
                  <a:pt x="76192" y="1714500"/>
                </a:lnTo>
                <a:cubicBezTo>
                  <a:pt x="34112" y="1714500"/>
                  <a:pt x="0" y="1680388"/>
                  <a:pt x="0" y="1638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6B7A5A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4953000"/>
            <a:ext cx="531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Performance Monitoring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535305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Turnover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47559" y="533400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5695950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Satisfaction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850642" y="567690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Continuous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0800" y="60388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Consumption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732294" y="60198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Live tracking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digsdigs.com/7d1852bb9080943df3176b9f00e8dabc8466a449.jpg"/>
          <p:cNvPicPr>
            <a:picLocks noChangeAspect="1"/>
          </p:cNvPicPr>
          <p:nvPr/>
        </p:nvPicPr>
        <p:blipFill>
          <a:blip r:embed="rId3"/>
          <a:srcRect t="26844" b="268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B47B60">
                  <a:alpha val="90000"/>
                </a:srgbClr>
              </a:gs>
              <a:gs pos="50000">
                <a:srgbClr val="B47B60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287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5" name="Text 2"/>
          <p:cNvSpPr/>
          <p:nvPr/>
        </p:nvSpPr>
        <p:spPr>
          <a:xfrm>
            <a:off x="295275" y="1228725"/>
            <a:ext cx="933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95400" y="1457325"/>
            <a:ext cx="1971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kern="0" spc="180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2412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Customer Experience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&amp; Sustainability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5434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88632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6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memorable dining experiences through eco-conscious practices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887" y="332887"/>
            <a:ext cx="1158448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kern="0" spc="92" dirty="0">
                <a:solidFill>
                  <a:srgbClr val="B47B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Psychology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887" y="565909"/>
            <a:ext cx="11725958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45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Psychology of Green Hospitality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2887" y="1065240"/>
            <a:ext cx="11609447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how sustainable practices and communication shape customer satisfaction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2887" y="1464704"/>
            <a:ext cx="5659085" cy="3029275"/>
          </a:xfrm>
          <a:custGeom>
            <a:avLst/>
            <a:gdLst/>
            <a:ahLst/>
            <a:cxnLst/>
            <a:rect l="l" t="t" r="r" b="b"/>
            <a:pathLst>
              <a:path w="5659085" h="3029275">
                <a:moveTo>
                  <a:pt x="66583" y="0"/>
                </a:moveTo>
                <a:lnTo>
                  <a:pt x="5592502" y="0"/>
                </a:lnTo>
                <a:cubicBezTo>
                  <a:pt x="5629275" y="0"/>
                  <a:pt x="5659085" y="29810"/>
                  <a:pt x="5659085" y="66583"/>
                </a:cubicBezTo>
                <a:lnTo>
                  <a:pt x="5659085" y="2962692"/>
                </a:lnTo>
                <a:cubicBezTo>
                  <a:pt x="5659085" y="2999465"/>
                  <a:pt x="5629275" y="3029275"/>
                  <a:pt x="5592502" y="3029275"/>
                </a:cubicBezTo>
                <a:lnTo>
                  <a:pt x="66583" y="3029275"/>
                </a:lnTo>
                <a:cubicBezTo>
                  <a:pt x="29835" y="3029275"/>
                  <a:pt x="0" y="2999440"/>
                  <a:pt x="0" y="2962692"/>
                </a:cubicBezTo>
                <a:lnTo>
                  <a:pt x="0" y="66583"/>
                </a:lnTo>
                <a:cubicBezTo>
                  <a:pt x="0" y="29835"/>
                  <a:pt x="29835" y="0"/>
                  <a:pt x="66583" y="0"/>
                </a:cubicBezTo>
                <a:close/>
              </a:path>
            </a:pathLst>
          </a:custGeom>
          <a:solidFill>
            <a:srgbClr val="6B7A5A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64466" y="1664437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199732" y="0"/>
                </a:moveTo>
                <a:cubicBezTo>
                  <a:pt x="309968" y="0"/>
                  <a:pt x="399465" y="89497"/>
                  <a:pt x="399465" y="199732"/>
                </a:cubicBezTo>
                <a:cubicBezTo>
                  <a:pt x="399465" y="309968"/>
                  <a:pt x="309968" y="399465"/>
                  <a:pt x="199732" y="399465"/>
                </a:cubicBezTo>
                <a:cubicBezTo>
                  <a:pt x="89497" y="399465"/>
                  <a:pt x="0" y="309968"/>
                  <a:pt x="0" y="199732"/>
                </a:cubicBezTo>
                <a:cubicBezTo>
                  <a:pt x="0" y="89497"/>
                  <a:pt x="89497" y="0"/>
                  <a:pt x="199732" y="0"/>
                </a:cubicBezTo>
                <a:close/>
                <a:moveTo>
                  <a:pt x="181008" y="93625"/>
                </a:moveTo>
                <a:lnTo>
                  <a:pt x="181008" y="199732"/>
                </a:lnTo>
                <a:cubicBezTo>
                  <a:pt x="181008" y="205974"/>
                  <a:pt x="184128" y="211826"/>
                  <a:pt x="189356" y="215337"/>
                </a:cubicBezTo>
                <a:lnTo>
                  <a:pt x="264255" y="265270"/>
                </a:lnTo>
                <a:cubicBezTo>
                  <a:pt x="272838" y="271043"/>
                  <a:pt x="284463" y="268703"/>
                  <a:pt x="290236" y="260042"/>
                </a:cubicBezTo>
                <a:cubicBezTo>
                  <a:pt x="296010" y="251382"/>
                  <a:pt x="293669" y="239835"/>
                  <a:pt x="285009" y="234061"/>
                </a:cubicBezTo>
                <a:lnTo>
                  <a:pt x="218457" y="189746"/>
                </a:lnTo>
                <a:lnTo>
                  <a:pt x="218457" y="93625"/>
                </a:lnTo>
                <a:cubicBezTo>
                  <a:pt x="218457" y="83248"/>
                  <a:pt x="210109" y="74900"/>
                  <a:pt x="199732" y="74900"/>
                </a:cubicBezTo>
                <a:cubicBezTo>
                  <a:pt x="189356" y="74900"/>
                  <a:pt x="181008" y="83248"/>
                  <a:pt x="181008" y="93625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7" name="Text 5"/>
          <p:cNvSpPr/>
          <p:nvPr/>
        </p:nvSpPr>
        <p:spPr>
          <a:xfrm>
            <a:off x="482687" y="2163768"/>
            <a:ext cx="5359487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3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Wait Time Psychology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2620" y="2563127"/>
            <a:ext cx="5259620" cy="1131817"/>
          </a:xfrm>
          <a:custGeom>
            <a:avLst/>
            <a:gdLst/>
            <a:ahLst/>
            <a:cxnLst/>
            <a:rect l="l" t="t" r="r" b="b"/>
            <a:pathLst>
              <a:path w="5259620" h="1131817">
                <a:moveTo>
                  <a:pt x="66573" y="0"/>
                </a:moveTo>
                <a:lnTo>
                  <a:pt x="5193047" y="0"/>
                </a:lnTo>
                <a:cubicBezTo>
                  <a:pt x="5229815" y="0"/>
                  <a:pt x="5259620" y="29806"/>
                  <a:pt x="5259620" y="66573"/>
                </a:cubicBezTo>
                <a:lnTo>
                  <a:pt x="5259620" y="1065244"/>
                </a:lnTo>
                <a:cubicBezTo>
                  <a:pt x="5259620" y="1102011"/>
                  <a:pt x="5229815" y="1131817"/>
                  <a:pt x="5193047" y="1131817"/>
                </a:cubicBezTo>
                <a:lnTo>
                  <a:pt x="66573" y="1131817"/>
                </a:lnTo>
                <a:cubicBezTo>
                  <a:pt x="29806" y="1131817"/>
                  <a:pt x="0" y="1102011"/>
                  <a:pt x="0" y="1065244"/>
                </a:cubicBezTo>
                <a:lnTo>
                  <a:pt x="0" y="66573"/>
                </a:lnTo>
                <a:cubicBezTo>
                  <a:pt x="0" y="29806"/>
                  <a:pt x="29806" y="0"/>
                  <a:pt x="66573" y="0"/>
                </a:cubicBezTo>
                <a:close/>
              </a:path>
            </a:pathLst>
          </a:custGeom>
          <a:solidFill>
            <a:srgbClr val="F8F6F2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74231" y="2729571"/>
            <a:ext cx="5176399" cy="499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932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18%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1614" y="3295479"/>
            <a:ext cx="500163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satisfaction with accurate wait estimates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2620" y="3828099"/>
            <a:ext cx="5326198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Transparency:</a:t>
            </a:r>
            <a:r>
              <a:rPr lang="en-US" sz="1048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Honest estimates empower guests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2620" y="4094409"/>
            <a:ext cx="5326198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Communication:</a:t>
            </a:r>
            <a:r>
              <a:rPr lang="en-US" sz="1048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Regular updates build trust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2887" y="4660318"/>
            <a:ext cx="5659085" cy="2197057"/>
          </a:xfrm>
          <a:custGeom>
            <a:avLst/>
            <a:gdLst/>
            <a:ahLst/>
            <a:cxnLst/>
            <a:rect l="l" t="t" r="r" b="b"/>
            <a:pathLst>
              <a:path w="5659085" h="2197057">
                <a:moveTo>
                  <a:pt x="66571" y="0"/>
                </a:moveTo>
                <a:lnTo>
                  <a:pt x="5592515" y="0"/>
                </a:lnTo>
                <a:cubicBezTo>
                  <a:pt x="5629281" y="0"/>
                  <a:pt x="5659085" y="29805"/>
                  <a:pt x="5659085" y="66571"/>
                </a:cubicBezTo>
                <a:lnTo>
                  <a:pt x="5659085" y="2130486"/>
                </a:lnTo>
                <a:cubicBezTo>
                  <a:pt x="5659085" y="2167252"/>
                  <a:pt x="5629281" y="2197057"/>
                  <a:pt x="5592515" y="2197057"/>
                </a:cubicBezTo>
                <a:lnTo>
                  <a:pt x="66571" y="2197057"/>
                </a:lnTo>
                <a:cubicBezTo>
                  <a:pt x="29805" y="2197057"/>
                  <a:pt x="0" y="2167252"/>
                  <a:pt x="0" y="2130486"/>
                </a:cubicBezTo>
                <a:lnTo>
                  <a:pt x="0" y="66571"/>
                </a:lnTo>
                <a:cubicBezTo>
                  <a:pt x="0" y="29805"/>
                  <a:pt x="29805" y="0"/>
                  <a:pt x="6657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331" y="4826761"/>
            <a:ext cx="540942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Managing Expectations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9331" y="5192937"/>
            <a:ext cx="5326198" cy="699063"/>
          </a:xfrm>
          <a:custGeom>
            <a:avLst/>
            <a:gdLst/>
            <a:ahLst/>
            <a:cxnLst/>
            <a:rect l="l" t="t" r="r" b="b"/>
            <a:pathLst>
              <a:path w="5326198" h="699063">
                <a:moveTo>
                  <a:pt x="66579" y="0"/>
                </a:moveTo>
                <a:lnTo>
                  <a:pt x="5259619" y="0"/>
                </a:lnTo>
                <a:cubicBezTo>
                  <a:pt x="5296390" y="0"/>
                  <a:pt x="5326198" y="29808"/>
                  <a:pt x="5326198" y="66579"/>
                </a:cubicBezTo>
                <a:lnTo>
                  <a:pt x="5326198" y="632485"/>
                </a:lnTo>
                <a:cubicBezTo>
                  <a:pt x="5326198" y="669255"/>
                  <a:pt x="5296390" y="699063"/>
                  <a:pt x="5259619" y="699063"/>
                </a:cubicBezTo>
                <a:lnTo>
                  <a:pt x="66579" y="699063"/>
                </a:lnTo>
                <a:cubicBezTo>
                  <a:pt x="29808" y="699063"/>
                  <a:pt x="0" y="669255"/>
                  <a:pt x="0" y="632485"/>
                </a:cubicBezTo>
                <a:lnTo>
                  <a:pt x="0" y="66579"/>
                </a:lnTo>
                <a:cubicBezTo>
                  <a:pt x="0" y="29808"/>
                  <a:pt x="29808" y="0"/>
                  <a:pt x="66579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2486" y="5326092"/>
            <a:ext cx="5126466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Pre-Arrival Communication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2486" y="5559113"/>
            <a:ext cx="5126466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wait estimates on website and Google profile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9331" y="5991867"/>
            <a:ext cx="5326198" cy="699063"/>
          </a:xfrm>
          <a:custGeom>
            <a:avLst/>
            <a:gdLst/>
            <a:ahLst/>
            <a:cxnLst/>
            <a:rect l="l" t="t" r="r" b="b"/>
            <a:pathLst>
              <a:path w="5326198" h="699063">
                <a:moveTo>
                  <a:pt x="66579" y="0"/>
                </a:moveTo>
                <a:lnTo>
                  <a:pt x="5259619" y="0"/>
                </a:lnTo>
                <a:cubicBezTo>
                  <a:pt x="5296390" y="0"/>
                  <a:pt x="5326198" y="29808"/>
                  <a:pt x="5326198" y="66579"/>
                </a:cubicBezTo>
                <a:lnTo>
                  <a:pt x="5326198" y="632485"/>
                </a:lnTo>
                <a:cubicBezTo>
                  <a:pt x="5326198" y="669255"/>
                  <a:pt x="5296390" y="699063"/>
                  <a:pt x="5259619" y="699063"/>
                </a:cubicBezTo>
                <a:lnTo>
                  <a:pt x="66579" y="699063"/>
                </a:lnTo>
                <a:cubicBezTo>
                  <a:pt x="29808" y="699063"/>
                  <a:pt x="0" y="669255"/>
                  <a:pt x="0" y="632485"/>
                </a:cubicBezTo>
                <a:lnTo>
                  <a:pt x="0" y="66579"/>
                </a:lnTo>
                <a:cubicBezTo>
                  <a:pt x="0" y="29808"/>
                  <a:pt x="29808" y="0"/>
                  <a:pt x="66579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2486" y="6125022"/>
            <a:ext cx="5126466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Queue Options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486" y="6358043"/>
            <a:ext cx="5126466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 guests to explore nearby until table is ready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5346" y="1464704"/>
            <a:ext cx="5659085" cy="2596522"/>
          </a:xfrm>
          <a:custGeom>
            <a:avLst/>
            <a:gdLst/>
            <a:ahLst/>
            <a:cxnLst/>
            <a:rect l="l" t="t" r="r" b="b"/>
            <a:pathLst>
              <a:path w="5659085" h="2596522">
                <a:moveTo>
                  <a:pt x="66575" y="0"/>
                </a:moveTo>
                <a:lnTo>
                  <a:pt x="5592511" y="0"/>
                </a:lnTo>
                <a:cubicBezTo>
                  <a:pt x="5629279" y="0"/>
                  <a:pt x="5659085" y="29807"/>
                  <a:pt x="5659085" y="66575"/>
                </a:cubicBezTo>
                <a:lnTo>
                  <a:pt x="5659085" y="2529947"/>
                </a:lnTo>
                <a:cubicBezTo>
                  <a:pt x="5659085" y="2566715"/>
                  <a:pt x="5629279" y="2596522"/>
                  <a:pt x="5592511" y="2596522"/>
                </a:cubicBezTo>
                <a:lnTo>
                  <a:pt x="66575" y="2596522"/>
                </a:lnTo>
                <a:cubicBezTo>
                  <a:pt x="29807" y="2596522"/>
                  <a:pt x="0" y="2566715"/>
                  <a:pt x="0" y="2529947"/>
                </a:cubicBezTo>
                <a:lnTo>
                  <a:pt x="0" y="66575"/>
                </a:lnTo>
                <a:cubicBezTo>
                  <a:pt x="0" y="29831"/>
                  <a:pt x="29831" y="0"/>
                  <a:pt x="6657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28367" y="1672653"/>
            <a:ext cx="249666" cy="249666"/>
          </a:xfrm>
          <a:custGeom>
            <a:avLst/>
            <a:gdLst/>
            <a:ahLst/>
            <a:cxnLst/>
            <a:rect l="l" t="t" r="r" b="b"/>
            <a:pathLst>
              <a:path w="249666" h="249666">
                <a:moveTo>
                  <a:pt x="229819" y="3267"/>
                </a:moveTo>
                <a:cubicBezTo>
                  <a:pt x="232940" y="293"/>
                  <a:pt x="237475" y="-780"/>
                  <a:pt x="241668" y="585"/>
                </a:cubicBezTo>
                <a:cubicBezTo>
                  <a:pt x="246447" y="2194"/>
                  <a:pt x="249666" y="6681"/>
                  <a:pt x="249666" y="11703"/>
                </a:cubicBezTo>
                <a:lnTo>
                  <a:pt x="249666" y="102841"/>
                </a:lnTo>
                <a:cubicBezTo>
                  <a:pt x="249666" y="166818"/>
                  <a:pt x="196953" y="218457"/>
                  <a:pt x="133220" y="218457"/>
                </a:cubicBezTo>
                <a:cubicBezTo>
                  <a:pt x="95673" y="218457"/>
                  <a:pt x="63294" y="194320"/>
                  <a:pt x="51542" y="160576"/>
                </a:cubicBezTo>
                <a:cubicBezTo>
                  <a:pt x="34280" y="175595"/>
                  <a:pt x="23406" y="197684"/>
                  <a:pt x="23406" y="222358"/>
                </a:cubicBezTo>
                <a:cubicBezTo>
                  <a:pt x="23406" y="228844"/>
                  <a:pt x="18189" y="234061"/>
                  <a:pt x="11703" y="234061"/>
                </a:cubicBezTo>
                <a:cubicBezTo>
                  <a:pt x="5218" y="234061"/>
                  <a:pt x="0" y="228844"/>
                  <a:pt x="0" y="222358"/>
                </a:cubicBezTo>
                <a:cubicBezTo>
                  <a:pt x="0" y="185835"/>
                  <a:pt x="18627" y="153652"/>
                  <a:pt x="46861" y="134732"/>
                </a:cubicBezTo>
                <a:cubicBezTo>
                  <a:pt x="64074" y="123224"/>
                  <a:pt x="84603" y="117031"/>
                  <a:pt x="105328" y="117031"/>
                </a:cubicBezTo>
                <a:lnTo>
                  <a:pt x="144338" y="117031"/>
                </a:lnTo>
                <a:cubicBezTo>
                  <a:pt x="150823" y="117031"/>
                  <a:pt x="156041" y="111813"/>
                  <a:pt x="156041" y="105328"/>
                </a:cubicBezTo>
                <a:cubicBezTo>
                  <a:pt x="156041" y="98842"/>
                  <a:pt x="150823" y="93625"/>
                  <a:pt x="144338" y="93625"/>
                </a:cubicBezTo>
                <a:lnTo>
                  <a:pt x="105328" y="93625"/>
                </a:lnTo>
                <a:cubicBezTo>
                  <a:pt x="85969" y="93625"/>
                  <a:pt x="67634" y="97916"/>
                  <a:pt x="51201" y="105571"/>
                </a:cubicBezTo>
                <a:cubicBezTo>
                  <a:pt x="62563" y="71438"/>
                  <a:pt x="94697" y="46812"/>
                  <a:pt x="132635" y="46812"/>
                </a:cubicBezTo>
                <a:cubicBezTo>
                  <a:pt x="165013" y="46812"/>
                  <a:pt x="189102" y="36036"/>
                  <a:pt x="205145" y="25357"/>
                </a:cubicBezTo>
                <a:cubicBezTo>
                  <a:pt x="214508" y="19115"/>
                  <a:pt x="222456" y="11654"/>
                  <a:pt x="229868" y="3267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23" name="Text 21"/>
          <p:cNvSpPr/>
          <p:nvPr/>
        </p:nvSpPr>
        <p:spPr>
          <a:xfrm>
            <a:off x="6807027" y="1664437"/>
            <a:ext cx="2088868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Sustainability Perception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95078" y="2063796"/>
            <a:ext cx="5259620" cy="932085"/>
          </a:xfrm>
          <a:custGeom>
            <a:avLst/>
            <a:gdLst/>
            <a:ahLst/>
            <a:cxnLst/>
            <a:rect l="l" t="t" r="r" b="b"/>
            <a:pathLst>
              <a:path w="5259620" h="932085">
                <a:moveTo>
                  <a:pt x="66579" y="0"/>
                </a:moveTo>
                <a:lnTo>
                  <a:pt x="5193042" y="0"/>
                </a:lnTo>
                <a:cubicBezTo>
                  <a:pt x="5229812" y="0"/>
                  <a:pt x="5259620" y="29808"/>
                  <a:pt x="5259620" y="66579"/>
                </a:cubicBezTo>
                <a:lnTo>
                  <a:pt x="5259620" y="865506"/>
                </a:lnTo>
                <a:cubicBezTo>
                  <a:pt x="5259620" y="902276"/>
                  <a:pt x="5229812" y="932085"/>
                  <a:pt x="5193042" y="932085"/>
                </a:cubicBezTo>
                <a:lnTo>
                  <a:pt x="66579" y="932085"/>
                </a:lnTo>
                <a:cubicBezTo>
                  <a:pt x="29808" y="932085"/>
                  <a:pt x="0" y="902276"/>
                  <a:pt x="0" y="865506"/>
                </a:cubicBezTo>
                <a:lnTo>
                  <a:pt x="0" y="66579"/>
                </a:lnTo>
                <a:cubicBezTo>
                  <a:pt x="0" y="29833"/>
                  <a:pt x="29833" y="0"/>
                  <a:pt x="66579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28367" y="2196951"/>
            <a:ext cx="5193043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145" b="1" dirty="0">
                <a:solidFill>
                  <a:srgbClr val="6B7A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90%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4945" y="2662993"/>
            <a:ext cx="5059888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8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consumers say sustainability matters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11723" y="3162324"/>
            <a:ext cx="116511" cy="116511"/>
          </a:xfrm>
          <a:custGeom>
            <a:avLst/>
            <a:gdLst/>
            <a:ahLst/>
            <a:cxnLst/>
            <a:rect l="l" t="t" r="r" b="b"/>
            <a:pathLst>
              <a:path w="116511" h="116511">
                <a:moveTo>
                  <a:pt x="58255" y="116511"/>
                </a:moveTo>
                <a:cubicBezTo>
                  <a:pt x="90407" y="116511"/>
                  <a:pt x="116511" y="90407"/>
                  <a:pt x="116511" y="58255"/>
                </a:cubicBezTo>
                <a:cubicBezTo>
                  <a:pt x="116511" y="26103"/>
                  <a:pt x="90407" y="0"/>
                  <a:pt x="58255" y="0"/>
                </a:cubicBezTo>
                <a:cubicBezTo>
                  <a:pt x="26103" y="0"/>
                  <a:pt x="0" y="26103"/>
                  <a:pt x="0" y="58255"/>
                </a:cubicBezTo>
                <a:cubicBezTo>
                  <a:pt x="0" y="90407"/>
                  <a:pt x="26103" y="116511"/>
                  <a:pt x="58255" y="116511"/>
                </a:cubicBezTo>
                <a:close/>
                <a:moveTo>
                  <a:pt x="77461" y="48402"/>
                </a:moveTo>
                <a:lnTo>
                  <a:pt x="59257" y="77530"/>
                </a:lnTo>
                <a:cubicBezTo>
                  <a:pt x="58301" y="79054"/>
                  <a:pt x="56662" y="80010"/>
                  <a:pt x="54865" y="80101"/>
                </a:cubicBezTo>
                <a:cubicBezTo>
                  <a:pt x="53067" y="80192"/>
                  <a:pt x="51337" y="79373"/>
                  <a:pt x="50268" y="77916"/>
                </a:cubicBezTo>
                <a:lnTo>
                  <a:pt x="39345" y="63353"/>
                </a:lnTo>
                <a:cubicBezTo>
                  <a:pt x="37525" y="60940"/>
                  <a:pt x="38025" y="57527"/>
                  <a:pt x="40437" y="55707"/>
                </a:cubicBezTo>
                <a:cubicBezTo>
                  <a:pt x="42849" y="53886"/>
                  <a:pt x="46263" y="54387"/>
                  <a:pt x="48083" y="56799"/>
                </a:cubicBezTo>
                <a:lnTo>
                  <a:pt x="54227" y="64991"/>
                </a:lnTo>
                <a:lnTo>
                  <a:pt x="68200" y="42622"/>
                </a:lnTo>
                <a:cubicBezTo>
                  <a:pt x="69793" y="40073"/>
                  <a:pt x="73160" y="39277"/>
                  <a:pt x="75732" y="40892"/>
                </a:cubicBezTo>
                <a:cubicBezTo>
                  <a:pt x="78303" y="42508"/>
                  <a:pt x="79077" y="45853"/>
                  <a:pt x="77461" y="48425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28" name="Text 26"/>
          <p:cNvSpPr/>
          <p:nvPr/>
        </p:nvSpPr>
        <p:spPr>
          <a:xfrm>
            <a:off x="6607294" y="3129036"/>
            <a:ext cx="3503640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Willing to pay 5-10% more for verified sustainable practices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1723" y="3428634"/>
            <a:ext cx="116511" cy="116511"/>
          </a:xfrm>
          <a:custGeom>
            <a:avLst/>
            <a:gdLst/>
            <a:ahLst/>
            <a:cxnLst/>
            <a:rect l="l" t="t" r="r" b="b"/>
            <a:pathLst>
              <a:path w="116511" h="116511">
                <a:moveTo>
                  <a:pt x="58255" y="116511"/>
                </a:moveTo>
                <a:cubicBezTo>
                  <a:pt x="90407" y="116511"/>
                  <a:pt x="116511" y="90407"/>
                  <a:pt x="116511" y="58255"/>
                </a:cubicBezTo>
                <a:cubicBezTo>
                  <a:pt x="116511" y="26103"/>
                  <a:pt x="90407" y="0"/>
                  <a:pt x="58255" y="0"/>
                </a:cubicBezTo>
                <a:cubicBezTo>
                  <a:pt x="26103" y="0"/>
                  <a:pt x="0" y="26103"/>
                  <a:pt x="0" y="58255"/>
                </a:cubicBezTo>
                <a:cubicBezTo>
                  <a:pt x="0" y="90407"/>
                  <a:pt x="26103" y="116511"/>
                  <a:pt x="58255" y="116511"/>
                </a:cubicBezTo>
                <a:close/>
                <a:moveTo>
                  <a:pt x="77461" y="48402"/>
                </a:moveTo>
                <a:lnTo>
                  <a:pt x="59257" y="77530"/>
                </a:lnTo>
                <a:cubicBezTo>
                  <a:pt x="58301" y="79054"/>
                  <a:pt x="56662" y="80010"/>
                  <a:pt x="54865" y="80101"/>
                </a:cubicBezTo>
                <a:cubicBezTo>
                  <a:pt x="53067" y="80192"/>
                  <a:pt x="51337" y="79373"/>
                  <a:pt x="50268" y="77916"/>
                </a:cubicBezTo>
                <a:lnTo>
                  <a:pt x="39345" y="63353"/>
                </a:lnTo>
                <a:cubicBezTo>
                  <a:pt x="37525" y="60940"/>
                  <a:pt x="38025" y="57527"/>
                  <a:pt x="40437" y="55707"/>
                </a:cubicBezTo>
                <a:cubicBezTo>
                  <a:pt x="42849" y="53886"/>
                  <a:pt x="46263" y="54387"/>
                  <a:pt x="48083" y="56799"/>
                </a:cubicBezTo>
                <a:lnTo>
                  <a:pt x="54227" y="64991"/>
                </a:lnTo>
                <a:lnTo>
                  <a:pt x="68200" y="42622"/>
                </a:lnTo>
                <a:cubicBezTo>
                  <a:pt x="69793" y="40073"/>
                  <a:pt x="73160" y="39277"/>
                  <a:pt x="75732" y="40892"/>
                </a:cubicBezTo>
                <a:cubicBezTo>
                  <a:pt x="78303" y="42508"/>
                  <a:pt x="79077" y="45853"/>
                  <a:pt x="77461" y="48425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30" name="Text 28"/>
          <p:cNvSpPr/>
          <p:nvPr/>
        </p:nvSpPr>
        <p:spPr>
          <a:xfrm>
            <a:off x="6607294" y="3395346"/>
            <a:ext cx="3220685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loyalty to restaurants that align with their values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1723" y="3694944"/>
            <a:ext cx="116511" cy="116511"/>
          </a:xfrm>
          <a:custGeom>
            <a:avLst/>
            <a:gdLst/>
            <a:ahLst/>
            <a:cxnLst/>
            <a:rect l="l" t="t" r="r" b="b"/>
            <a:pathLst>
              <a:path w="116511" h="116511">
                <a:moveTo>
                  <a:pt x="58255" y="116511"/>
                </a:moveTo>
                <a:cubicBezTo>
                  <a:pt x="90407" y="116511"/>
                  <a:pt x="116511" y="90407"/>
                  <a:pt x="116511" y="58255"/>
                </a:cubicBezTo>
                <a:cubicBezTo>
                  <a:pt x="116511" y="26103"/>
                  <a:pt x="90407" y="0"/>
                  <a:pt x="58255" y="0"/>
                </a:cubicBezTo>
                <a:cubicBezTo>
                  <a:pt x="26103" y="0"/>
                  <a:pt x="0" y="26103"/>
                  <a:pt x="0" y="58255"/>
                </a:cubicBezTo>
                <a:cubicBezTo>
                  <a:pt x="0" y="90407"/>
                  <a:pt x="26103" y="116511"/>
                  <a:pt x="58255" y="116511"/>
                </a:cubicBezTo>
                <a:close/>
                <a:moveTo>
                  <a:pt x="77461" y="48402"/>
                </a:moveTo>
                <a:lnTo>
                  <a:pt x="59257" y="77530"/>
                </a:lnTo>
                <a:cubicBezTo>
                  <a:pt x="58301" y="79054"/>
                  <a:pt x="56662" y="80010"/>
                  <a:pt x="54865" y="80101"/>
                </a:cubicBezTo>
                <a:cubicBezTo>
                  <a:pt x="53067" y="80192"/>
                  <a:pt x="51337" y="79373"/>
                  <a:pt x="50268" y="77916"/>
                </a:cubicBezTo>
                <a:lnTo>
                  <a:pt x="39345" y="63353"/>
                </a:lnTo>
                <a:cubicBezTo>
                  <a:pt x="37525" y="60940"/>
                  <a:pt x="38025" y="57527"/>
                  <a:pt x="40437" y="55707"/>
                </a:cubicBezTo>
                <a:cubicBezTo>
                  <a:pt x="42849" y="53886"/>
                  <a:pt x="46263" y="54387"/>
                  <a:pt x="48083" y="56799"/>
                </a:cubicBezTo>
                <a:lnTo>
                  <a:pt x="54227" y="64991"/>
                </a:lnTo>
                <a:lnTo>
                  <a:pt x="68200" y="42622"/>
                </a:lnTo>
                <a:cubicBezTo>
                  <a:pt x="69793" y="40073"/>
                  <a:pt x="73160" y="39277"/>
                  <a:pt x="75732" y="40892"/>
                </a:cubicBezTo>
                <a:cubicBezTo>
                  <a:pt x="78303" y="42508"/>
                  <a:pt x="79077" y="45853"/>
                  <a:pt x="77461" y="48425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32" name="Text 30"/>
          <p:cNvSpPr/>
          <p:nvPr/>
        </p:nvSpPr>
        <p:spPr>
          <a:xfrm>
            <a:off x="6607294" y="3661655"/>
            <a:ext cx="3362162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likely to recommend eco-conscious establishments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5346" y="4227564"/>
            <a:ext cx="5659085" cy="1597859"/>
          </a:xfrm>
          <a:custGeom>
            <a:avLst/>
            <a:gdLst/>
            <a:ahLst/>
            <a:cxnLst/>
            <a:rect l="l" t="t" r="r" b="b"/>
            <a:pathLst>
              <a:path w="5659085" h="1597859">
                <a:moveTo>
                  <a:pt x="66583" y="0"/>
                </a:moveTo>
                <a:lnTo>
                  <a:pt x="5592503" y="0"/>
                </a:lnTo>
                <a:cubicBezTo>
                  <a:pt x="5629275" y="0"/>
                  <a:pt x="5659085" y="29810"/>
                  <a:pt x="5659085" y="66583"/>
                </a:cubicBezTo>
                <a:lnTo>
                  <a:pt x="5659085" y="1531277"/>
                </a:lnTo>
                <a:cubicBezTo>
                  <a:pt x="5659085" y="1568049"/>
                  <a:pt x="5629275" y="1597859"/>
                  <a:pt x="5592503" y="1597859"/>
                </a:cubicBezTo>
                <a:lnTo>
                  <a:pt x="66583" y="1597859"/>
                </a:lnTo>
                <a:cubicBezTo>
                  <a:pt x="29810" y="1597859"/>
                  <a:pt x="0" y="1568049"/>
                  <a:pt x="0" y="1531277"/>
                </a:cubicBezTo>
                <a:lnTo>
                  <a:pt x="0" y="66583"/>
                </a:lnTo>
                <a:cubicBezTo>
                  <a:pt x="0" y="29835"/>
                  <a:pt x="29835" y="0"/>
                  <a:pt x="6658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61790" y="4394008"/>
            <a:ext cx="540942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Eco-Friendly Messaging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1790" y="4726895"/>
            <a:ext cx="266310" cy="266310"/>
          </a:xfrm>
          <a:custGeom>
            <a:avLst/>
            <a:gdLst/>
            <a:ahLst/>
            <a:cxnLst/>
            <a:rect l="l" t="t" r="r" b="b"/>
            <a:pathLst>
              <a:path w="266310" h="266310">
                <a:moveTo>
                  <a:pt x="133155" y="0"/>
                </a:moveTo>
                <a:lnTo>
                  <a:pt x="133155" y="0"/>
                </a:lnTo>
                <a:cubicBezTo>
                  <a:pt x="206694" y="0"/>
                  <a:pt x="266310" y="59616"/>
                  <a:pt x="266310" y="133155"/>
                </a:cubicBezTo>
                <a:lnTo>
                  <a:pt x="266310" y="133155"/>
                </a:lnTo>
                <a:cubicBezTo>
                  <a:pt x="266310" y="206694"/>
                  <a:pt x="206694" y="266310"/>
                  <a:pt x="133155" y="266310"/>
                </a:cubicBezTo>
                <a:lnTo>
                  <a:pt x="133155" y="266310"/>
                </a:lnTo>
                <a:cubicBezTo>
                  <a:pt x="59616" y="266310"/>
                  <a:pt x="0" y="206694"/>
                  <a:pt x="0" y="133155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36" name="Text 34"/>
          <p:cNvSpPr/>
          <p:nvPr/>
        </p:nvSpPr>
        <p:spPr>
          <a:xfrm>
            <a:off x="6332662" y="4726895"/>
            <a:ext cx="324565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7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27966" y="4760184"/>
            <a:ext cx="2521622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table tents to share sustainability story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1790" y="5059782"/>
            <a:ext cx="266310" cy="266310"/>
          </a:xfrm>
          <a:custGeom>
            <a:avLst/>
            <a:gdLst/>
            <a:ahLst/>
            <a:cxnLst/>
            <a:rect l="l" t="t" r="r" b="b"/>
            <a:pathLst>
              <a:path w="266310" h="266310">
                <a:moveTo>
                  <a:pt x="133155" y="0"/>
                </a:moveTo>
                <a:lnTo>
                  <a:pt x="133155" y="0"/>
                </a:lnTo>
                <a:cubicBezTo>
                  <a:pt x="206694" y="0"/>
                  <a:pt x="266310" y="59616"/>
                  <a:pt x="266310" y="133155"/>
                </a:cubicBezTo>
                <a:lnTo>
                  <a:pt x="266310" y="133155"/>
                </a:lnTo>
                <a:cubicBezTo>
                  <a:pt x="266310" y="206694"/>
                  <a:pt x="206694" y="266310"/>
                  <a:pt x="133155" y="266310"/>
                </a:cubicBezTo>
                <a:lnTo>
                  <a:pt x="133155" y="266310"/>
                </a:lnTo>
                <a:cubicBezTo>
                  <a:pt x="59616" y="266310"/>
                  <a:pt x="0" y="206694"/>
                  <a:pt x="0" y="133155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39" name="Text 37"/>
          <p:cNvSpPr/>
          <p:nvPr/>
        </p:nvSpPr>
        <p:spPr>
          <a:xfrm>
            <a:off x="6332662" y="5059782"/>
            <a:ext cx="324565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7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27966" y="5093071"/>
            <a:ext cx="2654777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staff to mention eco-practices naturally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61790" y="5392670"/>
            <a:ext cx="266310" cy="266310"/>
          </a:xfrm>
          <a:custGeom>
            <a:avLst/>
            <a:gdLst/>
            <a:ahLst/>
            <a:cxnLst/>
            <a:rect l="l" t="t" r="r" b="b"/>
            <a:pathLst>
              <a:path w="266310" h="266310">
                <a:moveTo>
                  <a:pt x="133155" y="0"/>
                </a:moveTo>
                <a:lnTo>
                  <a:pt x="133155" y="0"/>
                </a:lnTo>
                <a:cubicBezTo>
                  <a:pt x="206694" y="0"/>
                  <a:pt x="266310" y="59616"/>
                  <a:pt x="266310" y="133155"/>
                </a:cubicBezTo>
                <a:lnTo>
                  <a:pt x="266310" y="133155"/>
                </a:lnTo>
                <a:cubicBezTo>
                  <a:pt x="266310" y="206694"/>
                  <a:pt x="206694" y="266310"/>
                  <a:pt x="133155" y="266310"/>
                </a:cubicBezTo>
                <a:lnTo>
                  <a:pt x="133155" y="266310"/>
                </a:lnTo>
                <a:cubicBezTo>
                  <a:pt x="59616" y="266310"/>
                  <a:pt x="0" y="206694"/>
                  <a:pt x="0" y="133155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42" name="Text 40"/>
          <p:cNvSpPr/>
          <p:nvPr/>
        </p:nvSpPr>
        <p:spPr>
          <a:xfrm>
            <a:off x="6332662" y="5392670"/>
            <a:ext cx="324565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7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27966" y="5425959"/>
            <a:ext cx="2588199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 waste reduction stats on social media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707" y="371707"/>
            <a:ext cx="11513634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b="1" kern="0" spc="102" dirty="0">
                <a:solidFill>
                  <a:srgbClr val="B47B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Circular Economy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1707" y="631902"/>
            <a:ext cx="11671610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12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From Farm to Fork to Soil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1707" y="1189463"/>
            <a:ext cx="11541512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Implementing comprehensive waste management for environmental and financial benefits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1707" y="1635512"/>
            <a:ext cx="3689195" cy="3754244"/>
          </a:xfrm>
          <a:custGeom>
            <a:avLst/>
            <a:gdLst/>
            <a:ahLst/>
            <a:cxnLst/>
            <a:rect l="l" t="t" r="r" b="b"/>
            <a:pathLst>
              <a:path w="3689195" h="3754244">
                <a:moveTo>
                  <a:pt x="74337" y="0"/>
                </a:moveTo>
                <a:lnTo>
                  <a:pt x="3614858" y="0"/>
                </a:lnTo>
                <a:cubicBezTo>
                  <a:pt x="3655913" y="0"/>
                  <a:pt x="3689195" y="33282"/>
                  <a:pt x="3689195" y="74337"/>
                </a:cubicBezTo>
                <a:lnTo>
                  <a:pt x="3689195" y="3679907"/>
                </a:lnTo>
                <a:cubicBezTo>
                  <a:pt x="3689195" y="3720962"/>
                  <a:pt x="3655913" y="3754244"/>
                  <a:pt x="3614858" y="3754244"/>
                </a:cubicBezTo>
                <a:lnTo>
                  <a:pt x="74337" y="3754244"/>
                </a:lnTo>
                <a:cubicBezTo>
                  <a:pt x="33282" y="3754244"/>
                  <a:pt x="0" y="3720962"/>
                  <a:pt x="0" y="3679907"/>
                </a:cubicBezTo>
                <a:lnTo>
                  <a:pt x="0" y="74337"/>
                </a:lnTo>
                <a:cubicBezTo>
                  <a:pt x="0" y="33309"/>
                  <a:pt x="33309" y="0"/>
                  <a:pt x="743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878" dist="929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439" y="1839951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27834" y="6273"/>
                </a:moveTo>
                <a:cubicBezTo>
                  <a:pt x="27486" y="2701"/>
                  <a:pt x="24480" y="0"/>
                  <a:pt x="20909" y="0"/>
                </a:cubicBezTo>
                <a:cubicBezTo>
                  <a:pt x="17337" y="0"/>
                  <a:pt x="14331" y="2701"/>
                  <a:pt x="13939" y="6229"/>
                </a:cubicBezTo>
                <a:lnTo>
                  <a:pt x="7797" y="65208"/>
                </a:lnTo>
                <a:cubicBezTo>
                  <a:pt x="7231" y="67822"/>
                  <a:pt x="6970" y="70479"/>
                  <a:pt x="6970" y="73136"/>
                </a:cubicBezTo>
                <a:cubicBezTo>
                  <a:pt x="6970" y="93130"/>
                  <a:pt x="22259" y="109552"/>
                  <a:pt x="41817" y="111338"/>
                </a:cubicBezTo>
                <a:lnTo>
                  <a:pt x="41817" y="209085"/>
                </a:lnTo>
                <a:cubicBezTo>
                  <a:pt x="41817" y="216795"/>
                  <a:pt x="48046" y="223024"/>
                  <a:pt x="55756" y="223024"/>
                </a:cubicBezTo>
                <a:cubicBezTo>
                  <a:pt x="63466" y="223024"/>
                  <a:pt x="69695" y="216795"/>
                  <a:pt x="69695" y="209085"/>
                </a:cubicBezTo>
                <a:lnTo>
                  <a:pt x="69695" y="111338"/>
                </a:lnTo>
                <a:cubicBezTo>
                  <a:pt x="89253" y="109552"/>
                  <a:pt x="104543" y="93130"/>
                  <a:pt x="104543" y="73136"/>
                </a:cubicBezTo>
                <a:cubicBezTo>
                  <a:pt x="104543" y="70479"/>
                  <a:pt x="104281" y="67822"/>
                  <a:pt x="103715" y="65208"/>
                </a:cubicBezTo>
                <a:lnTo>
                  <a:pt x="97530" y="6229"/>
                </a:lnTo>
                <a:cubicBezTo>
                  <a:pt x="97181" y="2701"/>
                  <a:pt x="94176" y="0"/>
                  <a:pt x="90604" y="0"/>
                </a:cubicBezTo>
                <a:cubicBezTo>
                  <a:pt x="87032" y="0"/>
                  <a:pt x="84026" y="2701"/>
                  <a:pt x="83678" y="6273"/>
                </a:cubicBezTo>
                <a:lnTo>
                  <a:pt x="77754" y="65296"/>
                </a:lnTo>
                <a:cubicBezTo>
                  <a:pt x="77492" y="67779"/>
                  <a:pt x="75401" y="69695"/>
                  <a:pt x="72919" y="69695"/>
                </a:cubicBezTo>
                <a:cubicBezTo>
                  <a:pt x="70392" y="69695"/>
                  <a:pt x="68301" y="67779"/>
                  <a:pt x="68040" y="65252"/>
                </a:cubicBezTo>
                <a:lnTo>
                  <a:pt x="62682" y="6360"/>
                </a:lnTo>
                <a:cubicBezTo>
                  <a:pt x="62377" y="2744"/>
                  <a:pt x="59372" y="0"/>
                  <a:pt x="55756" y="0"/>
                </a:cubicBezTo>
                <a:cubicBezTo>
                  <a:pt x="52141" y="0"/>
                  <a:pt x="49135" y="2744"/>
                  <a:pt x="48830" y="6360"/>
                </a:cubicBezTo>
                <a:lnTo>
                  <a:pt x="43472" y="65252"/>
                </a:lnTo>
                <a:cubicBezTo>
                  <a:pt x="43255" y="67779"/>
                  <a:pt x="41120" y="69695"/>
                  <a:pt x="38594" y="69695"/>
                </a:cubicBezTo>
                <a:cubicBezTo>
                  <a:pt x="36067" y="69695"/>
                  <a:pt x="33976" y="67779"/>
                  <a:pt x="33759" y="65296"/>
                </a:cubicBezTo>
                <a:lnTo>
                  <a:pt x="27834" y="6273"/>
                </a:lnTo>
                <a:close/>
                <a:moveTo>
                  <a:pt x="195146" y="0"/>
                </a:moveTo>
                <a:cubicBezTo>
                  <a:pt x="188177" y="0"/>
                  <a:pt x="139390" y="13939"/>
                  <a:pt x="139390" y="76665"/>
                </a:cubicBezTo>
                <a:lnTo>
                  <a:pt x="139390" y="125451"/>
                </a:lnTo>
                <a:cubicBezTo>
                  <a:pt x="139390" y="140828"/>
                  <a:pt x="151892" y="153329"/>
                  <a:pt x="167268" y="153329"/>
                </a:cubicBezTo>
                <a:lnTo>
                  <a:pt x="181207" y="153329"/>
                </a:lnTo>
                <a:lnTo>
                  <a:pt x="181207" y="209085"/>
                </a:lnTo>
                <a:cubicBezTo>
                  <a:pt x="181207" y="216795"/>
                  <a:pt x="187436" y="223024"/>
                  <a:pt x="195146" y="223024"/>
                </a:cubicBezTo>
                <a:cubicBezTo>
                  <a:pt x="202856" y="223024"/>
                  <a:pt x="209085" y="216795"/>
                  <a:pt x="209085" y="209085"/>
                </a:cubicBezTo>
                <a:lnTo>
                  <a:pt x="209085" y="13939"/>
                </a:lnTo>
                <a:cubicBezTo>
                  <a:pt x="209085" y="6229"/>
                  <a:pt x="202856" y="0"/>
                  <a:pt x="195146" y="0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7" name="Text 5"/>
          <p:cNvSpPr/>
          <p:nvPr/>
        </p:nvSpPr>
        <p:spPr>
          <a:xfrm>
            <a:off x="947854" y="1821366"/>
            <a:ext cx="1412488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Food Waste Audit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7561" y="2230244"/>
            <a:ext cx="3391829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Begin with a comprehensive audit to understand your waste stream and identify opportunities.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7561" y="2886884"/>
            <a:ext cx="3317488" cy="669073"/>
          </a:xfrm>
          <a:custGeom>
            <a:avLst/>
            <a:gdLst/>
            <a:ahLst/>
            <a:cxnLst/>
            <a:rect l="l" t="t" r="r" b="b"/>
            <a:pathLst>
              <a:path w="3317488" h="669073">
                <a:moveTo>
                  <a:pt x="74341" y="0"/>
                </a:moveTo>
                <a:lnTo>
                  <a:pt x="3243147" y="0"/>
                </a:lnTo>
                <a:cubicBezTo>
                  <a:pt x="3284204" y="0"/>
                  <a:pt x="3317488" y="33283"/>
                  <a:pt x="3317488" y="74341"/>
                </a:cubicBezTo>
                <a:lnTo>
                  <a:pt x="3317488" y="594732"/>
                </a:lnTo>
                <a:cubicBezTo>
                  <a:pt x="3317488" y="635790"/>
                  <a:pt x="3284204" y="669073"/>
                  <a:pt x="3243147" y="669073"/>
                </a:cubicBezTo>
                <a:lnTo>
                  <a:pt x="74341" y="669073"/>
                </a:lnTo>
                <a:cubicBezTo>
                  <a:pt x="33283" y="669073"/>
                  <a:pt x="0" y="635790"/>
                  <a:pt x="0" y="594732"/>
                </a:cubicBezTo>
                <a:lnTo>
                  <a:pt x="0" y="74341"/>
                </a:lnTo>
                <a:cubicBezTo>
                  <a:pt x="0" y="33283"/>
                  <a:pt x="33283" y="0"/>
                  <a:pt x="74341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9073" y="2998397"/>
            <a:ext cx="316880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&amp; Categorize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9073" y="3258592"/>
            <a:ext cx="315951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prep waste, spoilage, and plate waste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7561" y="3679784"/>
            <a:ext cx="3317488" cy="669073"/>
          </a:xfrm>
          <a:custGeom>
            <a:avLst/>
            <a:gdLst/>
            <a:ahLst/>
            <a:cxnLst/>
            <a:rect l="l" t="t" r="r" b="b"/>
            <a:pathLst>
              <a:path w="3317488" h="669073">
                <a:moveTo>
                  <a:pt x="74341" y="0"/>
                </a:moveTo>
                <a:lnTo>
                  <a:pt x="3243147" y="0"/>
                </a:lnTo>
                <a:cubicBezTo>
                  <a:pt x="3284204" y="0"/>
                  <a:pt x="3317488" y="33283"/>
                  <a:pt x="3317488" y="74341"/>
                </a:cubicBezTo>
                <a:lnTo>
                  <a:pt x="3317488" y="594732"/>
                </a:lnTo>
                <a:cubicBezTo>
                  <a:pt x="3317488" y="635790"/>
                  <a:pt x="3284204" y="669073"/>
                  <a:pt x="3243147" y="669073"/>
                </a:cubicBezTo>
                <a:lnTo>
                  <a:pt x="74341" y="669073"/>
                </a:lnTo>
                <a:cubicBezTo>
                  <a:pt x="33283" y="669073"/>
                  <a:pt x="0" y="635790"/>
                  <a:pt x="0" y="594732"/>
                </a:cubicBezTo>
                <a:lnTo>
                  <a:pt x="0" y="74341"/>
                </a:lnTo>
                <a:cubicBezTo>
                  <a:pt x="0" y="33283"/>
                  <a:pt x="33283" y="0"/>
                  <a:pt x="74341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9073" y="3791297"/>
            <a:ext cx="316880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Quantify Impact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9073" y="4051492"/>
            <a:ext cx="315951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 and record waste for 1-2 weeks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7561" y="4472684"/>
            <a:ext cx="3317488" cy="669073"/>
          </a:xfrm>
          <a:custGeom>
            <a:avLst/>
            <a:gdLst/>
            <a:ahLst/>
            <a:cxnLst/>
            <a:rect l="l" t="t" r="r" b="b"/>
            <a:pathLst>
              <a:path w="3317488" h="669073">
                <a:moveTo>
                  <a:pt x="74341" y="0"/>
                </a:moveTo>
                <a:lnTo>
                  <a:pt x="3243147" y="0"/>
                </a:lnTo>
                <a:cubicBezTo>
                  <a:pt x="3284204" y="0"/>
                  <a:pt x="3317488" y="33283"/>
                  <a:pt x="3317488" y="74341"/>
                </a:cubicBezTo>
                <a:lnTo>
                  <a:pt x="3317488" y="594732"/>
                </a:lnTo>
                <a:cubicBezTo>
                  <a:pt x="3317488" y="635790"/>
                  <a:pt x="3284204" y="669073"/>
                  <a:pt x="3243147" y="669073"/>
                </a:cubicBezTo>
                <a:lnTo>
                  <a:pt x="74341" y="669073"/>
                </a:lnTo>
                <a:cubicBezTo>
                  <a:pt x="33283" y="669073"/>
                  <a:pt x="0" y="635790"/>
                  <a:pt x="0" y="594732"/>
                </a:cubicBezTo>
                <a:lnTo>
                  <a:pt x="0" y="74341"/>
                </a:lnTo>
                <a:cubicBezTo>
                  <a:pt x="0" y="33283"/>
                  <a:pt x="33283" y="0"/>
                  <a:pt x="74341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9073" y="4584197"/>
            <a:ext cx="316880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Patterns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9073" y="4844392"/>
            <a:ext cx="315951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which menu items generate the most waste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9776" y="1635512"/>
            <a:ext cx="3689195" cy="3754244"/>
          </a:xfrm>
          <a:custGeom>
            <a:avLst/>
            <a:gdLst/>
            <a:ahLst/>
            <a:cxnLst/>
            <a:rect l="l" t="t" r="r" b="b"/>
            <a:pathLst>
              <a:path w="3689195" h="3754244">
                <a:moveTo>
                  <a:pt x="74337" y="0"/>
                </a:moveTo>
                <a:lnTo>
                  <a:pt x="3614858" y="0"/>
                </a:lnTo>
                <a:cubicBezTo>
                  <a:pt x="3655913" y="0"/>
                  <a:pt x="3689195" y="33282"/>
                  <a:pt x="3689195" y="74337"/>
                </a:cubicBezTo>
                <a:lnTo>
                  <a:pt x="3689195" y="3679907"/>
                </a:lnTo>
                <a:cubicBezTo>
                  <a:pt x="3689195" y="3720962"/>
                  <a:pt x="3655913" y="3754244"/>
                  <a:pt x="3614858" y="3754244"/>
                </a:cubicBezTo>
                <a:lnTo>
                  <a:pt x="74337" y="3754244"/>
                </a:lnTo>
                <a:cubicBezTo>
                  <a:pt x="33282" y="3754244"/>
                  <a:pt x="0" y="3720962"/>
                  <a:pt x="0" y="3679907"/>
                </a:cubicBezTo>
                <a:lnTo>
                  <a:pt x="0" y="74337"/>
                </a:lnTo>
                <a:cubicBezTo>
                  <a:pt x="0" y="33309"/>
                  <a:pt x="33309" y="0"/>
                  <a:pt x="743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878" dist="929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63508" y="1839951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66341" y="26136"/>
                </a:moveTo>
                <a:cubicBezTo>
                  <a:pt x="86466" y="-8712"/>
                  <a:pt x="136777" y="-8712"/>
                  <a:pt x="156901" y="26136"/>
                </a:cubicBezTo>
                <a:lnTo>
                  <a:pt x="173149" y="54275"/>
                </a:lnTo>
                <a:lnTo>
                  <a:pt x="185215" y="47306"/>
                </a:lnTo>
                <a:cubicBezTo>
                  <a:pt x="188874" y="45171"/>
                  <a:pt x="193448" y="45476"/>
                  <a:pt x="196802" y="48046"/>
                </a:cubicBezTo>
                <a:cubicBezTo>
                  <a:pt x="200156" y="50616"/>
                  <a:pt x="201637" y="54972"/>
                  <a:pt x="200548" y="59067"/>
                </a:cubicBezTo>
                <a:lnTo>
                  <a:pt x="190311" y="97138"/>
                </a:lnTo>
                <a:cubicBezTo>
                  <a:pt x="188830" y="102713"/>
                  <a:pt x="183080" y="106024"/>
                  <a:pt x="177505" y="104543"/>
                </a:cubicBezTo>
                <a:lnTo>
                  <a:pt x="139434" y="94350"/>
                </a:lnTo>
                <a:cubicBezTo>
                  <a:pt x="135339" y="93261"/>
                  <a:pt x="132334" y="89820"/>
                  <a:pt x="131767" y="85638"/>
                </a:cubicBezTo>
                <a:cubicBezTo>
                  <a:pt x="131201" y="81456"/>
                  <a:pt x="133248" y="77318"/>
                  <a:pt x="136907" y="75227"/>
                </a:cubicBezTo>
                <a:lnTo>
                  <a:pt x="148973" y="68258"/>
                </a:lnTo>
                <a:lnTo>
                  <a:pt x="132726" y="40118"/>
                </a:lnTo>
                <a:cubicBezTo>
                  <a:pt x="123317" y="23871"/>
                  <a:pt x="99882" y="23871"/>
                  <a:pt x="90473" y="40118"/>
                </a:cubicBezTo>
                <a:lnTo>
                  <a:pt x="88164" y="44082"/>
                </a:lnTo>
                <a:cubicBezTo>
                  <a:pt x="84331" y="50747"/>
                  <a:pt x="75793" y="53012"/>
                  <a:pt x="69129" y="49179"/>
                </a:cubicBezTo>
                <a:cubicBezTo>
                  <a:pt x="62464" y="45345"/>
                  <a:pt x="60199" y="36808"/>
                  <a:pt x="64032" y="30100"/>
                </a:cubicBezTo>
                <a:lnTo>
                  <a:pt x="66341" y="26136"/>
                </a:lnTo>
                <a:close/>
                <a:moveTo>
                  <a:pt x="195887" y="121574"/>
                </a:moveTo>
                <a:cubicBezTo>
                  <a:pt x="202551" y="117741"/>
                  <a:pt x="211089" y="120006"/>
                  <a:pt x="214922" y="126671"/>
                </a:cubicBezTo>
                <a:lnTo>
                  <a:pt x="217231" y="130635"/>
                </a:lnTo>
                <a:cubicBezTo>
                  <a:pt x="237355" y="165482"/>
                  <a:pt x="212222" y="209042"/>
                  <a:pt x="171973" y="209042"/>
                </a:cubicBezTo>
                <a:lnTo>
                  <a:pt x="139477" y="209042"/>
                </a:lnTo>
                <a:lnTo>
                  <a:pt x="139477" y="222981"/>
                </a:lnTo>
                <a:cubicBezTo>
                  <a:pt x="139477" y="227206"/>
                  <a:pt x="136951" y="231039"/>
                  <a:pt x="133031" y="232651"/>
                </a:cubicBezTo>
                <a:cubicBezTo>
                  <a:pt x="129110" y="234263"/>
                  <a:pt x="124624" y="233392"/>
                  <a:pt x="121618" y="230386"/>
                </a:cubicBezTo>
                <a:lnTo>
                  <a:pt x="93740" y="202508"/>
                </a:lnTo>
                <a:cubicBezTo>
                  <a:pt x="89645" y="198413"/>
                  <a:pt x="89645" y="191792"/>
                  <a:pt x="93740" y="187741"/>
                </a:cubicBezTo>
                <a:lnTo>
                  <a:pt x="121618" y="159863"/>
                </a:lnTo>
                <a:cubicBezTo>
                  <a:pt x="124624" y="156858"/>
                  <a:pt x="129110" y="155986"/>
                  <a:pt x="133031" y="157598"/>
                </a:cubicBezTo>
                <a:cubicBezTo>
                  <a:pt x="136951" y="159210"/>
                  <a:pt x="139477" y="163043"/>
                  <a:pt x="139477" y="167268"/>
                </a:cubicBezTo>
                <a:lnTo>
                  <a:pt x="139477" y="181207"/>
                </a:lnTo>
                <a:lnTo>
                  <a:pt x="171973" y="181207"/>
                </a:lnTo>
                <a:cubicBezTo>
                  <a:pt x="190747" y="181207"/>
                  <a:pt x="202508" y="160865"/>
                  <a:pt x="193099" y="144617"/>
                </a:cubicBezTo>
                <a:lnTo>
                  <a:pt x="190790" y="140653"/>
                </a:lnTo>
                <a:cubicBezTo>
                  <a:pt x="186957" y="133989"/>
                  <a:pt x="189222" y="125451"/>
                  <a:pt x="195887" y="121618"/>
                </a:cubicBezTo>
                <a:close/>
                <a:moveTo>
                  <a:pt x="22215" y="102539"/>
                </a:moveTo>
                <a:lnTo>
                  <a:pt x="10149" y="95569"/>
                </a:lnTo>
                <a:cubicBezTo>
                  <a:pt x="6490" y="93435"/>
                  <a:pt x="4443" y="89340"/>
                  <a:pt x="5009" y="85159"/>
                </a:cubicBezTo>
                <a:cubicBezTo>
                  <a:pt x="5576" y="80977"/>
                  <a:pt x="8581" y="77536"/>
                  <a:pt x="12676" y="76447"/>
                </a:cubicBezTo>
                <a:lnTo>
                  <a:pt x="50747" y="66210"/>
                </a:lnTo>
                <a:cubicBezTo>
                  <a:pt x="56322" y="64729"/>
                  <a:pt x="62072" y="68040"/>
                  <a:pt x="63553" y="73615"/>
                </a:cubicBezTo>
                <a:lnTo>
                  <a:pt x="73746" y="111686"/>
                </a:lnTo>
                <a:cubicBezTo>
                  <a:pt x="74835" y="115781"/>
                  <a:pt x="73354" y="120093"/>
                  <a:pt x="70000" y="122707"/>
                </a:cubicBezTo>
                <a:cubicBezTo>
                  <a:pt x="66646" y="125321"/>
                  <a:pt x="62072" y="125582"/>
                  <a:pt x="58413" y="123447"/>
                </a:cubicBezTo>
                <a:lnTo>
                  <a:pt x="46347" y="116478"/>
                </a:lnTo>
                <a:lnTo>
                  <a:pt x="30100" y="144617"/>
                </a:lnTo>
                <a:cubicBezTo>
                  <a:pt x="20691" y="160865"/>
                  <a:pt x="32452" y="181207"/>
                  <a:pt x="51226" y="181207"/>
                </a:cubicBezTo>
                <a:lnTo>
                  <a:pt x="55843" y="181207"/>
                </a:lnTo>
                <a:cubicBezTo>
                  <a:pt x="63553" y="181207"/>
                  <a:pt x="69782" y="187436"/>
                  <a:pt x="69782" y="195146"/>
                </a:cubicBezTo>
                <a:cubicBezTo>
                  <a:pt x="69782" y="202856"/>
                  <a:pt x="63553" y="209085"/>
                  <a:pt x="55843" y="209085"/>
                </a:cubicBezTo>
                <a:lnTo>
                  <a:pt x="51226" y="209085"/>
                </a:lnTo>
                <a:cubicBezTo>
                  <a:pt x="11021" y="209085"/>
                  <a:pt x="-14113" y="165526"/>
                  <a:pt x="6011" y="130678"/>
                </a:cubicBezTo>
                <a:lnTo>
                  <a:pt x="22215" y="102539"/>
                </a:ln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20" name="Text 18"/>
          <p:cNvSpPr/>
          <p:nvPr/>
        </p:nvSpPr>
        <p:spPr>
          <a:xfrm>
            <a:off x="4825923" y="1821366"/>
            <a:ext cx="1747024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Composting Programs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35630" y="2230244"/>
            <a:ext cx="3391829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Divert 30-60% of waste from landfills by composting organic materials into nutrient-rich soil.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35630" y="2824976"/>
            <a:ext cx="3317488" cy="854927"/>
          </a:xfrm>
          <a:custGeom>
            <a:avLst/>
            <a:gdLst/>
            <a:ahLst/>
            <a:cxnLst/>
            <a:rect l="l" t="t" r="r" b="b"/>
            <a:pathLst>
              <a:path w="3317488" h="854927">
                <a:moveTo>
                  <a:pt x="74344" y="0"/>
                </a:moveTo>
                <a:lnTo>
                  <a:pt x="3243143" y="0"/>
                </a:lnTo>
                <a:cubicBezTo>
                  <a:pt x="3284203" y="0"/>
                  <a:pt x="3317488" y="33285"/>
                  <a:pt x="3317488" y="74344"/>
                </a:cubicBezTo>
                <a:lnTo>
                  <a:pt x="3317488" y="780582"/>
                </a:lnTo>
                <a:cubicBezTo>
                  <a:pt x="3317488" y="821642"/>
                  <a:pt x="3284203" y="854927"/>
                  <a:pt x="3243143" y="854927"/>
                </a:cubicBezTo>
                <a:lnTo>
                  <a:pt x="74344" y="854927"/>
                </a:lnTo>
                <a:cubicBezTo>
                  <a:pt x="33285" y="854927"/>
                  <a:pt x="0" y="821642"/>
                  <a:pt x="0" y="780582"/>
                </a:cubicBezTo>
                <a:lnTo>
                  <a:pt x="0" y="74344"/>
                </a:lnTo>
                <a:cubicBezTo>
                  <a:pt x="0" y="33313"/>
                  <a:pt x="33313" y="0"/>
                  <a:pt x="74344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47142" y="2936488"/>
            <a:ext cx="316880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On-Site Composting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47142" y="3196683"/>
            <a:ext cx="3159512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space but offers maximum control and cost savings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35630" y="3679902"/>
            <a:ext cx="3317488" cy="854927"/>
          </a:xfrm>
          <a:custGeom>
            <a:avLst/>
            <a:gdLst/>
            <a:ahLst/>
            <a:cxnLst/>
            <a:rect l="l" t="t" r="r" b="b"/>
            <a:pathLst>
              <a:path w="3317488" h="854927">
                <a:moveTo>
                  <a:pt x="74344" y="0"/>
                </a:moveTo>
                <a:lnTo>
                  <a:pt x="3243143" y="0"/>
                </a:lnTo>
                <a:cubicBezTo>
                  <a:pt x="3284203" y="0"/>
                  <a:pt x="3317488" y="33285"/>
                  <a:pt x="3317488" y="74344"/>
                </a:cubicBezTo>
                <a:lnTo>
                  <a:pt x="3317488" y="780582"/>
                </a:lnTo>
                <a:cubicBezTo>
                  <a:pt x="3317488" y="821642"/>
                  <a:pt x="3284203" y="854927"/>
                  <a:pt x="3243143" y="854927"/>
                </a:cubicBezTo>
                <a:lnTo>
                  <a:pt x="74344" y="854927"/>
                </a:lnTo>
                <a:cubicBezTo>
                  <a:pt x="33285" y="854927"/>
                  <a:pt x="0" y="821642"/>
                  <a:pt x="0" y="780582"/>
                </a:cubicBezTo>
                <a:lnTo>
                  <a:pt x="0" y="74344"/>
                </a:lnTo>
                <a:cubicBezTo>
                  <a:pt x="0" y="33313"/>
                  <a:pt x="33313" y="0"/>
                  <a:pt x="74344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47142" y="3791415"/>
            <a:ext cx="316880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with Facilities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47142" y="4051610"/>
            <a:ext cx="3159512" cy="371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composting services provide bins and scheduled pickups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35630" y="4534829"/>
            <a:ext cx="3317488" cy="669073"/>
          </a:xfrm>
          <a:custGeom>
            <a:avLst/>
            <a:gdLst/>
            <a:ahLst/>
            <a:cxnLst/>
            <a:rect l="l" t="t" r="r" b="b"/>
            <a:pathLst>
              <a:path w="3317488" h="669073">
                <a:moveTo>
                  <a:pt x="74341" y="0"/>
                </a:moveTo>
                <a:lnTo>
                  <a:pt x="3243147" y="0"/>
                </a:lnTo>
                <a:cubicBezTo>
                  <a:pt x="3284204" y="0"/>
                  <a:pt x="3317488" y="33283"/>
                  <a:pt x="3317488" y="74341"/>
                </a:cubicBezTo>
                <a:lnTo>
                  <a:pt x="3317488" y="594732"/>
                </a:lnTo>
                <a:cubicBezTo>
                  <a:pt x="3317488" y="635790"/>
                  <a:pt x="3284204" y="669073"/>
                  <a:pt x="3243147" y="669073"/>
                </a:cubicBezTo>
                <a:lnTo>
                  <a:pt x="74341" y="669073"/>
                </a:lnTo>
                <a:cubicBezTo>
                  <a:pt x="33283" y="669073"/>
                  <a:pt x="0" y="635790"/>
                  <a:pt x="0" y="594732"/>
                </a:cubicBezTo>
                <a:lnTo>
                  <a:pt x="0" y="74341"/>
                </a:lnTo>
                <a:cubicBezTo>
                  <a:pt x="0" y="33283"/>
                  <a:pt x="33283" y="0"/>
                  <a:pt x="74341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47142" y="4646341"/>
            <a:ext cx="316880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Staff Training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47142" y="4906537"/>
            <a:ext cx="315951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Educate on proper sorting to avoid contamination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27962" y="1635512"/>
            <a:ext cx="3689195" cy="3754244"/>
          </a:xfrm>
          <a:custGeom>
            <a:avLst/>
            <a:gdLst/>
            <a:ahLst/>
            <a:cxnLst/>
            <a:rect l="l" t="t" r="r" b="b"/>
            <a:pathLst>
              <a:path w="3689195" h="3754244">
                <a:moveTo>
                  <a:pt x="74337" y="0"/>
                </a:moveTo>
                <a:lnTo>
                  <a:pt x="3614858" y="0"/>
                </a:lnTo>
                <a:cubicBezTo>
                  <a:pt x="3655913" y="0"/>
                  <a:pt x="3689195" y="33282"/>
                  <a:pt x="3689195" y="74337"/>
                </a:cubicBezTo>
                <a:lnTo>
                  <a:pt x="3689195" y="3679907"/>
                </a:lnTo>
                <a:cubicBezTo>
                  <a:pt x="3689195" y="3720962"/>
                  <a:pt x="3655913" y="3754244"/>
                  <a:pt x="3614858" y="3754244"/>
                </a:cubicBezTo>
                <a:lnTo>
                  <a:pt x="74337" y="3754244"/>
                </a:lnTo>
                <a:cubicBezTo>
                  <a:pt x="33282" y="3754244"/>
                  <a:pt x="0" y="3720962"/>
                  <a:pt x="0" y="3679907"/>
                </a:cubicBezTo>
                <a:lnTo>
                  <a:pt x="0" y="74337"/>
                </a:lnTo>
                <a:cubicBezTo>
                  <a:pt x="0" y="33309"/>
                  <a:pt x="33309" y="0"/>
                  <a:pt x="7433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878" dist="929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41693" y="1839951"/>
            <a:ext cx="223024" cy="223024"/>
          </a:xfrm>
          <a:custGeom>
            <a:avLst/>
            <a:gdLst/>
            <a:ahLst/>
            <a:cxnLst/>
            <a:rect l="l" t="t" r="r" b="b"/>
            <a:pathLst>
              <a:path w="223024" h="223024">
                <a:moveTo>
                  <a:pt x="104978" y="37940"/>
                </a:moveTo>
                <a:lnTo>
                  <a:pt x="111512" y="46957"/>
                </a:lnTo>
                <a:lnTo>
                  <a:pt x="118046" y="37940"/>
                </a:lnTo>
                <a:cubicBezTo>
                  <a:pt x="128936" y="22869"/>
                  <a:pt x="146447" y="13939"/>
                  <a:pt x="165047" y="13939"/>
                </a:cubicBezTo>
                <a:cubicBezTo>
                  <a:pt x="197063" y="13939"/>
                  <a:pt x="223024" y="39900"/>
                  <a:pt x="223024" y="71917"/>
                </a:cubicBezTo>
                <a:lnTo>
                  <a:pt x="223024" y="73049"/>
                </a:lnTo>
                <a:cubicBezTo>
                  <a:pt x="223024" y="121923"/>
                  <a:pt x="162085" y="178681"/>
                  <a:pt x="130286" y="202943"/>
                </a:cubicBezTo>
                <a:cubicBezTo>
                  <a:pt x="124885" y="207038"/>
                  <a:pt x="118264" y="209085"/>
                  <a:pt x="111512" y="209085"/>
                </a:cubicBezTo>
                <a:cubicBezTo>
                  <a:pt x="104760" y="209085"/>
                  <a:pt x="98096" y="207082"/>
                  <a:pt x="92738" y="202943"/>
                </a:cubicBezTo>
                <a:cubicBezTo>
                  <a:pt x="60940" y="178681"/>
                  <a:pt x="0" y="121923"/>
                  <a:pt x="0" y="73049"/>
                </a:cubicBezTo>
                <a:lnTo>
                  <a:pt x="0" y="71917"/>
                </a:lnTo>
                <a:cubicBezTo>
                  <a:pt x="0" y="39900"/>
                  <a:pt x="25961" y="13939"/>
                  <a:pt x="57978" y="13939"/>
                </a:cubicBezTo>
                <a:cubicBezTo>
                  <a:pt x="76578" y="13939"/>
                  <a:pt x="94088" y="22869"/>
                  <a:pt x="104978" y="37940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33" name="Text 31"/>
          <p:cNvSpPr/>
          <p:nvPr/>
        </p:nvSpPr>
        <p:spPr>
          <a:xfrm>
            <a:off x="8704108" y="1821366"/>
            <a:ext cx="1412488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Donation &amp; Reuse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13815" y="2230244"/>
            <a:ext cx="3391829" cy="48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3C3C3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with food banks to donate surplus, addressing food insecurity while reducing waste.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13815" y="2886884"/>
            <a:ext cx="3317488" cy="669073"/>
          </a:xfrm>
          <a:custGeom>
            <a:avLst/>
            <a:gdLst/>
            <a:ahLst/>
            <a:cxnLst/>
            <a:rect l="l" t="t" r="r" b="b"/>
            <a:pathLst>
              <a:path w="3317488" h="669073">
                <a:moveTo>
                  <a:pt x="74341" y="0"/>
                </a:moveTo>
                <a:lnTo>
                  <a:pt x="3243147" y="0"/>
                </a:lnTo>
                <a:cubicBezTo>
                  <a:pt x="3284204" y="0"/>
                  <a:pt x="3317488" y="33283"/>
                  <a:pt x="3317488" y="74341"/>
                </a:cubicBezTo>
                <a:lnTo>
                  <a:pt x="3317488" y="594732"/>
                </a:lnTo>
                <a:cubicBezTo>
                  <a:pt x="3317488" y="635790"/>
                  <a:pt x="3284204" y="669073"/>
                  <a:pt x="3243147" y="669073"/>
                </a:cubicBezTo>
                <a:lnTo>
                  <a:pt x="74341" y="669073"/>
                </a:lnTo>
                <a:cubicBezTo>
                  <a:pt x="33283" y="669073"/>
                  <a:pt x="0" y="635790"/>
                  <a:pt x="0" y="594732"/>
                </a:cubicBezTo>
                <a:lnTo>
                  <a:pt x="0" y="74341"/>
                </a:lnTo>
                <a:cubicBezTo>
                  <a:pt x="0" y="33283"/>
                  <a:pt x="33283" y="0"/>
                  <a:pt x="74341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425327" y="2998397"/>
            <a:ext cx="316880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 Donation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25327" y="3258592"/>
            <a:ext cx="315951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Safe, prepared food to local shelters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13815" y="3679784"/>
            <a:ext cx="3317488" cy="669073"/>
          </a:xfrm>
          <a:custGeom>
            <a:avLst/>
            <a:gdLst/>
            <a:ahLst/>
            <a:cxnLst/>
            <a:rect l="l" t="t" r="r" b="b"/>
            <a:pathLst>
              <a:path w="3317488" h="669073">
                <a:moveTo>
                  <a:pt x="74341" y="0"/>
                </a:moveTo>
                <a:lnTo>
                  <a:pt x="3243147" y="0"/>
                </a:lnTo>
                <a:cubicBezTo>
                  <a:pt x="3284204" y="0"/>
                  <a:pt x="3317488" y="33283"/>
                  <a:pt x="3317488" y="74341"/>
                </a:cubicBezTo>
                <a:lnTo>
                  <a:pt x="3317488" y="594732"/>
                </a:lnTo>
                <a:cubicBezTo>
                  <a:pt x="3317488" y="635790"/>
                  <a:pt x="3284204" y="669073"/>
                  <a:pt x="3243147" y="669073"/>
                </a:cubicBezTo>
                <a:lnTo>
                  <a:pt x="74341" y="669073"/>
                </a:lnTo>
                <a:cubicBezTo>
                  <a:pt x="33283" y="669073"/>
                  <a:pt x="0" y="635790"/>
                  <a:pt x="0" y="594732"/>
                </a:cubicBezTo>
                <a:lnTo>
                  <a:pt x="0" y="74341"/>
                </a:lnTo>
                <a:cubicBezTo>
                  <a:pt x="0" y="33283"/>
                  <a:pt x="33283" y="0"/>
                  <a:pt x="74341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425327" y="3791297"/>
            <a:ext cx="316880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Animal Feed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25327" y="4051492"/>
            <a:ext cx="315951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waste can be used as animal feed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13815" y="4472684"/>
            <a:ext cx="3317488" cy="669073"/>
          </a:xfrm>
          <a:custGeom>
            <a:avLst/>
            <a:gdLst/>
            <a:ahLst/>
            <a:cxnLst/>
            <a:rect l="l" t="t" r="r" b="b"/>
            <a:pathLst>
              <a:path w="3317488" h="669073">
                <a:moveTo>
                  <a:pt x="74341" y="0"/>
                </a:moveTo>
                <a:lnTo>
                  <a:pt x="3243147" y="0"/>
                </a:lnTo>
                <a:cubicBezTo>
                  <a:pt x="3284204" y="0"/>
                  <a:pt x="3317488" y="33283"/>
                  <a:pt x="3317488" y="74341"/>
                </a:cubicBezTo>
                <a:lnTo>
                  <a:pt x="3317488" y="594732"/>
                </a:lnTo>
                <a:cubicBezTo>
                  <a:pt x="3317488" y="635790"/>
                  <a:pt x="3284204" y="669073"/>
                  <a:pt x="3243147" y="669073"/>
                </a:cubicBezTo>
                <a:lnTo>
                  <a:pt x="74341" y="669073"/>
                </a:lnTo>
                <a:cubicBezTo>
                  <a:pt x="33283" y="669073"/>
                  <a:pt x="0" y="635790"/>
                  <a:pt x="0" y="594732"/>
                </a:cubicBezTo>
                <a:lnTo>
                  <a:pt x="0" y="74341"/>
                </a:lnTo>
                <a:cubicBezTo>
                  <a:pt x="0" y="33283"/>
                  <a:pt x="33283" y="0"/>
                  <a:pt x="74341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425327" y="4584197"/>
            <a:ext cx="3168805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Creative Reuse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25327" y="4844392"/>
            <a:ext cx="3159512" cy="185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4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trimmings for stocks, stale bread for croutons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71707" y="5575610"/>
            <a:ext cx="5631366" cy="1040780"/>
          </a:xfrm>
          <a:custGeom>
            <a:avLst/>
            <a:gdLst/>
            <a:ahLst/>
            <a:cxnLst/>
            <a:rect l="l" t="t" r="r" b="b"/>
            <a:pathLst>
              <a:path w="5631366" h="1040780">
                <a:moveTo>
                  <a:pt x="74343" y="0"/>
                </a:moveTo>
                <a:lnTo>
                  <a:pt x="5557023" y="0"/>
                </a:lnTo>
                <a:cubicBezTo>
                  <a:pt x="5598081" y="0"/>
                  <a:pt x="5631366" y="33284"/>
                  <a:pt x="5631366" y="74343"/>
                </a:cubicBezTo>
                <a:lnTo>
                  <a:pt x="5631366" y="966438"/>
                </a:lnTo>
                <a:cubicBezTo>
                  <a:pt x="5631366" y="1007496"/>
                  <a:pt x="5598081" y="1040780"/>
                  <a:pt x="5557023" y="1040780"/>
                </a:cubicBezTo>
                <a:lnTo>
                  <a:pt x="74343" y="1040780"/>
                </a:lnTo>
                <a:cubicBezTo>
                  <a:pt x="33284" y="1040780"/>
                  <a:pt x="0" y="1007496"/>
                  <a:pt x="0" y="966438"/>
                </a:cubicBezTo>
                <a:lnTo>
                  <a:pt x="0" y="74343"/>
                </a:lnTo>
                <a:cubicBezTo>
                  <a:pt x="0" y="33312"/>
                  <a:pt x="33312" y="0"/>
                  <a:pt x="74343" y="0"/>
                </a:cubicBezTo>
                <a:close/>
              </a:path>
            </a:pathLst>
          </a:custGeom>
          <a:solidFill>
            <a:srgbClr val="6B7A5A"/>
          </a:solidFill>
          <a:ln/>
          <a:effectLst>
            <a:outerShdw blurRad="27878" dist="929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57561" y="5835805"/>
            <a:ext cx="1877122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Financial Impact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57561" y="6133171"/>
            <a:ext cx="1858537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Manhatta case study results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312502" y="5761463"/>
            <a:ext cx="1505415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512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461185" y="6207512"/>
            <a:ext cx="1356732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71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 cost reduction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88927" y="5575610"/>
            <a:ext cx="5631366" cy="1040780"/>
          </a:xfrm>
          <a:custGeom>
            <a:avLst/>
            <a:gdLst/>
            <a:ahLst/>
            <a:cxnLst/>
            <a:rect l="l" t="t" r="r" b="b"/>
            <a:pathLst>
              <a:path w="5631366" h="1040780">
                <a:moveTo>
                  <a:pt x="74343" y="0"/>
                </a:moveTo>
                <a:lnTo>
                  <a:pt x="5557023" y="0"/>
                </a:lnTo>
                <a:cubicBezTo>
                  <a:pt x="5598081" y="0"/>
                  <a:pt x="5631366" y="33284"/>
                  <a:pt x="5631366" y="74343"/>
                </a:cubicBezTo>
                <a:lnTo>
                  <a:pt x="5631366" y="966438"/>
                </a:lnTo>
                <a:cubicBezTo>
                  <a:pt x="5631366" y="1007496"/>
                  <a:pt x="5598081" y="1040780"/>
                  <a:pt x="5557023" y="1040780"/>
                </a:cubicBezTo>
                <a:lnTo>
                  <a:pt x="74343" y="1040780"/>
                </a:lnTo>
                <a:cubicBezTo>
                  <a:pt x="33284" y="1040780"/>
                  <a:pt x="0" y="1007496"/>
                  <a:pt x="0" y="966438"/>
                </a:cubicBezTo>
                <a:lnTo>
                  <a:pt x="0" y="74343"/>
                </a:lnTo>
                <a:cubicBezTo>
                  <a:pt x="0" y="33312"/>
                  <a:pt x="33312" y="0"/>
                  <a:pt x="74343" y="0"/>
                </a:cubicBezTo>
                <a:close/>
              </a:path>
            </a:pathLst>
          </a:custGeom>
          <a:solidFill>
            <a:srgbClr val="B47B60"/>
          </a:solidFill>
          <a:ln/>
          <a:effectLst>
            <a:outerShdw blurRad="27878" dist="929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74780" y="5835805"/>
            <a:ext cx="1960756" cy="26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3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Environmental Benefit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74780" y="6133171"/>
            <a:ext cx="1942171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Waste diverted from landfills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066531" y="5761463"/>
            <a:ext cx="1570463" cy="44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512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30-60%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215214" y="6207512"/>
            <a:ext cx="1421780" cy="22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71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 composting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haal.net/758e8eaa3055cc2616eade8b1907de858b543e44.jpg"/>
          <p:cNvPicPr>
            <a:picLocks noChangeAspect="1"/>
          </p:cNvPicPr>
          <p:nvPr/>
        </p:nvPicPr>
        <p:blipFill>
          <a:blip r:embed="rId3"/>
          <a:srcRect t="4286" b="42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B7A5A">
                  <a:alpha val="90000"/>
                </a:srgbClr>
              </a:gs>
              <a:gs pos="50000">
                <a:srgbClr val="6B7A5A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287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5" name="Text 2"/>
          <p:cNvSpPr/>
          <p:nvPr/>
        </p:nvSpPr>
        <p:spPr>
          <a:xfrm>
            <a:off x="295275" y="1228725"/>
            <a:ext cx="933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95400" y="1457325"/>
            <a:ext cx="1838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kern="0" spc="180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2412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Measuring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Success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5434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88632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8F6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metrics and continuous improvement for sustainable restaurant operations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B47B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Tracking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C3C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Metrics that Matter: KPIs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indicators for measuring operational and environmental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76400"/>
            <a:ext cx="3686175" cy="3695700"/>
          </a:xfrm>
          <a:custGeom>
            <a:avLst/>
            <a:gdLst/>
            <a:ahLst/>
            <a:cxnLst/>
            <a:rect l="l" t="t" r="r" b="b"/>
            <a:pathLst>
              <a:path w="3686175" h="36957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3619507"/>
                </a:lnTo>
                <a:cubicBezTo>
                  <a:pt x="3686175" y="3661587"/>
                  <a:pt x="3652062" y="3695700"/>
                  <a:pt x="3609982" y="3695700"/>
                </a:cubicBezTo>
                <a:lnTo>
                  <a:pt x="76193" y="3695700"/>
                </a:lnTo>
                <a:cubicBezTo>
                  <a:pt x="34113" y="3695700"/>
                  <a:pt x="0" y="3661587"/>
                  <a:pt x="0" y="36195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0075" y="1885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6B7A5A"/>
          </a:solidFill>
          <a:ln/>
        </p:spPr>
      </p:sp>
      <p:sp>
        <p:nvSpPr>
          <p:cNvPr id="7" name="Text 5"/>
          <p:cNvSpPr/>
          <p:nvPr/>
        </p:nvSpPr>
        <p:spPr>
          <a:xfrm>
            <a:off x="971550" y="186690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Operational Metrics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" y="2330407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44707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Turnover Rate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711407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3-4 (casual), 1-2 (fine dining)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40007"/>
            <a:ext cx="3133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C3C3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during peak periods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3295529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09829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Check Size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676529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trends and upselling success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905129"/>
            <a:ext cx="3133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C3C3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by daypart and server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4260652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6B7A5A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374952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Lifetime Value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641652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value of repeat customers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870252"/>
            <a:ext cx="3133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C3C3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 with loyalty programs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54460" y="1676400"/>
            <a:ext cx="3686175" cy="3695700"/>
          </a:xfrm>
          <a:custGeom>
            <a:avLst/>
            <a:gdLst/>
            <a:ahLst/>
            <a:cxnLst/>
            <a:rect l="l" t="t" r="r" b="b"/>
            <a:pathLst>
              <a:path w="3686175" h="36957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3619507"/>
                </a:lnTo>
                <a:cubicBezTo>
                  <a:pt x="3686175" y="3661587"/>
                  <a:pt x="3652062" y="3695700"/>
                  <a:pt x="3609982" y="3695700"/>
                </a:cubicBezTo>
                <a:lnTo>
                  <a:pt x="76193" y="3695700"/>
                </a:lnTo>
                <a:cubicBezTo>
                  <a:pt x="34113" y="3695700"/>
                  <a:pt x="0" y="3661587"/>
                  <a:pt x="0" y="36195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73535" y="1885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0428" y="2991"/>
                </a:moveTo>
                <a:cubicBezTo>
                  <a:pt x="213286" y="268"/>
                  <a:pt x="217438" y="-714"/>
                  <a:pt x="221278" y="536"/>
                </a:cubicBezTo>
                <a:cubicBezTo>
                  <a:pt x="225653" y="2009"/>
                  <a:pt x="228600" y="6117"/>
                  <a:pt x="228600" y="10716"/>
                </a:cubicBezTo>
                <a:lnTo>
                  <a:pt x="228600" y="94164"/>
                </a:lnTo>
                <a:cubicBezTo>
                  <a:pt x="228600" y="152742"/>
                  <a:pt x="180335" y="200025"/>
                  <a:pt x="121980" y="200025"/>
                </a:cubicBezTo>
                <a:cubicBezTo>
                  <a:pt x="87600" y="200025"/>
                  <a:pt x="57954" y="177924"/>
                  <a:pt x="47193" y="147027"/>
                </a:cubicBezTo>
                <a:cubicBezTo>
                  <a:pt x="31388" y="160779"/>
                  <a:pt x="21431" y="181005"/>
                  <a:pt x="21431" y="203597"/>
                </a:cubicBezTo>
                <a:cubicBezTo>
                  <a:pt x="21431" y="209535"/>
                  <a:pt x="16654" y="214313"/>
                  <a:pt x="10716" y="214313"/>
                </a:cubicBezTo>
                <a:cubicBezTo>
                  <a:pt x="4777" y="214313"/>
                  <a:pt x="0" y="209535"/>
                  <a:pt x="0" y="203597"/>
                </a:cubicBezTo>
                <a:cubicBezTo>
                  <a:pt x="0" y="170155"/>
                  <a:pt x="17056" y="140687"/>
                  <a:pt x="42907" y="123364"/>
                </a:cubicBezTo>
                <a:cubicBezTo>
                  <a:pt x="58668" y="112827"/>
                  <a:pt x="77465" y="107156"/>
                  <a:pt x="96441" y="107156"/>
                </a:cubicBezTo>
                <a:lnTo>
                  <a:pt x="132159" y="107156"/>
                </a:lnTo>
                <a:cubicBezTo>
                  <a:pt x="138098" y="107156"/>
                  <a:pt x="142875" y="102379"/>
                  <a:pt x="142875" y="96441"/>
                </a:cubicBezTo>
                <a:cubicBezTo>
                  <a:pt x="142875" y="90502"/>
                  <a:pt x="138098" y="85725"/>
                  <a:pt x="132159" y="85725"/>
                </a:cubicBezTo>
                <a:lnTo>
                  <a:pt x="96441" y="85725"/>
                </a:lnTo>
                <a:cubicBezTo>
                  <a:pt x="78715" y="85725"/>
                  <a:pt x="61927" y="89654"/>
                  <a:pt x="46881" y="96664"/>
                </a:cubicBezTo>
                <a:cubicBezTo>
                  <a:pt x="57284" y="65410"/>
                  <a:pt x="86707" y="42863"/>
                  <a:pt x="121444" y="42863"/>
                </a:cubicBezTo>
                <a:cubicBezTo>
                  <a:pt x="151090" y="42863"/>
                  <a:pt x="173147" y="32995"/>
                  <a:pt x="187836" y="23217"/>
                </a:cubicBezTo>
                <a:cubicBezTo>
                  <a:pt x="196408" y="17502"/>
                  <a:pt x="203686" y="10671"/>
                  <a:pt x="210473" y="2991"/>
                </a:cubicBezTo>
                <a:close/>
              </a:path>
            </a:pathLst>
          </a:custGeom>
          <a:solidFill>
            <a:srgbClr val="B47B6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5010" y="186690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Sustainability Metrics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4960" y="2330407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59260" y="2444707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 Cost 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59260" y="2711407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28-32% of revenue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59260" y="2940007"/>
            <a:ext cx="3133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C3C3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weekly; aim for reduction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44960" y="3295529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59260" y="3409829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Waste Reduction Rate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59260" y="3676529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30-60% diversion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59260" y="3905129"/>
            <a:ext cx="3133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C3C3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composting &amp; donations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44960" y="4260652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B47B60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59260" y="4374952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Consumption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59260" y="4641652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10-15% reduction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59260" y="4870252"/>
            <a:ext cx="3133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C3C3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kWh per cover monthly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27921" y="1676400"/>
            <a:ext cx="3686175" cy="3695700"/>
          </a:xfrm>
          <a:custGeom>
            <a:avLst/>
            <a:gdLst/>
            <a:ahLst/>
            <a:cxnLst/>
            <a:rect l="l" t="t" r="r" b="b"/>
            <a:pathLst>
              <a:path w="3686175" h="36957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3619507"/>
                </a:lnTo>
                <a:cubicBezTo>
                  <a:pt x="3686175" y="3661587"/>
                  <a:pt x="3652062" y="3695700"/>
                  <a:pt x="3609982" y="3695700"/>
                </a:cubicBezTo>
                <a:lnTo>
                  <a:pt x="76193" y="3695700"/>
                </a:lnTo>
                <a:cubicBezTo>
                  <a:pt x="34113" y="3695700"/>
                  <a:pt x="0" y="3661587"/>
                  <a:pt x="0" y="36195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6996" y="1885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3849" y="143723"/>
                </a:moveTo>
                <a:cubicBezTo>
                  <a:pt x="82957" y="156225"/>
                  <a:pt x="97691" y="164306"/>
                  <a:pt x="114300" y="164306"/>
                </a:cubicBezTo>
                <a:cubicBezTo>
                  <a:pt x="130909" y="164306"/>
                  <a:pt x="145643" y="156225"/>
                  <a:pt x="154751" y="143723"/>
                </a:cubicBezTo>
                <a:cubicBezTo>
                  <a:pt x="158234" y="138946"/>
                  <a:pt x="164931" y="137874"/>
                  <a:pt x="169709" y="141357"/>
                </a:cubicBezTo>
                <a:cubicBezTo>
                  <a:pt x="174486" y="144840"/>
                  <a:pt x="175558" y="151537"/>
                  <a:pt x="172075" y="156314"/>
                </a:cubicBezTo>
                <a:cubicBezTo>
                  <a:pt x="159082" y="174129"/>
                  <a:pt x="138053" y="185738"/>
                  <a:pt x="114300" y="185738"/>
                </a:cubicBezTo>
                <a:cubicBezTo>
                  <a:pt x="90547" y="185738"/>
                  <a:pt x="69518" y="174129"/>
                  <a:pt x="56525" y="156314"/>
                </a:cubicBezTo>
                <a:cubicBezTo>
                  <a:pt x="53042" y="151537"/>
                  <a:pt x="54114" y="144840"/>
                  <a:pt x="58891" y="141357"/>
                </a:cubicBezTo>
                <a:cubicBezTo>
                  <a:pt x="63669" y="137874"/>
                  <a:pt x="70366" y="138946"/>
                  <a:pt x="73849" y="143723"/>
                </a:cubicBezTo>
                <a:close/>
                <a:moveTo>
                  <a:pt x="64294" y="92869"/>
                </a:moveTo>
                <a:cubicBezTo>
                  <a:pt x="64294" y="84983"/>
                  <a:pt x="70696" y="78581"/>
                  <a:pt x="78581" y="78581"/>
                </a:cubicBez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lose/>
                <a:moveTo>
                  <a:pt x="150019" y="78581"/>
                </a:move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ubicBezTo>
                  <a:pt x="135731" y="84983"/>
                  <a:pt x="142133" y="78581"/>
                  <a:pt x="150019" y="78581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37" name="Text 35"/>
          <p:cNvSpPr/>
          <p:nvPr/>
        </p:nvSpPr>
        <p:spPr>
          <a:xfrm>
            <a:off x="8718471" y="186690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C3C36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Experience Metrics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18421" y="2330407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432721" y="2444707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Satisfaction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32721" y="2711407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4.5+ stars, 85%+ recommend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32721" y="2940007"/>
            <a:ext cx="3133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C3C3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online reviews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18421" y="3295529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432721" y="3409829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Wait Time Satisfaction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32721" y="3676529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Under 20 min peak wait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32721" y="3905129"/>
            <a:ext cx="3133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C3C3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guests about experience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18421" y="4260652"/>
            <a:ext cx="3305175" cy="876300"/>
          </a:xfrm>
          <a:custGeom>
            <a:avLst/>
            <a:gdLst/>
            <a:ahLst/>
            <a:cxnLst/>
            <a:rect l="l" t="t" r="r" b="b"/>
            <a:pathLst>
              <a:path w="3305175" h="876300">
                <a:moveTo>
                  <a:pt x="76203" y="0"/>
                </a:moveTo>
                <a:lnTo>
                  <a:pt x="3228972" y="0"/>
                </a:lnTo>
                <a:cubicBezTo>
                  <a:pt x="3271058" y="0"/>
                  <a:pt x="3305175" y="34117"/>
                  <a:pt x="3305175" y="76203"/>
                </a:cubicBezTo>
                <a:lnTo>
                  <a:pt x="3305175" y="800097"/>
                </a:lnTo>
                <a:cubicBezTo>
                  <a:pt x="3305175" y="842183"/>
                  <a:pt x="3271058" y="876300"/>
                  <a:pt x="32289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D8A25F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432721" y="4374952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C3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Staff Productivity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32721" y="4641652"/>
            <a:ext cx="314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C3C3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Covers served per server hour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32721" y="4870252"/>
            <a:ext cx="3133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C3C3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efficiency with service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1000" y="5562600"/>
            <a:ext cx="11430000" cy="914400"/>
          </a:xfrm>
          <a:custGeom>
            <a:avLst/>
            <a:gdLst/>
            <a:ahLst/>
            <a:cxnLst/>
            <a:rect l="l" t="t" r="r" b="b"/>
            <a:pathLst>
              <a:path w="11430000" h="9144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838203"/>
                </a:lnTo>
                <a:cubicBezTo>
                  <a:pt x="11430000" y="880285"/>
                  <a:pt x="11395885" y="914400"/>
                  <a:pt x="113538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6B7A5A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71500" y="5753100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Continuous Improvement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71500" y="605790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metrics weekly, adjust strategies monthly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924449" y="5753100"/>
            <a:ext cx="1304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Monthly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62549" y="609600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review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395228" y="5753100"/>
            <a:ext cx="129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Quarterly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433328" y="60960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6F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 adjustment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adsttc.com/e8789e096ec1a3b915dc46b8421671a5514dc196.jpg"/>
          <p:cNvPicPr>
            <a:picLocks noChangeAspect="1"/>
          </p:cNvPicPr>
          <p:nvPr/>
        </p:nvPicPr>
        <p:blipFill>
          <a:blip r:embed="rId3"/>
          <a:srcRect t="6453" b="6453"/>
          <a:stretch/>
        </p:blipFill>
        <p:spPr>
          <a:xfrm>
            <a:off x="0" y="0"/>
            <a:ext cx="12192000" cy="7078928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078928"/>
          </a:xfrm>
          <a:custGeom>
            <a:avLst/>
            <a:gdLst/>
            <a:ahLst/>
            <a:cxnLst/>
            <a:rect l="l" t="t" r="r" b="b"/>
            <a:pathLst>
              <a:path w="12192000" h="7078928">
                <a:moveTo>
                  <a:pt x="0" y="0"/>
                </a:moveTo>
                <a:lnTo>
                  <a:pt x="12192000" y="0"/>
                </a:lnTo>
                <a:lnTo>
                  <a:pt x="12192000" y="7078928"/>
                </a:lnTo>
                <a:lnTo>
                  <a:pt x="0" y="707892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6B7A5A">
                  <a:alpha val="95000"/>
                </a:srgbClr>
              </a:gs>
              <a:gs pos="50000">
                <a:srgbClr val="6B7A5A">
                  <a:alpha val="85000"/>
                </a:srgbClr>
              </a:gs>
              <a:gs pos="100000">
                <a:srgbClr val="B47B60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818542" y="8076"/>
            <a:ext cx="553762" cy="553762"/>
          </a:xfrm>
          <a:custGeom>
            <a:avLst/>
            <a:gdLst/>
            <a:ahLst/>
            <a:cxnLst/>
            <a:rect l="l" t="t" r="r" b="b"/>
            <a:pathLst>
              <a:path w="553762" h="553762">
                <a:moveTo>
                  <a:pt x="553762" y="34610"/>
                </a:moveTo>
                <a:cubicBezTo>
                  <a:pt x="553762" y="151528"/>
                  <a:pt x="470914" y="249085"/>
                  <a:pt x="360811" y="271906"/>
                </a:cubicBezTo>
                <a:cubicBezTo>
                  <a:pt x="352266" y="209067"/>
                  <a:pt x="324037" y="152501"/>
                  <a:pt x="282397" y="108697"/>
                </a:cubicBezTo>
                <a:cubicBezTo>
                  <a:pt x="325768" y="43263"/>
                  <a:pt x="400072" y="0"/>
                  <a:pt x="484542" y="0"/>
                </a:cubicBezTo>
                <a:lnTo>
                  <a:pt x="519152" y="0"/>
                </a:lnTo>
                <a:cubicBezTo>
                  <a:pt x="538296" y="0"/>
                  <a:pt x="553762" y="15466"/>
                  <a:pt x="553762" y="34610"/>
                </a:cubicBezTo>
                <a:close/>
                <a:moveTo>
                  <a:pt x="0" y="103830"/>
                </a:moveTo>
                <a:cubicBezTo>
                  <a:pt x="0" y="84687"/>
                  <a:pt x="15466" y="69220"/>
                  <a:pt x="34610" y="69220"/>
                </a:cubicBezTo>
                <a:lnTo>
                  <a:pt x="69220" y="69220"/>
                </a:lnTo>
                <a:cubicBezTo>
                  <a:pt x="203010" y="69220"/>
                  <a:pt x="311491" y="177701"/>
                  <a:pt x="311491" y="311491"/>
                </a:cubicBezTo>
                <a:lnTo>
                  <a:pt x="311491" y="519152"/>
                </a:lnTo>
                <a:cubicBezTo>
                  <a:pt x="311491" y="538296"/>
                  <a:pt x="296025" y="553762"/>
                  <a:pt x="276881" y="553762"/>
                </a:cubicBezTo>
                <a:cubicBezTo>
                  <a:pt x="257737" y="553762"/>
                  <a:pt x="242271" y="538296"/>
                  <a:pt x="242271" y="519152"/>
                </a:cubicBezTo>
                <a:lnTo>
                  <a:pt x="242271" y="346101"/>
                </a:lnTo>
                <a:cubicBezTo>
                  <a:pt x="108481" y="346101"/>
                  <a:pt x="0" y="237620"/>
                  <a:pt x="0" y="103830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5" name="Text 2"/>
          <p:cNvSpPr/>
          <p:nvPr/>
        </p:nvSpPr>
        <p:spPr>
          <a:xfrm>
            <a:off x="1822224" y="931013"/>
            <a:ext cx="8546398" cy="1384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36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Cultivating Tomorrow's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360" b="1" dirty="0">
                <a:solidFill>
                  <a:srgbClr val="F8F6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Dining Experience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504743" y="2536924"/>
            <a:ext cx="1181360" cy="36917"/>
          </a:xfrm>
          <a:custGeom>
            <a:avLst/>
            <a:gdLst/>
            <a:ahLst/>
            <a:cxnLst/>
            <a:rect l="l" t="t" r="r" b="b"/>
            <a:pathLst>
              <a:path w="1181360" h="36917">
                <a:moveTo>
                  <a:pt x="0" y="0"/>
                </a:moveTo>
                <a:lnTo>
                  <a:pt x="1181360" y="0"/>
                </a:lnTo>
                <a:lnTo>
                  <a:pt x="1181360" y="36917"/>
                </a:lnTo>
                <a:lnTo>
                  <a:pt x="0" y="36917"/>
                </a:lnTo>
                <a:lnTo>
                  <a:pt x="0" y="0"/>
                </a:ln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7" name="Text 4"/>
          <p:cNvSpPr/>
          <p:nvPr/>
        </p:nvSpPr>
        <p:spPr>
          <a:xfrm>
            <a:off x="1905288" y="2795346"/>
            <a:ext cx="8380269" cy="71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44" dirty="0">
                <a:solidFill>
                  <a:srgbClr val="F8F6F2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Sustainable seat management isn't just about filling tables—it's about creating harmony between profitability, customer satisfaction, and environmental stewardship.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14518" y="3699824"/>
            <a:ext cx="8361811" cy="599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53" dirty="0">
                <a:solidFill>
                  <a:srgbClr val="F8F6F2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efficient turn, every reclaimed wood table, every LED bulb contributes to a dining ecosystem that nurtures both business and planet.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960665" y="4595073"/>
            <a:ext cx="2611912" cy="1587452"/>
          </a:xfrm>
          <a:custGeom>
            <a:avLst/>
            <a:gdLst/>
            <a:ahLst/>
            <a:cxnLst/>
            <a:rect l="l" t="t" r="r" b="b"/>
            <a:pathLst>
              <a:path w="2611912" h="1587452">
                <a:moveTo>
                  <a:pt x="73832" y="0"/>
                </a:moveTo>
                <a:lnTo>
                  <a:pt x="2538080" y="0"/>
                </a:lnTo>
                <a:cubicBezTo>
                  <a:pt x="2578856" y="0"/>
                  <a:pt x="2611912" y="33056"/>
                  <a:pt x="2611912" y="73832"/>
                </a:cubicBezTo>
                <a:lnTo>
                  <a:pt x="2611912" y="1513620"/>
                </a:lnTo>
                <a:cubicBezTo>
                  <a:pt x="2611912" y="1554396"/>
                  <a:pt x="2578856" y="1587452"/>
                  <a:pt x="2538080" y="1587452"/>
                </a:cubicBezTo>
                <a:lnTo>
                  <a:pt x="73832" y="1587452"/>
                </a:lnTo>
                <a:cubicBezTo>
                  <a:pt x="33056" y="1587452"/>
                  <a:pt x="0" y="1554396"/>
                  <a:pt x="0" y="1513620"/>
                </a:cubicBezTo>
                <a:lnTo>
                  <a:pt x="0" y="73832"/>
                </a:lnTo>
                <a:cubicBezTo>
                  <a:pt x="0" y="33083"/>
                  <a:pt x="33083" y="0"/>
                  <a:pt x="73832" y="0"/>
                </a:cubicBezTo>
                <a:close/>
              </a:path>
            </a:pathLst>
          </a:custGeom>
          <a:solidFill>
            <a:srgbClr val="F8F6F2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098877" y="4779661"/>
            <a:ext cx="332257" cy="332257"/>
          </a:xfrm>
          <a:custGeom>
            <a:avLst/>
            <a:gdLst/>
            <a:ahLst/>
            <a:cxnLst/>
            <a:rect l="l" t="t" r="r" b="b"/>
            <a:pathLst>
              <a:path w="332257" h="332257">
                <a:moveTo>
                  <a:pt x="41532" y="41532"/>
                </a:moveTo>
                <a:cubicBezTo>
                  <a:pt x="41532" y="30046"/>
                  <a:pt x="32252" y="20766"/>
                  <a:pt x="20766" y="20766"/>
                </a:cubicBezTo>
                <a:cubicBezTo>
                  <a:pt x="9280" y="20766"/>
                  <a:pt x="0" y="30046"/>
                  <a:pt x="0" y="41532"/>
                </a:cubicBezTo>
                <a:lnTo>
                  <a:pt x="0" y="259576"/>
                </a:lnTo>
                <a:cubicBezTo>
                  <a:pt x="0" y="288259"/>
                  <a:pt x="23232" y="311491"/>
                  <a:pt x="51915" y="311491"/>
                </a:cubicBezTo>
                <a:lnTo>
                  <a:pt x="311491" y="311491"/>
                </a:lnTo>
                <a:cubicBezTo>
                  <a:pt x="322978" y="311491"/>
                  <a:pt x="332257" y="302211"/>
                  <a:pt x="332257" y="290725"/>
                </a:cubicBezTo>
                <a:cubicBezTo>
                  <a:pt x="332257" y="279239"/>
                  <a:pt x="322978" y="269959"/>
                  <a:pt x="311491" y="269959"/>
                </a:cubicBezTo>
                <a:lnTo>
                  <a:pt x="51915" y="269959"/>
                </a:lnTo>
                <a:cubicBezTo>
                  <a:pt x="46205" y="269959"/>
                  <a:pt x="41532" y="265287"/>
                  <a:pt x="41532" y="259576"/>
                </a:cubicBezTo>
                <a:lnTo>
                  <a:pt x="41532" y="41532"/>
                </a:lnTo>
                <a:close/>
                <a:moveTo>
                  <a:pt x="305391" y="97730"/>
                </a:moveTo>
                <a:cubicBezTo>
                  <a:pt x="313503" y="89619"/>
                  <a:pt x="313503" y="76445"/>
                  <a:pt x="305391" y="68333"/>
                </a:cubicBezTo>
                <a:cubicBezTo>
                  <a:pt x="297280" y="60222"/>
                  <a:pt x="284106" y="60222"/>
                  <a:pt x="275994" y="68333"/>
                </a:cubicBezTo>
                <a:lnTo>
                  <a:pt x="207661" y="136732"/>
                </a:lnTo>
                <a:lnTo>
                  <a:pt x="170412" y="99547"/>
                </a:lnTo>
                <a:cubicBezTo>
                  <a:pt x="162300" y="91436"/>
                  <a:pt x="149126" y="91436"/>
                  <a:pt x="141015" y="99547"/>
                </a:cubicBezTo>
                <a:lnTo>
                  <a:pt x="78716" y="161846"/>
                </a:lnTo>
                <a:cubicBezTo>
                  <a:pt x="70605" y="169957"/>
                  <a:pt x="70605" y="183131"/>
                  <a:pt x="78716" y="191243"/>
                </a:cubicBezTo>
                <a:cubicBezTo>
                  <a:pt x="86828" y="199354"/>
                  <a:pt x="100002" y="199354"/>
                  <a:pt x="108113" y="191243"/>
                </a:cubicBezTo>
                <a:lnTo>
                  <a:pt x="155746" y="143610"/>
                </a:lnTo>
                <a:lnTo>
                  <a:pt x="192995" y="180860"/>
                </a:lnTo>
                <a:cubicBezTo>
                  <a:pt x="201107" y="188971"/>
                  <a:pt x="214280" y="188971"/>
                  <a:pt x="222392" y="180860"/>
                </a:cubicBezTo>
                <a:lnTo>
                  <a:pt x="305456" y="97795"/>
                </a:ln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11" name="Text 8"/>
          <p:cNvSpPr/>
          <p:nvPr/>
        </p:nvSpPr>
        <p:spPr>
          <a:xfrm>
            <a:off x="2099105" y="5222671"/>
            <a:ext cx="2335031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3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Optimized Operations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108335" y="5554928"/>
            <a:ext cx="2316572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3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systems and strategic design maximize efficiency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90967" y="4595073"/>
            <a:ext cx="2611912" cy="1587452"/>
          </a:xfrm>
          <a:custGeom>
            <a:avLst/>
            <a:gdLst/>
            <a:ahLst/>
            <a:cxnLst/>
            <a:rect l="l" t="t" r="r" b="b"/>
            <a:pathLst>
              <a:path w="2611912" h="1587452">
                <a:moveTo>
                  <a:pt x="73832" y="0"/>
                </a:moveTo>
                <a:lnTo>
                  <a:pt x="2538080" y="0"/>
                </a:lnTo>
                <a:cubicBezTo>
                  <a:pt x="2578856" y="0"/>
                  <a:pt x="2611912" y="33056"/>
                  <a:pt x="2611912" y="73832"/>
                </a:cubicBezTo>
                <a:lnTo>
                  <a:pt x="2611912" y="1513620"/>
                </a:lnTo>
                <a:cubicBezTo>
                  <a:pt x="2611912" y="1554396"/>
                  <a:pt x="2578856" y="1587452"/>
                  <a:pt x="2538080" y="1587452"/>
                </a:cubicBezTo>
                <a:lnTo>
                  <a:pt x="73832" y="1587452"/>
                </a:lnTo>
                <a:cubicBezTo>
                  <a:pt x="33056" y="1587452"/>
                  <a:pt x="0" y="1554396"/>
                  <a:pt x="0" y="1513620"/>
                </a:cubicBezTo>
                <a:lnTo>
                  <a:pt x="0" y="73832"/>
                </a:lnTo>
                <a:cubicBezTo>
                  <a:pt x="0" y="33083"/>
                  <a:pt x="33083" y="0"/>
                  <a:pt x="73832" y="0"/>
                </a:cubicBezTo>
                <a:close/>
              </a:path>
            </a:pathLst>
          </a:custGeom>
          <a:solidFill>
            <a:srgbClr val="F8F6F2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29179" y="4779661"/>
            <a:ext cx="332257" cy="332257"/>
          </a:xfrm>
          <a:custGeom>
            <a:avLst/>
            <a:gdLst/>
            <a:ahLst/>
            <a:cxnLst/>
            <a:rect l="l" t="t" r="r" b="b"/>
            <a:pathLst>
              <a:path w="332257" h="332257">
                <a:moveTo>
                  <a:pt x="305846" y="4348"/>
                </a:moveTo>
                <a:cubicBezTo>
                  <a:pt x="309999" y="389"/>
                  <a:pt x="316034" y="-1038"/>
                  <a:pt x="321615" y="779"/>
                </a:cubicBezTo>
                <a:cubicBezTo>
                  <a:pt x="327974" y="2920"/>
                  <a:pt x="332257" y="8890"/>
                  <a:pt x="332257" y="15575"/>
                </a:cubicBezTo>
                <a:lnTo>
                  <a:pt x="332257" y="136861"/>
                </a:lnTo>
                <a:cubicBezTo>
                  <a:pt x="332257" y="222002"/>
                  <a:pt x="262107" y="290725"/>
                  <a:pt x="177290" y="290725"/>
                </a:cubicBezTo>
                <a:cubicBezTo>
                  <a:pt x="127322" y="290725"/>
                  <a:pt x="84232" y="258603"/>
                  <a:pt x="68593" y="213696"/>
                </a:cubicBezTo>
                <a:cubicBezTo>
                  <a:pt x="45620" y="233683"/>
                  <a:pt x="31149" y="263080"/>
                  <a:pt x="31149" y="295917"/>
                </a:cubicBezTo>
                <a:cubicBezTo>
                  <a:pt x="31149" y="304548"/>
                  <a:pt x="24205" y="311491"/>
                  <a:pt x="15575" y="311491"/>
                </a:cubicBezTo>
                <a:cubicBezTo>
                  <a:pt x="6944" y="311491"/>
                  <a:pt x="0" y="304548"/>
                  <a:pt x="0" y="295917"/>
                </a:cubicBezTo>
                <a:cubicBezTo>
                  <a:pt x="0" y="247311"/>
                  <a:pt x="24790" y="204481"/>
                  <a:pt x="62363" y="179302"/>
                </a:cubicBezTo>
                <a:cubicBezTo>
                  <a:pt x="85271" y="163987"/>
                  <a:pt x="112591" y="155746"/>
                  <a:pt x="140171" y="155746"/>
                </a:cubicBezTo>
                <a:lnTo>
                  <a:pt x="192086" y="155746"/>
                </a:lnTo>
                <a:cubicBezTo>
                  <a:pt x="200717" y="155746"/>
                  <a:pt x="207661" y="148802"/>
                  <a:pt x="207661" y="140171"/>
                </a:cubicBezTo>
                <a:cubicBezTo>
                  <a:pt x="207661" y="131540"/>
                  <a:pt x="200717" y="124597"/>
                  <a:pt x="192086" y="124597"/>
                </a:cubicBezTo>
                <a:lnTo>
                  <a:pt x="140171" y="124597"/>
                </a:lnTo>
                <a:cubicBezTo>
                  <a:pt x="114408" y="124597"/>
                  <a:pt x="90008" y="130307"/>
                  <a:pt x="68139" y="140496"/>
                </a:cubicBezTo>
                <a:cubicBezTo>
                  <a:pt x="83259" y="95070"/>
                  <a:pt x="126024" y="62298"/>
                  <a:pt x="176512" y="62298"/>
                </a:cubicBezTo>
                <a:cubicBezTo>
                  <a:pt x="219601" y="62298"/>
                  <a:pt x="251659" y="47957"/>
                  <a:pt x="273009" y="33745"/>
                </a:cubicBezTo>
                <a:cubicBezTo>
                  <a:pt x="285469" y="25438"/>
                  <a:pt x="296047" y="15510"/>
                  <a:pt x="305910" y="4348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15" name="Text 12"/>
          <p:cNvSpPr/>
          <p:nvPr/>
        </p:nvSpPr>
        <p:spPr>
          <a:xfrm>
            <a:off x="4929408" y="5222671"/>
            <a:ext cx="2335031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3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Environmental Care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938637" y="5554928"/>
            <a:ext cx="2316572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3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Sustainable practices reduce impact and attract guests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1269" y="4595073"/>
            <a:ext cx="2611912" cy="1587452"/>
          </a:xfrm>
          <a:custGeom>
            <a:avLst/>
            <a:gdLst/>
            <a:ahLst/>
            <a:cxnLst/>
            <a:rect l="l" t="t" r="r" b="b"/>
            <a:pathLst>
              <a:path w="2611912" h="1587452">
                <a:moveTo>
                  <a:pt x="73832" y="0"/>
                </a:moveTo>
                <a:lnTo>
                  <a:pt x="2538080" y="0"/>
                </a:lnTo>
                <a:cubicBezTo>
                  <a:pt x="2578856" y="0"/>
                  <a:pt x="2611912" y="33056"/>
                  <a:pt x="2611912" y="73832"/>
                </a:cubicBezTo>
                <a:lnTo>
                  <a:pt x="2611912" y="1513620"/>
                </a:lnTo>
                <a:cubicBezTo>
                  <a:pt x="2611912" y="1554396"/>
                  <a:pt x="2578856" y="1587452"/>
                  <a:pt x="2538080" y="1587452"/>
                </a:cubicBezTo>
                <a:lnTo>
                  <a:pt x="73832" y="1587452"/>
                </a:lnTo>
                <a:cubicBezTo>
                  <a:pt x="33056" y="1587452"/>
                  <a:pt x="0" y="1554396"/>
                  <a:pt x="0" y="1513620"/>
                </a:cubicBezTo>
                <a:lnTo>
                  <a:pt x="0" y="73832"/>
                </a:lnTo>
                <a:cubicBezTo>
                  <a:pt x="0" y="33083"/>
                  <a:pt x="33083" y="0"/>
                  <a:pt x="73832" y="0"/>
                </a:cubicBezTo>
                <a:close/>
              </a:path>
            </a:pathLst>
          </a:custGeom>
          <a:solidFill>
            <a:srgbClr val="F8F6F2">
              <a:alpha val="1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759597" y="4779661"/>
            <a:ext cx="332257" cy="332257"/>
          </a:xfrm>
          <a:custGeom>
            <a:avLst/>
            <a:gdLst/>
            <a:ahLst/>
            <a:cxnLst/>
            <a:rect l="l" t="t" r="r" b="b"/>
            <a:pathLst>
              <a:path w="332257" h="332257">
                <a:moveTo>
                  <a:pt x="156395" y="56523"/>
                </a:moveTo>
                <a:lnTo>
                  <a:pt x="166129" y="69956"/>
                </a:lnTo>
                <a:lnTo>
                  <a:pt x="175863" y="56523"/>
                </a:lnTo>
                <a:cubicBezTo>
                  <a:pt x="192086" y="34069"/>
                  <a:pt x="218174" y="20766"/>
                  <a:pt x="245883" y="20766"/>
                </a:cubicBezTo>
                <a:cubicBezTo>
                  <a:pt x="293581" y="20766"/>
                  <a:pt x="332257" y="59443"/>
                  <a:pt x="332257" y="107140"/>
                </a:cubicBezTo>
                <a:lnTo>
                  <a:pt x="332257" y="108827"/>
                </a:lnTo>
                <a:cubicBezTo>
                  <a:pt x="332257" y="181638"/>
                  <a:pt x="241471" y="266195"/>
                  <a:pt x="194098" y="302341"/>
                </a:cubicBezTo>
                <a:cubicBezTo>
                  <a:pt x="186051" y="308441"/>
                  <a:pt x="176187" y="311491"/>
                  <a:pt x="166129" y="311491"/>
                </a:cubicBezTo>
                <a:cubicBezTo>
                  <a:pt x="156070" y="311491"/>
                  <a:pt x="146141" y="308506"/>
                  <a:pt x="138159" y="302341"/>
                </a:cubicBezTo>
                <a:cubicBezTo>
                  <a:pt x="90787" y="266195"/>
                  <a:pt x="0" y="181638"/>
                  <a:pt x="0" y="108827"/>
                </a:cubicBezTo>
                <a:lnTo>
                  <a:pt x="0" y="107140"/>
                </a:lnTo>
                <a:cubicBezTo>
                  <a:pt x="0" y="59443"/>
                  <a:pt x="38677" y="20766"/>
                  <a:pt x="86374" y="20766"/>
                </a:cubicBezTo>
                <a:cubicBezTo>
                  <a:pt x="114084" y="20766"/>
                  <a:pt x="140171" y="34069"/>
                  <a:pt x="156395" y="56523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19" name="Text 16"/>
          <p:cNvSpPr/>
          <p:nvPr/>
        </p:nvSpPr>
        <p:spPr>
          <a:xfrm>
            <a:off x="7759710" y="5222671"/>
            <a:ext cx="2335031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3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Enhanced Experience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68939" y="5554928"/>
            <a:ext cx="2316572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3" dirty="0">
                <a:solidFill>
                  <a:srgbClr val="F8F6F2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Memorable moments that keep customers returning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749781" y="6477865"/>
            <a:ext cx="2694977" cy="590680"/>
          </a:xfrm>
          <a:custGeom>
            <a:avLst/>
            <a:gdLst/>
            <a:ahLst/>
            <a:cxnLst/>
            <a:rect l="l" t="t" r="r" b="b"/>
            <a:pathLst>
              <a:path w="2694977" h="590680">
                <a:moveTo>
                  <a:pt x="73835" y="0"/>
                </a:moveTo>
                <a:lnTo>
                  <a:pt x="2621142" y="0"/>
                </a:lnTo>
                <a:cubicBezTo>
                  <a:pt x="2661919" y="0"/>
                  <a:pt x="2694977" y="33057"/>
                  <a:pt x="2694977" y="73835"/>
                </a:cubicBezTo>
                <a:lnTo>
                  <a:pt x="2694977" y="516845"/>
                </a:lnTo>
                <a:cubicBezTo>
                  <a:pt x="2694977" y="557595"/>
                  <a:pt x="2661892" y="590680"/>
                  <a:pt x="2621142" y="590680"/>
                </a:cubicBezTo>
                <a:lnTo>
                  <a:pt x="73835" y="590680"/>
                </a:lnTo>
                <a:cubicBezTo>
                  <a:pt x="33057" y="590680"/>
                  <a:pt x="0" y="557623"/>
                  <a:pt x="0" y="516845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D8A25F"/>
          </a:solidFill>
          <a:ln/>
        </p:spPr>
      </p:sp>
      <p:sp>
        <p:nvSpPr>
          <p:cNvPr id="22" name="Shape 19"/>
          <p:cNvSpPr/>
          <p:nvPr/>
        </p:nvSpPr>
        <p:spPr>
          <a:xfrm>
            <a:off x="5072809" y="6662336"/>
            <a:ext cx="221505" cy="221505"/>
          </a:xfrm>
          <a:custGeom>
            <a:avLst/>
            <a:gdLst/>
            <a:ahLst/>
            <a:cxnLst/>
            <a:rect l="l" t="t" r="r" b="b"/>
            <a:pathLst>
              <a:path w="221505" h="221505">
                <a:moveTo>
                  <a:pt x="27645" y="6230"/>
                </a:moveTo>
                <a:cubicBezTo>
                  <a:pt x="27299" y="2682"/>
                  <a:pt x="24314" y="0"/>
                  <a:pt x="20766" y="0"/>
                </a:cubicBezTo>
                <a:cubicBezTo>
                  <a:pt x="17219" y="0"/>
                  <a:pt x="14233" y="2682"/>
                  <a:pt x="13844" y="6187"/>
                </a:cubicBezTo>
                <a:lnTo>
                  <a:pt x="7744" y="64764"/>
                </a:lnTo>
                <a:cubicBezTo>
                  <a:pt x="7182" y="67360"/>
                  <a:pt x="6922" y="69999"/>
                  <a:pt x="6922" y="72638"/>
                </a:cubicBezTo>
                <a:cubicBezTo>
                  <a:pt x="6922" y="92496"/>
                  <a:pt x="22107" y="108806"/>
                  <a:pt x="41532" y="110579"/>
                </a:cubicBezTo>
                <a:lnTo>
                  <a:pt x="41532" y="207661"/>
                </a:lnTo>
                <a:cubicBezTo>
                  <a:pt x="41532" y="215318"/>
                  <a:pt x="47719" y="221505"/>
                  <a:pt x="55376" y="221505"/>
                </a:cubicBezTo>
                <a:cubicBezTo>
                  <a:pt x="63034" y="221505"/>
                  <a:pt x="69220" y="215318"/>
                  <a:pt x="69220" y="207661"/>
                </a:cubicBezTo>
                <a:lnTo>
                  <a:pt x="69220" y="110579"/>
                </a:lnTo>
                <a:cubicBezTo>
                  <a:pt x="88645" y="108806"/>
                  <a:pt x="103830" y="92496"/>
                  <a:pt x="103830" y="72638"/>
                </a:cubicBezTo>
                <a:cubicBezTo>
                  <a:pt x="103830" y="69999"/>
                  <a:pt x="103571" y="67360"/>
                  <a:pt x="103008" y="64764"/>
                </a:cubicBezTo>
                <a:lnTo>
                  <a:pt x="96865" y="6187"/>
                </a:lnTo>
                <a:cubicBezTo>
                  <a:pt x="96519" y="2682"/>
                  <a:pt x="93534" y="0"/>
                  <a:pt x="89986" y="0"/>
                </a:cubicBezTo>
                <a:cubicBezTo>
                  <a:pt x="86439" y="0"/>
                  <a:pt x="83454" y="2682"/>
                  <a:pt x="83108" y="6230"/>
                </a:cubicBezTo>
                <a:lnTo>
                  <a:pt x="77224" y="64851"/>
                </a:lnTo>
                <a:cubicBezTo>
                  <a:pt x="76964" y="67317"/>
                  <a:pt x="74888" y="69220"/>
                  <a:pt x="72422" y="69220"/>
                </a:cubicBezTo>
                <a:cubicBezTo>
                  <a:pt x="69912" y="69220"/>
                  <a:pt x="67836" y="67317"/>
                  <a:pt x="67576" y="64807"/>
                </a:cubicBezTo>
                <a:lnTo>
                  <a:pt x="62255" y="6316"/>
                </a:lnTo>
                <a:cubicBezTo>
                  <a:pt x="61952" y="2726"/>
                  <a:pt x="58967" y="0"/>
                  <a:pt x="55376" y="0"/>
                </a:cubicBezTo>
                <a:cubicBezTo>
                  <a:pt x="51785" y="0"/>
                  <a:pt x="48800" y="2726"/>
                  <a:pt x="48497" y="6316"/>
                </a:cubicBezTo>
                <a:lnTo>
                  <a:pt x="43176" y="64807"/>
                </a:lnTo>
                <a:cubicBezTo>
                  <a:pt x="42960" y="67317"/>
                  <a:pt x="40840" y="69220"/>
                  <a:pt x="38331" y="69220"/>
                </a:cubicBezTo>
                <a:cubicBezTo>
                  <a:pt x="35821" y="69220"/>
                  <a:pt x="33745" y="67317"/>
                  <a:pt x="33529" y="64851"/>
                </a:cubicBezTo>
                <a:lnTo>
                  <a:pt x="27645" y="6230"/>
                </a:lnTo>
                <a:close/>
                <a:moveTo>
                  <a:pt x="193817" y="0"/>
                </a:moveTo>
                <a:cubicBezTo>
                  <a:pt x="186895" y="0"/>
                  <a:pt x="138441" y="13844"/>
                  <a:pt x="138441" y="76142"/>
                </a:cubicBezTo>
                <a:lnTo>
                  <a:pt x="138441" y="124597"/>
                </a:lnTo>
                <a:cubicBezTo>
                  <a:pt x="138441" y="139868"/>
                  <a:pt x="150857" y="152285"/>
                  <a:pt x="166129" y="152285"/>
                </a:cubicBezTo>
                <a:lnTo>
                  <a:pt x="179973" y="152285"/>
                </a:lnTo>
                <a:lnTo>
                  <a:pt x="179973" y="207661"/>
                </a:lnTo>
                <a:cubicBezTo>
                  <a:pt x="179973" y="215318"/>
                  <a:pt x="186159" y="221505"/>
                  <a:pt x="193817" y="221505"/>
                </a:cubicBezTo>
                <a:cubicBezTo>
                  <a:pt x="201474" y="221505"/>
                  <a:pt x="207661" y="215318"/>
                  <a:pt x="207661" y="207661"/>
                </a:cubicBezTo>
                <a:lnTo>
                  <a:pt x="207661" y="13844"/>
                </a:lnTo>
                <a:cubicBezTo>
                  <a:pt x="207661" y="6187"/>
                  <a:pt x="201474" y="0"/>
                  <a:pt x="193817" y="0"/>
                </a:cubicBezTo>
                <a:close/>
              </a:path>
            </a:pathLst>
          </a:custGeom>
          <a:solidFill>
            <a:srgbClr val="F8F6F2"/>
          </a:solidFill>
          <a:ln/>
        </p:spPr>
      </p:sp>
      <p:sp>
        <p:nvSpPr>
          <p:cNvPr id="23" name="Text 20"/>
          <p:cNvSpPr/>
          <p:nvPr/>
        </p:nvSpPr>
        <p:spPr>
          <a:xfrm>
            <a:off x="5377378" y="6625535"/>
            <a:ext cx="1827416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4" b="1" dirty="0">
                <a:solidFill>
                  <a:srgbClr val="F8F6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Serve with Purpose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1769</Words>
  <Application>Microsoft Office PowerPoint</Application>
  <PresentationFormat>Widescreen</PresentationFormat>
  <Paragraphs>384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Oranienbaum</vt:lpstr>
      <vt:lpstr>Calibri</vt:lpstr>
      <vt:lpstr>Arial</vt:lpstr>
      <vt:lpstr>Adobe Heiti Std R</vt:lpstr>
      <vt:lpstr>Unna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Seat Management: A Sustainable Approach</dc:title>
  <dc:subject>Restaurant Seat Management: A Sustainable Approach</dc:subject>
  <dc:creator>Kimi</dc:creator>
  <cp:lastModifiedBy>Manasaa</cp:lastModifiedBy>
  <cp:revision>3</cp:revision>
  <dcterms:created xsi:type="dcterms:W3CDTF">2026-01-15T13:48:59Z</dcterms:created>
  <dcterms:modified xsi:type="dcterms:W3CDTF">2026-02-18T06:05:55Z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{"Label":"Restaurant Seat Management: A Sustainable Approach","ContentProducer":"001191110108MACG2KBH8F10000","ProduceID":"19bc1e6b-2642-81c0-8000-0000c66f161f","ReservedCode1":"","ContentPropagator":"001191110108MACG2KBH8F20000","PropagateID":"19bc1e6b-2</vt:lpwstr>
  </property>
</Properties>
</file>